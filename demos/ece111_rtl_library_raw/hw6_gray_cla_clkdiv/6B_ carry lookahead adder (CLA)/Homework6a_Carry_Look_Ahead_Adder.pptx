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6" r:id="rId1"/>
  </p:sldMasterIdLst>
  <p:notesMasterIdLst>
    <p:notesMasterId r:id="rId16"/>
  </p:notesMasterIdLst>
  <p:sldIdLst>
    <p:sldId id="256" r:id="rId2"/>
    <p:sldId id="613" r:id="rId3"/>
    <p:sldId id="616" r:id="rId4"/>
    <p:sldId id="617" r:id="rId5"/>
    <p:sldId id="654" r:id="rId6"/>
    <p:sldId id="615" r:id="rId7"/>
    <p:sldId id="643" r:id="rId8"/>
    <p:sldId id="655" r:id="rId9"/>
    <p:sldId id="644" r:id="rId10"/>
    <p:sldId id="648" r:id="rId11"/>
    <p:sldId id="641" r:id="rId12"/>
    <p:sldId id="642" r:id="rId13"/>
    <p:sldId id="653" r:id="rId14"/>
    <p:sldId id="61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8ED0"/>
    <a:srgbClr val="9F41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5232" autoAdjust="0"/>
  </p:normalViewPr>
  <p:slideViewPr>
    <p:cSldViewPr snapToGrid="0">
      <p:cViewPr varScale="1">
        <p:scale>
          <a:sx n="85" d="100"/>
          <a:sy n="85" d="100"/>
        </p:scale>
        <p:origin x="16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092497-252D-4444-B643-FB7D3D78C6DC}" type="datetimeFigureOut">
              <a:rPr lang="en-US" smtClean="0"/>
              <a:t>2025-05-03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23227D-CC65-49B6-AB35-CD33DCE9AFE7}" type="slidenum">
              <a:rPr lang="en-US" smtClean="0"/>
              <a:t>‹#›</a:t>
            </a:fld>
            <a:endParaRPr lang="en-US"/>
          </a:p>
        </p:txBody>
      </p:sp>
    </p:spTree>
    <p:extLst>
      <p:ext uri="{BB962C8B-B14F-4D97-AF65-F5344CB8AC3E}">
        <p14:creationId xmlns:p14="http://schemas.microsoft.com/office/powerpoint/2010/main" val="275718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6C8BE-AC17-4F00-9406-6B34BC49EF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10DF51-E44D-465B-A95A-C453709D02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86C451-8B4B-4E80-95CC-2579537CDAAE}"/>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6BAC20EB-EB59-4776-A7D9-526685CDF55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CC61BA8-9A6F-4939-A8AE-F711BDEF891C}"/>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2571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1FFA-1718-485D-B910-216DA6C09392}"/>
              </a:ext>
            </a:extLst>
          </p:cNvPr>
          <p:cNvSpPr>
            <a:spLocks noGrp="1"/>
          </p:cNvSpPr>
          <p:nvPr>
            <p:ph type="title"/>
          </p:nvPr>
        </p:nvSpPr>
        <p:spPr>
          <a:xfrm>
            <a:off x="857250" y="123825"/>
            <a:ext cx="10515600" cy="504825"/>
          </a:xfrm>
        </p:spPr>
        <p:txBody>
          <a:bodyPr>
            <a:noAutofit/>
          </a:bodyPr>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544269E-97E7-4E33-B4AA-8CB01AA75819}"/>
              </a:ext>
            </a:extLst>
          </p:cNvPr>
          <p:cNvSpPr>
            <a:spLocks noGrp="1"/>
          </p:cNvSpPr>
          <p:nvPr>
            <p:ph idx="1"/>
          </p:nvPr>
        </p:nvSpPr>
        <p:spPr/>
        <p:txBody>
          <a:bodyPr/>
          <a:lstStyle>
            <a:lvl1pPr marL="342900" indent="-342900">
              <a:buFont typeface="Wingdings" panose="05000000000000000000" pitchFamily="2" charset="2"/>
              <a:buChar char="q"/>
              <a:defRPr sz="2400">
                <a:solidFill>
                  <a:schemeClr val="tx1"/>
                </a:solidFill>
              </a:defRPr>
            </a:lvl1pPr>
            <a:lvl2pPr marL="685800" indent="-228600">
              <a:buFont typeface="Wingdings" panose="05000000000000000000" pitchFamily="2" charset="2"/>
              <a:buChar char="§"/>
              <a:defRPr/>
            </a:lvl2pPr>
            <a:lvl4pPr marL="1600200" indent="-228600">
              <a:buFont typeface="Courier New" panose="02070309020205020404" pitchFamily="49" charset="0"/>
              <a:buChar char="o"/>
              <a:defRPr/>
            </a:lvl4pPr>
            <a:lvl5pPr marL="2057400" indent="-228600">
              <a:buFont typeface="Wingdings" panose="05000000000000000000" pitchFamily="2" charset="2"/>
              <a:buChar char="Ø"/>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CF1668A-475D-4387-BA12-27FD33E310A1}"/>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5950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06C7D-9B5C-4CC1-BF73-4D5F348E27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B6392-F2E6-44CD-AA96-F80E601432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8046FF-6B05-4A61-8E56-E35262D115B4}"/>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0F66C658-2206-4D5B-A2EF-C80D1BADC78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B225AB01-06AB-41C2-8BDA-844FD364B652}"/>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0471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1DB2-EA2A-4DEE-9E99-DD6D334F40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50CE33-DBF4-44B9-90C3-4860999EE6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D92DAD-F440-424F-BB04-CDD2DB6DDF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B69D21-FB82-443B-BE53-FD4D07977EF3}"/>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4AEAFD1C-8372-4DAD-AC89-6A9F46A9B1D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8ADD9DFB-FC65-493A-9201-3A8F91D15892}"/>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5244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5CC9-978D-4929-ADCE-C522E9EFEF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04CBC8-5CF4-4667-B540-FEE94D826D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0AC117-DBEC-47BE-BAF1-389C999017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50B088-92C7-43F4-9123-11CD33FE34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1C41A8-274C-404F-9712-99FFDA10F7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B7426D-EC43-4046-9F25-1F737D16D1AE}"/>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8" name="Footer Placeholder 7">
            <a:extLst>
              <a:ext uri="{FF2B5EF4-FFF2-40B4-BE49-F238E27FC236}">
                <a16:creationId xmlns:a16="http://schemas.microsoft.com/office/drawing/2014/main" id="{2DA7DD8D-054F-40A8-A2AE-231006E1251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61FE83A5-4CDA-4719-A89A-29551149768E}"/>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084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DF2E1-6795-402A-A4CF-A35D8F15F7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380E75-57D4-4D0A-A4C2-9116D72AC813}"/>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4" name="Footer Placeholder 3">
            <a:extLst>
              <a:ext uri="{FF2B5EF4-FFF2-40B4-BE49-F238E27FC236}">
                <a16:creationId xmlns:a16="http://schemas.microsoft.com/office/drawing/2014/main" id="{88026FB0-3E7B-4D63-8FC0-F5452B8FEA0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86CC4877-A829-425D-80C1-859F05316F9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62817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511781-E902-4014-A618-73407B2A1D51}"/>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01E42CBD-C246-4DCF-820F-78FF84283B6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1F13534-B622-4D92-9EE2-D02B0AD42731}"/>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24899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1E3B-F087-47E7-A916-0ED2F7BD97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D3C063-5107-4ABF-9A48-B42B00E880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B9138C-547A-48C0-9CD7-83C6F5E87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6D7578-4303-4E3C-895F-29C5FB9923BD}"/>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2BCBA864-07E7-448E-BA66-CAA92F7C044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6FC9841A-0A0F-4E48-82ED-1BB7E3205E9A}"/>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3197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5E793-FC52-43ED-A491-E834C8F546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5805A6-A9A0-41EE-972C-9378E78E79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218CD0-02CE-47F8-B650-92EA07A03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2394EB-496B-46E1-B141-580AD6661418}"/>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69B95C35-25C0-4030-A83F-D8796BD3563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F39359BA-A737-4717-B813-38D8D8DEC3F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37876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70F29-846B-46C4-9156-8B3E9C7B73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C45524-6729-45F3-8772-82A8EC3C31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00874A-6EF7-4CEF-A183-483A542A3E67}"/>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ADDFE67B-903C-4DC1-A494-8EB4E8BD070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0E52730-2CD8-4351-A9A6-86E21CF2091D}"/>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855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8D61A6-4429-43C1-8AD1-4162B8332B1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777112-968E-467E-9C23-0EE682EA6D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BDD795-D8AF-43F8-BC71-9EB5F5D3363F}"/>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a:extLst>
              <a:ext uri="{FF2B5EF4-FFF2-40B4-BE49-F238E27FC236}">
                <a16:creationId xmlns:a16="http://schemas.microsoft.com/office/drawing/2014/main" id="{DDA2C4C6-11B4-4BD5-80FA-9B6F357F76B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1AA6EE95-A259-4916-B9DE-AEED9829E5A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42354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AC891A-0085-42C4-9A8F-F62E278B8C7E}"/>
              </a:ext>
            </a:extLst>
          </p:cNvPr>
          <p:cNvSpPr>
            <a:spLocks noGrp="1"/>
          </p:cNvSpPr>
          <p:nvPr>
            <p:ph type="title"/>
          </p:nvPr>
        </p:nvSpPr>
        <p:spPr>
          <a:xfrm>
            <a:off x="857250" y="104775"/>
            <a:ext cx="10515600" cy="504825"/>
          </a:xfrm>
          <a:prstGeom prst="rect">
            <a:avLst/>
          </a:prstGeom>
          <a:effectLst>
            <a:outerShdw blurRad="50800" dist="38100" dir="16200000"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A89440-A414-49C2-A66E-BD72937C5CEB}"/>
              </a:ext>
            </a:extLst>
          </p:cNvPr>
          <p:cNvSpPr>
            <a:spLocks noGrp="1"/>
          </p:cNvSpPr>
          <p:nvPr>
            <p:ph type="body" idx="1"/>
          </p:nvPr>
        </p:nvSpPr>
        <p:spPr>
          <a:xfrm>
            <a:off x="838200" y="778668"/>
            <a:ext cx="10515600" cy="53006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C786718-453A-4160-9B94-DC0D041597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1876336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dt="0"/>
  <p:txStyles>
    <p:titleStyle>
      <a:lvl1pPr algn="ctr"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15C88D4-8001-4111-B790-99D9FA871465}"/>
              </a:ext>
            </a:extLst>
          </p:cNvPr>
          <p:cNvSpPr>
            <a:spLocks noGrp="1"/>
          </p:cNvSpPr>
          <p:nvPr>
            <p:ph type="ctrTitle"/>
          </p:nvPr>
        </p:nvSpPr>
        <p:spPr>
          <a:xfrm>
            <a:off x="1047750" y="4534678"/>
            <a:ext cx="10182225" cy="576163"/>
          </a:xfrm>
        </p:spPr>
        <p:txBody>
          <a:bodyPr>
            <a:noAutofit/>
          </a:bodyPr>
          <a:lstStyle/>
          <a:p>
            <a:r>
              <a:rPr lang="en-US" sz="3600" b="1" dirty="0"/>
              <a:t>Carry Look Ahead Adder</a:t>
            </a:r>
          </a:p>
        </p:txBody>
      </p:sp>
      <p:sp>
        <p:nvSpPr>
          <p:cNvPr id="15" name="Subtitle 14">
            <a:extLst>
              <a:ext uri="{FF2B5EF4-FFF2-40B4-BE49-F238E27FC236}">
                <a16:creationId xmlns:a16="http://schemas.microsoft.com/office/drawing/2014/main" id="{9DB11489-9985-4FC6-BBAC-D1EF9E59D49D}"/>
              </a:ext>
            </a:extLst>
          </p:cNvPr>
          <p:cNvSpPr>
            <a:spLocks noGrp="1"/>
          </p:cNvSpPr>
          <p:nvPr>
            <p:ph type="subTitle" idx="1"/>
          </p:nvPr>
        </p:nvSpPr>
        <p:spPr>
          <a:xfrm>
            <a:off x="2952750" y="5214060"/>
            <a:ext cx="6200775" cy="1457327"/>
          </a:xfrm>
        </p:spPr>
        <p:txBody>
          <a:bodyPr>
            <a:noAutofit/>
          </a:bodyPr>
          <a:lstStyle/>
          <a:p>
            <a:r>
              <a:rPr lang="en-US" sz="2800" b="1" dirty="0"/>
              <a:t>ECE-111 Advanced Digital Design Project</a:t>
            </a:r>
          </a:p>
          <a:p>
            <a:endParaRPr lang="en-US" sz="2800" b="1" dirty="0"/>
          </a:p>
        </p:txBody>
      </p:sp>
      <p:pic>
        <p:nvPicPr>
          <p:cNvPr id="38" name="Picture 2" descr="C:\Users\Owner\Desktop\logo-ucsdjsoeece-bluegold.jpg">
            <a:extLst>
              <a:ext uri="{FF2B5EF4-FFF2-40B4-BE49-F238E27FC236}">
                <a16:creationId xmlns:a16="http://schemas.microsoft.com/office/drawing/2014/main" id="{46AEC06D-6D6F-4EF7-B714-663296A68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8040" y="6036123"/>
            <a:ext cx="2266950" cy="71437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A close up of a map&#10;&#10;Description automatically generated">
            <a:extLst>
              <a:ext uri="{FF2B5EF4-FFF2-40B4-BE49-F238E27FC236}">
                <a16:creationId xmlns:a16="http://schemas.microsoft.com/office/drawing/2014/main" id="{BE950A68-BF47-453C-9713-FA256F71F1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525"/>
            <a:ext cx="12192000" cy="4147836"/>
          </a:xfrm>
          <a:prstGeom prst="rect">
            <a:avLst/>
          </a:prstGeom>
        </p:spPr>
      </p:pic>
    </p:spTree>
    <p:extLst>
      <p:ext uri="{BB962C8B-B14F-4D97-AF65-F5344CB8AC3E}">
        <p14:creationId xmlns:p14="http://schemas.microsoft.com/office/powerpoint/2010/main" val="4192314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674045" y="123825"/>
            <a:ext cx="10849261"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Let’s understand First Ripple Carry Adder !</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618695" y="665890"/>
            <a:ext cx="10894883" cy="2952799"/>
          </a:xfrm>
        </p:spPr>
        <p:txBody>
          <a:bodyPr>
            <a:noAutofit/>
          </a:bodyPr>
          <a:lstStyle/>
          <a:p>
            <a:r>
              <a:rPr lang="en-US" sz="2200" b="1" dirty="0"/>
              <a:t>A Ripple Carry Adder is made of a number of full adders cascaded together. </a:t>
            </a:r>
          </a:p>
          <a:p>
            <a:pPr lvl="1"/>
            <a:r>
              <a:rPr lang="en-US" sz="2000" dirty="0"/>
              <a:t>Since carry bit from previous full adder ripples (connected) to the next full adder, hence the name Ripple carry adder</a:t>
            </a:r>
          </a:p>
          <a:p>
            <a:pPr lvl="1"/>
            <a:r>
              <a:rPr lang="en-US" sz="2000" dirty="0"/>
              <a:t>It is used to add together two binary numbers using simple logic gates</a:t>
            </a:r>
          </a:p>
          <a:p>
            <a:pPr lvl="1"/>
            <a:r>
              <a:rPr lang="en-US" sz="2000" dirty="0"/>
              <a:t>Ripple-carry adder is relatively slow, since each full adder must wait for the carry bit to be calculated from the previous full adder.</a:t>
            </a:r>
          </a:p>
          <a:p>
            <a:pPr lvl="1"/>
            <a:r>
              <a:rPr lang="en-US" sz="2000" dirty="0"/>
              <a:t>The figure below shows 4 full-adders connected together to produce a 4-bit ripple carry adder.</a:t>
            </a:r>
          </a:p>
          <a:p>
            <a:pPr lvl="2">
              <a:buFont typeface="Courier New" panose="02070309020205020404" pitchFamily="49" charset="0"/>
              <a:buChar char="o"/>
            </a:pPr>
            <a:r>
              <a:rPr lang="en-US" dirty="0"/>
              <a:t>only the first full adder may be replaced by a half adder (under the assumption that C[0]= 0).</a:t>
            </a:r>
          </a:p>
          <a:p>
            <a:pPr lvl="1"/>
            <a:endParaRPr lang="en-US" sz="2200" dirty="0"/>
          </a:p>
          <a:p>
            <a:pPr lvl="1"/>
            <a:endParaRPr lang="en-US" sz="2200" b="1" dirty="0"/>
          </a:p>
          <a:p>
            <a:pPr lvl="1"/>
            <a:endParaRPr lang="en-US" sz="2000" b="1"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p:txBody>
          <a:bodyPr/>
          <a:lstStyle/>
          <a:p>
            <a:fld id="{3A98EE3D-8CD1-4C3F-BD1C-C98C9596463C}" type="slidenum">
              <a:rPr lang="en-US" smtClean="0"/>
              <a:t>2</a:t>
            </a:fld>
            <a:endParaRPr lang="en-US" dirty="0"/>
          </a:p>
        </p:txBody>
      </p:sp>
      <p:grpSp>
        <p:nvGrpSpPr>
          <p:cNvPr id="61" name="Group 60">
            <a:extLst>
              <a:ext uri="{FF2B5EF4-FFF2-40B4-BE49-F238E27FC236}">
                <a16:creationId xmlns:a16="http://schemas.microsoft.com/office/drawing/2014/main" id="{197C7C78-AAAB-4B4E-A8B9-40B854CB4A3A}"/>
              </a:ext>
            </a:extLst>
          </p:cNvPr>
          <p:cNvGrpSpPr/>
          <p:nvPr/>
        </p:nvGrpSpPr>
        <p:grpSpPr>
          <a:xfrm>
            <a:off x="2381884" y="3761558"/>
            <a:ext cx="8587515" cy="2145162"/>
            <a:chOff x="1349538" y="4160392"/>
            <a:chExt cx="8587515" cy="2145162"/>
          </a:xfrm>
        </p:grpSpPr>
        <p:sp>
          <p:nvSpPr>
            <p:cNvPr id="5" name="Rectangle 4">
              <a:extLst>
                <a:ext uri="{FF2B5EF4-FFF2-40B4-BE49-F238E27FC236}">
                  <a16:creationId xmlns:a16="http://schemas.microsoft.com/office/drawing/2014/main" id="{0A93BC54-9CA5-433E-92EB-957FF4C6A26E}"/>
                </a:ext>
              </a:extLst>
            </p:cNvPr>
            <p:cNvSpPr/>
            <p:nvPr/>
          </p:nvSpPr>
          <p:spPr>
            <a:xfrm>
              <a:off x="2110902" y="4786008"/>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Inst3</a:t>
              </a:r>
            </a:p>
          </p:txBody>
        </p:sp>
        <p:cxnSp>
          <p:nvCxnSpPr>
            <p:cNvPr id="8" name="Straight Arrow Connector 7">
              <a:extLst>
                <a:ext uri="{FF2B5EF4-FFF2-40B4-BE49-F238E27FC236}">
                  <a16:creationId xmlns:a16="http://schemas.microsoft.com/office/drawing/2014/main" id="{4E0282DC-85BF-40F9-A75F-D86BCECE762E}"/>
                </a:ext>
              </a:extLst>
            </p:cNvPr>
            <p:cNvCxnSpPr>
              <a:cxnSpLocks/>
            </p:cNvCxnSpPr>
            <p:nvPr/>
          </p:nvCxnSpPr>
          <p:spPr>
            <a:xfrm>
              <a:off x="2798323" y="4455268"/>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EF744C1-BE4B-4661-A540-816AFAA615EE}"/>
                </a:ext>
              </a:extLst>
            </p:cNvPr>
            <p:cNvCxnSpPr>
              <a:cxnSpLocks/>
            </p:cNvCxnSpPr>
            <p:nvPr/>
          </p:nvCxnSpPr>
          <p:spPr>
            <a:xfrm>
              <a:off x="2386519" y="4455268"/>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DD37A7F-33B0-41CE-A21E-DFEE62076428}"/>
                </a:ext>
              </a:extLst>
            </p:cNvPr>
            <p:cNvSpPr txBox="1"/>
            <p:nvPr/>
          </p:nvSpPr>
          <p:spPr>
            <a:xfrm>
              <a:off x="2197980" y="4171174"/>
              <a:ext cx="548548" cy="338554"/>
            </a:xfrm>
            <a:prstGeom prst="rect">
              <a:avLst/>
            </a:prstGeom>
            <a:noFill/>
          </p:spPr>
          <p:txBody>
            <a:bodyPr wrap="none" rtlCol="0">
              <a:spAutoFit/>
            </a:bodyPr>
            <a:lstStyle/>
            <a:p>
              <a:r>
                <a:rPr lang="en-US" sz="1600" b="1" dirty="0">
                  <a:solidFill>
                    <a:schemeClr val="accent1">
                      <a:lumMod val="75000"/>
                    </a:schemeClr>
                  </a:solidFill>
                </a:rPr>
                <a:t>A[3]</a:t>
              </a:r>
            </a:p>
          </p:txBody>
        </p:sp>
        <p:sp>
          <p:nvSpPr>
            <p:cNvPr id="21" name="TextBox 20">
              <a:extLst>
                <a:ext uri="{FF2B5EF4-FFF2-40B4-BE49-F238E27FC236}">
                  <a16:creationId xmlns:a16="http://schemas.microsoft.com/office/drawing/2014/main" id="{C65C5657-FCAC-4074-9249-620B38B3ECA0}"/>
                </a:ext>
              </a:extLst>
            </p:cNvPr>
            <p:cNvSpPr txBox="1"/>
            <p:nvPr/>
          </p:nvSpPr>
          <p:spPr>
            <a:xfrm>
              <a:off x="2610830" y="4161407"/>
              <a:ext cx="538930" cy="338554"/>
            </a:xfrm>
            <a:prstGeom prst="rect">
              <a:avLst/>
            </a:prstGeom>
            <a:noFill/>
          </p:spPr>
          <p:txBody>
            <a:bodyPr wrap="none" rtlCol="0">
              <a:spAutoFit/>
            </a:bodyPr>
            <a:lstStyle/>
            <a:p>
              <a:r>
                <a:rPr lang="en-US" sz="1600" b="1" dirty="0">
                  <a:solidFill>
                    <a:schemeClr val="accent1">
                      <a:lumMod val="75000"/>
                    </a:schemeClr>
                  </a:solidFill>
                </a:rPr>
                <a:t>B[3]</a:t>
              </a:r>
            </a:p>
          </p:txBody>
        </p:sp>
        <p:cxnSp>
          <p:nvCxnSpPr>
            <p:cNvPr id="22" name="Straight Arrow Connector 21">
              <a:extLst>
                <a:ext uri="{FF2B5EF4-FFF2-40B4-BE49-F238E27FC236}">
                  <a16:creationId xmlns:a16="http://schemas.microsoft.com/office/drawing/2014/main" id="{971428DC-0F55-4FF4-8030-06CB74DAC8E5}"/>
                </a:ext>
              </a:extLst>
            </p:cNvPr>
            <p:cNvCxnSpPr>
              <a:cxnSpLocks/>
            </p:cNvCxnSpPr>
            <p:nvPr/>
          </p:nvCxnSpPr>
          <p:spPr>
            <a:xfrm>
              <a:off x="2601102" y="5700409"/>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7E6FF11-978E-4629-B59D-869C18FCF370}"/>
                </a:ext>
              </a:extLst>
            </p:cNvPr>
            <p:cNvSpPr txBox="1"/>
            <p:nvPr/>
          </p:nvSpPr>
          <p:spPr>
            <a:xfrm>
              <a:off x="2404928" y="5967000"/>
              <a:ext cx="521297" cy="338554"/>
            </a:xfrm>
            <a:prstGeom prst="rect">
              <a:avLst/>
            </a:prstGeom>
            <a:noFill/>
          </p:spPr>
          <p:txBody>
            <a:bodyPr wrap="none" rtlCol="0">
              <a:spAutoFit/>
            </a:bodyPr>
            <a:lstStyle/>
            <a:p>
              <a:r>
                <a:rPr lang="en-US" sz="1600" b="1" dirty="0">
                  <a:solidFill>
                    <a:schemeClr val="accent1">
                      <a:lumMod val="75000"/>
                    </a:schemeClr>
                  </a:solidFill>
                </a:rPr>
                <a:t>S[3]</a:t>
              </a:r>
            </a:p>
          </p:txBody>
        </p:sp>
        <p:cxnSp>
          <p:nvCxnSpPr>
            <p:cNvPr id="24" name="Straight Arrow Connector 23">
              <a:extLst>
                <a:ext uri="{FF2B5EF4-FFF2-40B4-BE49-F238E27FC236}">
                  <a16:creationId xmlns:a16="http://schemas.microsoft.com/office/drawing/2014/main" id="{FE37DAA9-E629-48F1-81DB-1C65773CB4C5}"/>
                </a:ext>
              </a:extLst>
            </p:cNvPr>
            <p:cNvCxnSpPr>
              <a:cxnSpLocks/>
              <a:stCxn id="29" idx="1"/>
              <a:endCxn id="5" idx="3"/>
            </p:cNvCxnSpPr>
            <p:nvPr/>
          </p:nvCxnSpPr>
          <p:spPr>
            <a:xfrm flipH="1">
              <a:off x="3112851" y="5232466"/>
              <a:ext cx="618857" cy="101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9F71BDE-333F-4079-9CAD-E21E684C5EB1}"/>
                </a:ext>
              </a:extLst>
            </p:cNvPr>
            <p:cNvCxnSpPr>
              <a:cxnSpLocks/>
            </p:cNvCxnSpPr>
            <p:nvPr/>
          </p:nvCxnSpPr>
          <p:spPr>
            <a:xfrm flipH="1">
              <a:off x="1806105" y="5233480"/>
              <a:ext cx="301558"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E36412-E562-4D13-8C48-C1AEE0ABF086}"/>
                </a:ext>
              </a:extLst>
            </p:cNvPr>
            <p:cNvSpPr txBox="1"/>
            <p:nvPr/>
          </p:nvSpPr>
          <p:spPr>
            <a:xfrm>
              <a:off x="1349538" y="5062091"/>
              <a:ext cx="532518" cy="338554"/>
            </a:xfrm>
            <a:prstGeom prst="rect">
              <a:avLst/>
            </a:prstGeom>
            <a:noFill/>
          </p:spPr>
          <p:txBody>
            <a:bodyPr wrap="none" rtlCol="0">
              <a:spAutoFit/>
            </a:bodyPr>
            <a:lstStyle/>
            <a:p>
              <a:r>
                <a:rPr lang="en-US" sz="1600" b="1" dirty="0">
                  <a:solidFill>
                    <a:schemeClr val="accent1">
                      <a:lumMod val="75000"/>
                    </a:schemeClr>
                  </a:solidFill>
                </a:rPr>
                <a:t>C[4]</a:t>
              </a:r>
            </a:p>
          </p:txBody>
        </p:sp>
        <p:sp>
          <p:nvSpPr>
            <p:cNvPr id="29" name="Rectangle 28">
              <a:extLst>
                <a:ext uri="{FF2B5EF4-FFF2-40B4-BE49-F238E27FC236}">
                  <a16:creationId xmlns:a16="http://schemas.microsoft.com/office/drawing/2014/main" id="{16DC3516-DA30-4C22-A9A7-61F2AC362E3E}"/>
                </a:ext>
              </a:extLst>
            </p:cNvPr>
            <p:cNvSpPr/>
            <p:nvPr/>
          </p:nvSpPr>
          <p:spPr>
            <a:xfrm>
              <a:off x="3731708" y="4784993"/>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Inst2</a:t>
              </a:r>
            </a:p>
          </p:txBody>
        </p:sp>
        <p:cxnSp>
          <p:nvCxnSpPr>
            <p:cNvPr id="30" name="Straight Arrow Connector 29">
              <a:extLst>
                <a:ext uri="{FF2B5EF4-FFF2-40B4-BE49-F238E27FC236}">
                  <a16:creationId xmlns:a16="http://schemas.microsoft.com/office/drawing/2014/main" id="{9FB60CDB-C5E1-49B2-AD43-6CF470D78584}"/>
                </a:ext>
              </a:extLst>
            </p:cNvPr>
            <p:cNvCxnSpPr>
              <a:cxnSpLocks/>
            </p:cNvCxnSpPr>
            <p:nvPr/>
          </p:nvCxnSpPr>
          <p:spPr>
            <a:xfrm>
              <a:off x="4419129" y="4454253"/>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FB230AC-B1F3-4295-9589-F48D68C7D068}"/>
                </a:ext>
              </a:extLst>
            </p:cNvPr>
            <p:cNvCxnSpPr>
              <a:cxnSpLocks/>
            </p:cNvCxnSpPr>
            <p:nvPr/>
          </p:nvCxnSpPr>
          <p:spPr>
            <a:xfrm>
              <a:off x="4007325" y="4454253"/>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EF1B8E5-CF60-4D45-ABEC-7FEA14CA7B20}"/>
                </a:ext>
              </a:extLst>
            </p:cNvPr>
            <p:cNvSpPr txBox="1"/>
            <p:nvPr/>
          </p:nvSpPr>
          <p:spPr>
            <a:xfrm>
              <a:off x="3818786" y="4170159"/>
              <a:ext cx="548548" cy="338554"/>
            </a:xfrm>
            <a:prstGeom prst="rect">
              <a:avLst/>
            </a:prstGeom>
            <a:noFill/>
          </p:spPr>
          <p:txBody>
            <a:bodyPr wrap="none" rtlCol="0">
              <a:spAutoFit/>
            </a:bodyPr>
            <a:lstStyle/>
            <a:p>
              <a:r>
                <a:rPr lang="en-US" sz="1600" b="1" dirty="0">
                  <a:solidFill>
                    <a:schemeClr val="accent1">
                      <a:lumMod val="75000"/>
                    </a:schemeClr>
                  </a:solidFill>
                </a:rPr>
                <a:t>A[2]</a:t>
              </a:r>
            </a:p>
          </p:txBody>
        </p:sp>
        <p:sp>
          <p:nvSpPr>
            <p:cNvPr id="33" name="TextBox 32">
              <a:extLst>
                <a:ext uri="{FF2B5EF4-FFF2-40B4-BE49-F238E27FC236}">
                  <a16:creationId xmlns:a16="http://schemas.microsoft.com/office/drawing/2014/main" id="{4D01ABE5-14DB-45E2-B671-6815E71729B1}"/>
                </a:ext>
              </a:extLst>
            </p:cNvPr>
            <p:cNvSpPr txBox="1"/>
            <p:nvPr/>
          </p:nvSpPr>
          <p:spPr>
            <a:xfrm>
              <a:off x="4231636" y="4160392"/>
              <a:ext cx="538930" cy="338554"/>
            </a:xfrm>
            <a:prstGeom prst="rect">
              <a:avLst/>
            </a:prstGeom>
            <a:noFill/>
          </p:spPr>
          <p:txBody>
            <a:bodyPr wrap="none" rtlCol="0">
              <a:spAutoFit/>
            </a:bodyPr>
            <a:lstStyle/>
            <a:p>
              <a:r>
                <a:rPr lang="en-US" sz="1600" b="1" dirty="0">
                  <a:solidFill>
                    <a:schemeClr val="accent1">
                      <a:lumMod val="75000"/>
                    </a:schemeClr>
                  </a:solidFill>
                </a:rPr>
                <a:t>B[2]</a:t>
              </a:r>
            </a:p>
          </p:txBody>
        </p:sp>
        <p:cxnSp>
          <p:nvCxnSpPr>
            <p:cNvPr id="34" name="Straight Arrow Connector 33">
              <a:extLst>
                <a:ext uri="{FF2B5EF4-FFF2-40B4-BE49-F238E27FC236}">
                  <a16:creationId xmlns:a16="http://schemas.microsoft.com/office/drawing/2014/main" id="{76B072DE-9F0E-4B8E-9569-31B66657DDF7}"/>
                </a:ext>
              </a:extLst>
            </p:cNvPr>
            <p:cNvCxnSpPr>
              <a:cxnSpLocks/>
            </p:cNvCxnSpPr>
            <p:nvPr/>
          </p:nvCxnSpPr>
          <p:spPr>
            <a:xfrm>
              <a:off x="4221908" y="5699394"/>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D762596-9674-4A58-8BB9-7C32EBE244DB}"/>
                </a:ext>
              </a:extLst>
            </p:cNvPr>
            <p:cNvSpPr txBox="1"/>
            <p:nvPr/>
          </p:nvSpPr>
          <p:spPr>
            <a:xfrm>
              <a:off x="4038314" y="5967000"/>
              <a:ext cx="521297" cy="338554"/>
            </a:xfrm>
            <a:prstGeom prst="rect">
              <a:avLst/>
            </a:prstGeom>
            <a:noFill/>
          </p:spPr>
          <p:txBody>
            <a:bodyPr wrap="none" rtlCol="0">
              <a:spAutoFit/>
            </a:bodyPr>
            <a:lstStyle/>
            <a:p>
              <a:r>
                <a:rPr lang="en-US" sz="1600" b="1" dirty="0">
                  <a:solidFill>
                    <a:schemeClr val="accent1">
                      <a:lumMod val="75000"/>
                    </a:schemeClr>
                  </a:solidFill>
                </a:rPr>
                <a:t>S[2]</a:t>
              </a:r>
            </a:p>
          </p:txBody>
        </p:sp>
        <p:cxnSp>
          <p:nvCxnSpPr>
            <p:cNvPr id="39" name="Straight Arrow Connector 38">
              <a:extLst>
                <a:ext uri="{FF2B5EF4-FFF2-40B4-BE49-F238E27FC236}">
                  <a16:creationId xmlns:a16="http://schemas.microsoft.com/office/drawing/2014/main" id="{33F61F5E-1D5E-441D-82EE-172A3E2E91EB}"/>
                </a:ext>
              </a:extLst>
            </p:cNvPr>
            <p:cNvCxnSpPr>
              <a:cxnSpLocks/>
              <a:stCxn id="40" idx="1"/>
            </p:cNvCxnSpPr>
            <p:nvPr/>
          </p:nvCxnSpPr>
          <p:spPr>
            <a:xfrm flipH="1">
              <a:off x="4738729" y="5232466"/>
              <a:ext cx="618857" cy="101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E6171649-804B-4237-8721-213EAD35639D}"/>
                </a:ext>
              </a:extLst>
            </p:cNvPr>
            <p:cNvSpPr/>
            <p:nvPr/>
          </p:nvSpPr>
          <p:spPr>
            <a:xfrm>
              <a:off x="5357586" y="4784993"/>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Inst1</a:t>
              </a:r>
            </a:p>
          </p:txBody>
        </p:sp>
        <p:cxnSp>
          <p:nvCxnSpPr>
            <p:cNvPr id="41" name="Straight Arrow Connector 40">
              <a:extLst>
                <a:ext uri="{FF2B5EF4-FFF2-40B4-BE49-F238E27FC236}">
                  <a16:creationId xmlns:a16="http://schemas.microsoft.com/office/drawing/2014/main" id="{205B7237-DEA7-4B93-B7B6-EABDA2B7451C}"/>
                </a:ext>
              </a:extLst>
            </p:cNvPr>
            <p:cNvCxnSpPr>
              <a:cxnSpLocks/>
            </p:cNvCxnSpPr>
            <p:nvPr/>
          </p:nvCxnSpPr>
          <p:spPr>
            <a:xfrm>
              <a:off x="6045007" y="4454253"/>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8F35C2B-6157-464B-A970-D2E2529D74FD}"/>
                </a:ext>
              </a:extLst>
            </p:cNvPr>
            <p:cNvCxnSpPr>
              <a:cxnSpLocks/>
            </p:cNvCxnSpPr>
            <p:nvPr/>
          </p:nvCxnSpPr>
          <p:spPr>
            <a:xfrm>
              <a:off x="5633203" y="4454253"/>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CF249AF-7507-44D1-A4F1-36286B3C5C2E}"/>
                </a:ext>
              </a:extLst>
            </p:cNvPr>
            <p:cNvSpPr txBox="1"/>
            <p:nvPr/>
          </p:nvSpPr>
          <p:spPr>
            <a:xfrm>
              <a:off x="5444664" y="4170159"/>
              <a:ext cx="548548" cy="338554"/>
            </a:xfrm>
            <a:prstGeom prst="rect">
              <a:avLst/>
            </a:prstGeom>
            <a:noFill/>
          </p:spPr>
          <p:txBody>
            <a:bodyPr wrap="none" rtlCol="0">
              <a:spAutoFit/>
            </a:bodyPr>
            <a:lstStyle/>
            <a:p>
              <a:r>
                <a:rPr lang="en-US" sz="1600" b="1" dirty="0">
                  <a:solidFill>
                    <a:schemeClr val="accent1">
                      <a:lumMod val="75000"/>
                    </a:schemeClr>
                  </a:solidFill>
                </a:rPr>
                <a:t>A[1]</a:t>
              </a:r>
            </a:p>
          </p:txBody>
        </p:sp>
        <p:sp>
          <p:nvSpPr>
            <p:cNvPr id="44" name="TextBox 43">
              <a:extLst>
                <a:ext uri="{FF2B5EF4-FFF2-40B4-BE49-F238E27FC236}">
                  <a16:creationId xmlns:a16="http://schemas.microsoft.com/office/drawing/2014/main" id="{93791F60-2359-4214-9700-F7ACC866C4B2}"/>
                </a:ext>
              </a:extLst>
            </p:cNvPr>
            <p:cNvSpPr txBox="1"/>
            <p:nvPr/>
          </p:nvSpPr>
          <p:spPr>
            <a:xfrm>
              <a:off x="5857514" y="4160392"/>
              <a:ext cx="538930" cy="338554"/>
            </a:xfrm>
            <a:prstGeom prst="rect">
              <a:avLst/>
            </a:prstGeom>
            <a:noFill/>
          </p:spPr>
          <p:txBody>
            <a:bodyPr wrap="none" rtlCol="0">
              <a:spAutoFit/>
            </a:bodyPr>
            <a:lstStyle/>
            <a:p>
              <a:r>
                <a:rPr lang="en-US" sz="1600" b="1" dirty="0">
                  <a:solidFill>
                    <a:schemeClr val="accent1">
                      <a:lumMod val="75000"/>
                    </a:schemeClr>
                  </a:solidFill>
                </a:rPr>
                <a:t>B[1]</a:t>
              </a:r>
            </a:p>
          </p:txBody>
        </p:sp>
        <p:sp>
          <p:nvSpPr>
            <p:cNvPr id="45" name="TextBox 44">
              <a:extLst>
                <a:ext uri="{FF2B5EF4-FFF2-40B4-BE49-F238E27FC236}">
                  <a16:creationId xmlns:a16="http://schemas.microsoft.com/office/drawing/2014/main" id="{0113D017-C828-4EEF-B370-7234A60F57CB}"/>
                </a:ext>
              </a:extLst>
            </p:cNvPr>
            <p:cNvSpPr txBox="1"/>
            <p:nvPr/>
          </p:nvSpPr>
          <p:spPr>
            <a:xfrm>
              <a:off x="5664192" y="5967000"/>
              <a:ext cx="521297" cy="338554"/>
            </a:xfrm>
            <a:prstGeom prst="rect">
              <a:avLst/>
            </a:prstGeom>
            <a:noFill/>
          </p:spPr>
          <p:txBody>
            <a:bodyPr wrap="none" rtlCol="0">
              <a:spAutoFit/>
            </a:bodyPr>
            <a:lstStyle/>
            <a:p>
              <a:r>
                <a:rPr lang="en-US" sz="1600" b="1" dirty="0">
                  <a:solidFill>
                    <a:schemeClr val="accent1">
                      <a:lumMod val="75000"/>
                    </a:schemeClr>
                  </a:solidFill>
                </a:rPr>
                <a:t>S[1]</a:t>
              </a:r>
            </a:p>
          </p:txBody>
        </p:sp>
        <p:cxnSp>
          <p:nvCxnSpPr>
            <p:cNvPr id="46" name="Straight Arrow Connector 45">
              <a:extLst>
                <a:ext uri="{FF2B5EF4-FFF2-40B4-BE49-F238E27FC236}">
                  <a16:creationId xmlns:a16="http://schemas.microsoft.com/office/drawing/2014/main" id="{55F077EC-2DB8-43C2-8062-FD17F61EC9A4}"/>
                </a:ext>
              </a:extLst>
            </p:cNvPr>
            <p:cNvCxnSpPr>
              <a:cxnSpLocks/>
            </p:cNvCxnSpPr>
            <p:nvPr/>
          </p:nvCxnSpPr>
          <p:spPr>
            <a:xfrm>
              <a:off x="5857514" y="5699394"/>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751C255-7BE4-449E-B0DA-BC3A94BEEEFC}"/>
                </a:ext>
              </a:extLst>
            </p:cNvPr>
            <p:cNvCxnSpPr>
              <a:cxnSpLocks/>
              <a:stCxn id="49" idx="1"/>
            </p:cNvCxnSpPr>
            <p:nvPr/>
          </p:nvCxnSpPr>
          <p:spPr>
            <a:xfrm flipH="1">
              <a:off x="6339560" y="5232466"/>
              <a:ext cx="618857" cy="101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E65A2A09-6540-4615-95C9-B4775D7D1B5A}"/>
                </a:ext>
              </a:extLst>
            </p:cNvPr>
            <p:cNvSpPr/>
            <p:nvPr/>
          </p:nvSpPr>
          <p:spPr>
            <a:xfrm>
              <a:off x="6958417" y="4784993"/>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Inst0</a:t>
              </a:r>
            </a:p>
          </p:txBody>
        </p:sp>
        <p:cxnSp>
          <p:nvCxnSpPr>
            <p:cNvPr id="50" name="Straight Arrow Connector 49">
              <a:extLst>
                <a:ext uri="{FF2B5EF4-FFF2-40B4-BE49-F238E27FC236}">
                  <a16:creationId xmlns:a16="http://schemas.microsoft.com/office/drawing/2014/main" id="{294ABC1F-1137-432E-AB91-6D63A0D802C6}"/>
                </a:ext>
              </a:extLst>
            </p:cNvPr>
            <p:cNvCxnSpPr>
              <a:cxnSpLocks/>
            </p:cNvCxnSpPr>
            <p:nvPr/>
          </p:nvCxnSpPr>
          <p:spPr>
            <a:xfrm>
              <a:off x="7645838" y="4454253"/>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7B1C4F4-6ADD-457A-B4E0-2CF4BF8D7898}"/>
                </a:ext>
              </a:extLst>
            </p:cNvPr>
            <p:cNvCxnSpPr>
              <a:cxnSpLocks/>
            </p:cNvCxnSpPr>
            <p:nvPr/>
          </p:nvCxnSpPr>
          <p:spPr>
            <a:xfrm>
              <a:off x="7234034" y="4454253"/>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BC6DB6F-A487-4A35-84D6-500EF33719FC}"/>
                </a:ext>
              </a:extLst>
            </p:cNvPr>
            <p:cNvSpPr txBox="1"/>
            <p:nvPr/>
          </p:nvSpPr>
          <p:spPr>
            <a:xfrm>
              <a:off x="7045495" y="4170159"/>
              <a:ext cx="548548" cy="338554"/>
            </a:xfrm>
            <a:prstGeom prst="rect">
              <a:avLst/>
            </a:prstGeom>
            <a:noFill/>
          </p:spPr>
          <p:txBody>
            <a:bodyPr wrap="none" rtlCol="0">
              <a:spAutoFit/>
            </a:bodyPr>
            <a:lstStyle/>
            <a:p>
              <a:r>
                <a:rPr lang="en-US" sz="1600" b="1" dirty="0">
                  <a:solidFill>
                    <a:schemeClr val="accent1">
                      <a:lumMod val="75000"/>
                    </a:schemeClr>
                  </a:solidFill>
                </a:rPr>
                <a:t>A[0]</a:t>
              </a:r>
            </a:p>
          </p:txBody>
        </p:sp>
        <p:sp>
          <p:nvSpPr>
            <p:cNvPr id="53" name="TextBox 52">
              <a:extLst>
                <a:ext uri="{FF2B5EF4-FFF2-40B4-BE49-F238E27FC236}">
                  <a16:creationId xmlns:a16="http://schemas.microsoft.com/office/drawing/2014/main" id="{A8333B8C-F37D-4427-BF24-9F254E026222}"/>
                </a:ext>
              </a:extLst>
            </p:cNvPr>
            <p:cNvSpPr txBox="1"/>
            <p:nvPr/>
          </p:nvSpPr>
          <p:spPr>
            <a:xfrm>
              <a:off x="7458345" y="4160392"/>
              <a:ext cx="538930" cy="338554"/>
            </a:xfrm>
            <a:prstGeom prst="rect">
              <a:avLst/>
            </a:prstGeom>
            <a:noFill/>
          </p:spPr>
          <p:txBody>
            <a:bodyPr wrap="none" rtlCol="0">
              <a:spAutoFit/>
            </a:bodyPr>
            <a:lstStyle/>
            <a:p>
              <a:r>
                <a:rPr lang="en-US" sz="1600" b="1" dirty="0">
                  <a:solidFill>
                    <a:schemeClr val="accent1">
                      <a:lumMod val="75000"/>
                    </a:schemeClr>
                  </a:solidFill>
                </a:rPr>
                <a:t>B[0]</a:t>
              </a:r>
            </a:p>
          </p:txBody>
        </p:sp>
        <p:sp>
          <p:nvSpPr>
            <p:cNvPr id="54" name="TextBox 53">
              <a:extLst>
                <a:ext uri="{FF2B5EF4-FFF2-40B4-BE49-F238E27FC236}">
                  <a16:creationId xmlns:a16="http://schemas.microsoft.com/office/drawing/2014/main" id="{E0D3BC1A-6146-4563-99C5-4B012E4B02D6}"/>
                </a:ext>
              </a:extLst>
            </p:cNvPr>
            <p:cNvSpPr txBox="1"/>
            <p:nvPr/>
          </p:nvSpPr>
          <p:spPr>
            <a:xfrm>
              <a:off x="7265023" y="5967000"/>
              <a:ext cx="521297" cy="338554"/>
            </a:xfrm>
            <a:prstGeom prst="rect">
              <a:avLst/>
            </a:prstGeom>
            <a:noFill/>
          </p:spPr>
          <p:txBody>
            <a:bodyPr wrap="none" rtlCol="0">
              <a:spAutoFit/>
            </a:bodyPr>
            <a:lstStyle/>
            <a:p>
              <a:r>
                <a:rPr lang="en-US" sz="1600" b="1" dirty="0">
                  <a:solidFill>
                    <a:schemeClr val="accent1">
                      <a:lumMod val="75000"/>
                    </a:schemeClr>
                  </a:solidFill>
                </a:rPr>
                <a:t>S[0]</a:t>
              </a:r>
            </a:p>
          </p:txBody>
        </p:sp>
        <p:cxnSp>
          <p:nvCxnSpPr>
            <p:cNvPr id="55" name="Straight Arrow Connector 54">
              <a:extLst>
                <a:ext uri="{FF2B5EF4-FFF2-40B4-BE49-F238E27FC236}">
                  <a16:creationId xmlns:a16="http://schemas.microsoft.com/office/drawing/2014/main" id="{A39A20FB-E481-4150-9506-74CC16D62868}"/>
                </a:ext>
              </a:extLst>
            </p:cNvPr>
            <p:cNvCxnSpPr>
              <a:cxnSpLocks/>
            </p:cNvCxnSpPr>
            <p:nvPr/>
          </p:nvCxnSpPr>
          <p:spPr>
            <a:xfrm>
              <a:off x="7458345" y="5699394"/>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105508A-87EF-4877-AA49-8AFCCF160E30}"/>
                </a:ext>
              </a:extLst>
            </p:cNvPr>
            <p:cNvCxnSpPr>
              <a:cxnSpLocks/>
            </p:cNvCxnSpPr>
            <p:nvPr/>
          </p:nvCxnSpPr>
          <p:spPr>
            <a:xfrm flipH="1">
              <a:off x="7960366" y="5152417"/>
              <a:ext cx="301558"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0281114-B3B9-4CCF-9EAD-7A27A90503C6}"/>
                </a:ext>
              </a:extLst>
            </p:cNvPr>
            <p:cNvSpPr txBox="1"/>
            <p:nvPr/>
          </p:nvSpPr>
          <p:spPr>
            <a:xfrm>
              <a:off x="8232740" y="4983140"/>
              <a:ext cx="1704313" cy="338554"/>
            </a:xfrm>
            <a:prstGeom prst="rect">
              <a:avLst/>
            </a:prstGeom>
            <a:noFill/>
          </p:spPr>
          <p:txBody>
            <a:bodyPr wrap="none" rtlCol="0">
              <a:spAutoFit/>
            </a:bodyPr>
            <a:lstStyle/>
            <a:p>
              <a:r>
                <a:rPr lang="en-US" sz="1600" b="1" dirty="0">
                  <a:solidFill>
                    <a:schemeClr val="accent1">
                      <a:lumMod val="75000"/>
                    </a:schemeClr>
                  </a:solidFill>
                </a:rPr>
                <a:t>C[0] (same as </a:t>
              </a:r>
              <a:r>
                <a:rPr lang="en-US" sz="1600" b="1" dirty="0" err="1">
                  <a:solidFill>
                    <a:schemeClr val="accent1">
                      <a:lumMod val="75000"/>
                    </a:schemeClr>
                  </a:solidFill>
                </a:rPr>
                <a:t>Cin</a:t>
              </a:r>
              <a:r>
                <a:rPr lang="en-US" sz="1600" b="1" dirty="0">
                  <a:solidFill>
                    <a:schemeClr val="accent1">
                      <a:lumMod val="75000"/>
                    </a:schemeClr>
                  </a:solidFill>
                </a:rPr>
                <a:t>)</a:t>
              </a:r>
            </a:p>
          </p:txBody>
        </p:sp>
        <p:sp>
          <p:nvSpPr>
            <p:cNvPr id="58" name="TextBox 57">
              <a:extLst>
                <a:ext uri="{FF2B5EF4-FFF2-40B4-BE49-F238E27FC236}">
                  <a16:creationId xmlns:a16="http://schemas.microsoft.com/office/drawing/2014/main" id="{C2CD5DE2-9AD6-461C-BD27-3D8BE8CF7C93}"/>
                </a:ext>
              </a:extLst>
            </p:cNvPr>
            <p:cNvSpPr txBox="1"/>
            <p:nvPr/>
          </p:nvSpPr>
          <p:spPr>
            <a:xfrm>
              <a:off x="6513200" y="4878522"/>
              <a:ext cx="532518" cy="338554"/>
            </a:xfrm>
            <a:prstGeom prst="rect">
              <a:avLst/>
            </a:prstGeom>
            <a:noFill/>
          </p:spPr>
          <p:txBody>
            <a:bodyPr wrap="none" rtlCol="0">
              <a:spAutoFit/>
            </a:bodyPr>
            <a:lstStyle/>
            <a:p>
              <a:r>
                <a:rPr lang="en-US" sz="1600" b="1" dirty="0">
                  <a:solidFill>
                    <a:schemeClr val="accent1">
                      <a:lumMod val="75000"/>
                    </a:schemeClr>
                  </a:solidFill>
                </a:rPr>
                <a:t>C[1]</a:t>
              </a:r>
            </a:p>
          </p:txBody>
        </p:sp>
        <p:sp>
          <p:nvSpPr>
            <p:cNvPr id="59" name="TextBox 58">
              <a:extLst>
                <a:ext uri="{FF2B5EF4-FFF2-40B4-BE49-F238E27FC236}">
                  <a16:creationId xmlns:a16="http://schemas.microsoft.com/office/drawing/2014/main" id="{06B7C148-C871-43E7-B928-AD94DBA3BE40}"/>
                </a:ext>
              </a:extLst>
            </p:cNvPr>
            <p:cNvSpPr txBox="1"/>
            <p:nvPr/>
          </p:nvSpPr>
          <p:spPr>
            <a:xfrm>
              <a:off x="4899893" y="4892814"/>
              <a:ext cx="532518" cy="338554"/>
            </a:xfrm>
            <a:prstGeom prst="rect">
              <a:avLst/>
            </a:prstGeom>
            <a:noFill/>
          </p:spPr>
          <p:txBody>
            <a:bodyPr wrap="none" rtlCol="0">
              <a:spAutoFit/>
            </a:bodyPr>
            <a:lstStyle/>
            <a:p>
              <a:r>
                <a:rPr lang="en-US" sz="1600" b="1" dirty="0">
                  <a:solidFill>
                    <a:schemeClr val="accent1">
                      <a:lumMod val="75000"/>
                    </a:schemeClr>
                  </a:solidFill>
                </a:rPr>
                <a:t>C[2]</a:t>
              </a:r>
            </a:p>
          </p:txBody>
        </p:sp>
        <p:sp>
          <p:nvSpPr>
            <p:cNvPr id="60" name="TextBox 59">
              <a:extLst>
                <a:ext uri="{FF2B5EF4-FFF2-40B4-BE49-F238E27FC236}">
                  <a16:creationId xmlns:a16="http://schemas.microsoft.com/office/drawing/2014/main" id="{A662680C-7FD6-4176-A500-99AC95F14FC9}"/>
                </a:ext>
              </a:extLst>
            </p:cNvPr>
            <p:cNvSpPr txBox="1"/>
            <p:nvPr/>
          </p:nvSpPr>
          <p:spPr>
            <a:xfrm>
              <a:off x="3266516" y="4892814"/>
              <a:ext cx="532518" cy="338554"/>
            </a:xfrm>
            <a:prstGeom prst="rect">
              <a:avLst/>
            </a:prstGeom>
            <a:noFill/>
          </p:spPr>
          <p:txBody>
            <a:bodyPr wrap="none" rtlCol="0">
              <a:spAutoFit/>
            </a:bodyPr>
            <a:lstStyle/>
            <a:p>
              <a:r>
                <a:rPr lang="en-US" sz="1600" b="1" dirty="0">
                  <a:solidFill>
                    <a:schemeClr val="accent1">
                      <a:lumMod val="75000"/>
                    </a:schemeClr>
                  </a:solidFill>
                </a:rPr>
                <a:t>C[3]</a:t>
              </a:r>
            </a:p>
          </p:txBody>
        </p:sp>
      </p:grpSp>
      <p:sp>
        <p:nvSpPr>
          <p:cNvPr id="62" name="TextBox 61">
            <a:extLst>
              <a:ext uri="{FF2B5EF4-FFF2-40B4-BE49-F238E27FC236}">
                <a16:creationId xmlns:a16="http://schemas.microsoft.com/office/drawing/2014/main" id="{D179CCA4-D11E-4BEF-8D03-EBDBF3036A66}"/>
              </a:ext>
            </a:extLst>
          </p:cNvPr>
          <p:cNvSpPr txBox="1"/>
          <p:nvPr/>
        </p:nvSpPr>
        <p:spPr>
          <a:xfrm>
            <a:off x="4764054" y="6089397"/>
            <a:ext cx="2487604" cy="369332"/>
          </a:xfrm>
          <a:prstGeom prst="rect">
            <a:avLst/>
          </a:prstGeom>
          <a:noFill/>
        </p:spPr>
        <p:txBody>
          <a:bodyPr wrap="none" rtlCol="0">
            <a:spAutoFit/>
          </a:bodyPr>
          <a:lstStyle/>
          <a:p>
            <a:r>
              <a:rPr lang="en-US" b="1" dirty="0">
                <a:solidFill>
                  <a:schemeClr val="accent1">
                    <a:lumMod val="75000"/>
                  </a:schemeClr>
                </a:solidFill>
              </a:rPr>
              <a:t>4-bit Ripple Carry Adder</a:t>
            </a:r>
          </a:p>
        </p:txBody>
      </p:sp>
    </p:spTree>
    <p:extLst>
      <p:ext uri="{BB962C8B-B14F-4D97-AF65-F5344CB8AC3E}">
        <p14:creationId xmlns:p14="http://schemas.microsoft.com/office/powerpoint/2010/main" val="397011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710119" y="123825"/>
            <a:ext cx="10643682"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How to develop Ripple Carry Adder using Generate</a:t>
            </a:r>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356350"/>
            <a:ext cx="2743200" cy="365125"/>
          </a:xfrm>
        </p:spPr>
        <p:txBody>
          <a:bodyPr/>
          <a:lstStyle/>
          <a:p>
            <a:fld id="{3A98EE3D-8CD1-4C3F-BD1C-C98C9596463C}" type="slidenum">
              <a:rPr lang="en-US" smtClean="0"/>
              <a:t>3</a:t>
            </a:fld>
            <a:endParaRPr lang="en-US" dirty="0"/>
          </a:p>
        </p:txBody>
      </p:sp>
      <p:sp>
        <p:nvSpPr>
          <p:cNvPr id="10" name="TextBox 9">
            <a:extLst>
              <a:ext uri="{FF2B5EF4-FFF2-40B4-BE49-F238E27FC236}">
                <a16:creationId xmlns:a16="http://schemas.microsoft.com/office/drawing/2014/main" id="{BBB5D65F-5A81-4F47-BF72-EC020EE4ED59}"/>
              </a:ext>
            </a:extLst>
          </p:cNvPr>
          <p:cNvSpPr txBox="1"/>
          <p:nvPr/>
        </p:nvSpPr>
        <p:spPr>
          <a:xfrm>
            <a:off x="1549075" y="752317"/>
            <a:ext cx="5593647" cy="5863144"/>
          </a:xfrm>
          <a:prstGeom prst="rect">
            <a:avLst/>
          </a:prstGeom>
          <a:solidFill>
            <a:schemeClr val="accent5">
              <a:lumMod val="20000"/>
              <a:lumOff val="80000"/>
            </a:schemeClr>
          </a:solidFill>
          <a:ln w="25400" cmpd="dbl">
            <a:solidFill>
              <a:schemeClr val="accent3"/>
            </a:solidFill>
          </a:ln>
        </p:spPr>
        <p:txBody>
          <a:bodyPr wrap="square" rtlCol="0">
            <a:spAutoFit/>
          </a:bodyPr>
          <a:lstStyle/>
          <a:p>
            <a:r>
              <a:rPr lang="en-US" sz="1500" b="1" dirty="0"/>
              <a:t>module</a:t>
            </a:r>
            <a:r>
              <a:rPr lang="en-US" sz="1500" dirty="0"/>
              <a:t> </a:t>
            </a:r>
            <a:r>
              <a:rPr lang="en-US" sz="1500" dirty="0" err="1"/>
              <a:t>ripple_carry_adder</a:t>
            </a:r>
            <a:r>
              <a:rPr lang="en-US" sz="1500" dirty="0"/>
              <a:t>  </a:t>
            </a:r>
            <a:r>
              <a:rPr lang="en-US" sz="1500" b="1" dirty="0"/>
              <a:t>#</a:t>
            </a:r>
            <a:r>
              <a:rPr lang="en-US" sz="1500" dirty="0"/>
              <a:t>(</a:t>
            </a:r>
            <a:r>
              <a:rPr lang="en-US" sz="1500" b="1" dirty="0"/>
              <a:t>parameter</a:t>
            </a:r>
            <a:r>
              <a:rPr lang="en-US" sz="1500" dirty="0"/>
              <a:t> N = 4)( </a:t>
            </a:r>
          </a:p>
          <a:p>
            <a:r>
              <a:rPr lang="en-US" sz="1500" b="1" dirty="0"/>
              <a:t>  </a:t>
            </a:r>
            <a:r>
              <a:rPr lang="en-US" sz="1500" b="1"/>
              <a:t>input </a:t>
            </a:r>
            <a:r>
              <a:rPr lang="en-US" sz="1500" smtClean="0"/>
              <a:t>[N-1:0</a:t>
            </a:r>
            <a:r>
              <a:rPr lang="en-US" sz="1500" dirty="0"/>
              <a:t>] A, B, </a:t>
            </a:r>
          </a:p>
          <a:p>
            <a:r>
              <a:rPr lang="en-US" sz="1500" dirty="0"/>
              <a:t>  </a:t>
            </a:r>
            <a:r>
              <a:rPr lang="en-US" sz="1500" b="1"/>
              <a:t>input </a:t>
            </a:r>
            <a:r>
              <a:rPr lang="en-US" sz="1500" smtClean="0"/>
              <a:t> </a:t>
            </a:r>
            <a:r>
              <a:rPr lang="en-US" sz="1500" dirty="0"/>
              <a:t>CIN,</a:t>
            </a:r>
          </a:p>
          <a:p>
            <a:r>
              <a:rPr lang="en-US" sz="1500" b="1" dirty="0"/>
              <a:t>  output logic</a:t>
            </a:r>
            <a:r>
              <a:rPr lang="en-US" sz="1500" dirty="0"/>
              <a:t>[N:0] result);</a:t>
            </a:r>
          </a:p>
          <a:p>
            <a:r>
              <a:rPr lang="en-US" sz="1500" b="1" dirty="0"/>
              <a:t>  logic[N:0] </a:t>
            </a:r>
            <a:r>
              <a:rPr lang="en-US" sz="1500" dirty="0" err="1"/>
              <a:t>l_carry</a:t>
            </a:r>
            <a:r>
              <a:rPr lang="en-US" sz="1500" dirty="0"/>
              <a:t>;</a:t>
            </a:r>
          </a:p>
          <a:p>
            <a:r>
              <a:rPr lang="en-US" sz="1500" b="1" dirty="0"/>
              <a:t>  logic[N-1:0] </a:t>
            </a:r>
            <a:r>
              <a:rPr lang="en-US" sz="1500" dirty="0" err="1"/>
              <a:t>l_sum</a:t>
            </a:r>
            <a:r>
              <a:rPr lang="en-US" sz="1500" dirty="0"/>
              <a:t>;</a:t>
            </a:r>
          </a:p>
          <a:p>
            <a:r>
              <a:rPr lang="en-US" sz="1500" b="1" dirty="0"/>
              <a:t>  </a:t>
            </a:r>
            <a:r>
              <a:rPr lang="en-US" sz="1500" b="1" dirty="0">
                <a:solidFill>
                  <a:srgbClr val="FF0000"/>
                </a:solidFill>
              </a:rPr>
              <a:t>// assign Carry in to first full adder </a:t>
            </a:r>
            <a:r>
              <a:rPr lang="en-US" sz="1500" b="1" dirty="0" err="1">
                <a:solidFill>
                  <a:srgbClr val="FF0000"/>
                </a:solidFill>
              </a:rPr>
              <a:t>carryin</a:t>
            </a:r>
            <a:r>
              <a:rPr lang="en-US" sz="1500" b="1" dirty="0">
                <a:solidFill>
                  <a:srgbClr val="FF0000"/>
                </a:solidFill>
              </a:rPr>
              <a:t> </a:t>
            </a:r>
            <a:r>
              <a:rPr lang="en-US" sz="1500" b="1" dirty="0"/>
              <a:t>   </a:t>
            </a:r>
          </a:p>
          <a:p>
            <a:r>
              <a:rPr lang="en-US" sz="1500" b="1" dirty="0"/>
              <a:t>  assign </a:t>
            </a:r>
            <a:r>
              <a:rPr lang="en-US" sz="1500" dirty="0" err="1"/>
              <a:t>l_carry</a:t>
            </a:r>
            <a:r>
              <a:rPr lang="en-US" sz="1500" dirty="0"/>
              <a:t>[0] = CIN;</a:t>
            </a:r>
            <a:r>
              <a:rPr lang="en-US" sz="1500" b="1" dirty="0"/>
              <a:t>        </a:t>
            </a:r>
          </a:p>
          <a:p>
            <a:r>
              <a:rPr lang="en-US" sz="1500" b="1" dirty="0"/>
              <a:t>  </a:t>
            </a:r>
          </a:p>
          <a:p>
            <a:r>
              <a:rPr lang="en-US" sz="1500" b="1" dirty="0"/>
              <a:t>  </a:t>
            </a:r>
            <a:r>
              <a:rPr lang="en-US" sz="1500" b="1" dirty="0">
                <a:solidFill>
                  <a:srgbClr val="FF0000"/>
                </a:solidFill>
              </a:rPr>
              <a:t>// Instantiate Full Adder for 'N' instances</a:t>
            </a:r>
            <a:r>
              <a:rPr lang="en-US" sz="1500" b="1" dirty="0"/>
              <a:t> </a:t>
            </a:r>
          </a:p>
          <a:p>
            <a:r>
              <a:rPr lang="en-US" sz="1500" b="1" dirty="0"/>
              <a:t>  </a:t>
            </a:r>
            <a:r>
              <a:rPr lang="en-US" sz="1500" b="1" dirty="0" err="1"/>
              <a:t>genvar</a:t>
            </a:r>
            <a:r>
              <a:rPr lang="en-US" sz="1500" b="1" dirty="0"/>
              <a:t> </a:t>
            </a:r>
            <a:r>
              <a:rPr lang="en-US" sz="1500" b="1" dirty="0" err="1"/>
              <a:t>i</a:t>
            </a:r>
            <a:r>
              <a:rPr lang="en-US" sz="1500" b="1" dirty="0"/>
              <a:t>;</a:t>
            </a:r>
          </a:p>
          <a:p>
            <a:r>
              <a:rPr lang="en-US" sz="1500" b="1" dirty="0"/>
              <a:t>  generate</a:t>
            </a:r>
          </a:p>
          <a:p>
            <a:r>
              <a:rPr lang="en-US" sz="1500" b="1" dirty="0"/>
              <a:t>    for</a:t>
            </a:r>
            <a:r>
              <a:rPr lang="en-US" sz="1500" dirty="0"/>
              <a:t>(</a:t>
            </a:r>
            <a:r>
              <a:rPr lang="en-US" sz="1500" dirty="0" err="1"/>
              <a:t>i</a:t>
            </a:r>
            <a:r>
              <a:rPr lang="en-US" sz="1500" dirty="0"/>
              <a:t>=0; </a:t>
            </a:r>
            <a:r>
              <a:rPr lang="en-US" sz="1500" dirty="0" err="1"/>
              <a:t>i</a:t>
            </a:r>
            <a:r>
              <a:rPr lang="en-US" sz="1500" dirty="0"/>
              <a:t>&lt;N; </a:t>
            </a:r>
            <a:r>
              <a:rPr lang="en-US" sz="1500" dirty="0" err="1"/>
              <a:t>i</a:t>
            </a:r>
            <a:r>
              <a:rPr lang="en-US" sz="1500" dirty="0"/>
              <a:t>=i+1) </a:t>
            </a:r>
            <a:r>
              <a:rPr lang="en-US" sz="1500" b="1" dirty="0"/>
              <a:t>begin: </a:t>
            </a:r>
            <a:r>
              <a:rPr lang="en-US" sz="1500" b="1" dirty="0" err="1">
                <a:solidFill>
                  <a:schemeClr val="accent1">
                    <a:lumMod val="75000"/>
                  </a:schemeClr>
                </a:solidFill>
              </a:rPr>
              <a:t>fa_loop</a:t>
            </a:r>
            <a:r>
              <a:rPr lang="en-US" sz="1500" b="1" dirty="0"/>
              <a:t> </a:t>
            </a:r>
          </a:p>
          <a:p>
            <a:r>
              <a:rPr lang="en-US" sz="1500" b="1" dirty="0"/>
              <a:t>      </a:t>
            </a:r>
            <a:r>
              <a:rPr lang="en-US" sz="1500" b="1" dirty="0" err="1"/>
              <a:t>fulladder</a:t>
            </a:r>
            <a:r>
              <a:rPr lang="en-US" sz="1500" b="1" dirty="0"/>
              <a:t> </a:t>
            </a:r>
            <a:r>
              <a:rPr lang="en-US" sz="1500" dirty="0" err="1"/>
              <a:t>fa_inst</a:t>
            </a:r>
            <a:r>
              <a:rPr lang="en-US" sz="1500" dirty="0"/>
              <a:t>(</a:t>
            </a:r>
            <a:r>
              <a:rPr lang="en-US" sz="1500" b="1" dirty="0"/>
              <a:t> </a:t>
            </a:r>
          </a:p>
          <a:p>
            <a:r>
              <a:rPr lang="en-US" sz="1500" b="1" dirty="0"/>
              <a:t>        </a:t>
            </a:r>
            <a:r>
              <a:rPr lang="en-US" sz="1500" dirty="0"/>
              <a:t>.a(A[</a:t>
            </a:r>
            <a:r>
              <a:rPr lang="en-US" sz="1500" dirty="0" err="1"/>
              <a:t>i</a:t>
            </a:r>
            <a:r>
              <a:rPr lang="en-US" sz="1500" dirty="0"/>
              <a:t>]),</a:t>
            </a:r>
          </a:p>
          <a:p>
            <a:r>
              <a:rPr lang="en-US" sz="1500" dirty="0"/>
              <a:t>        .b(B[</a:t>
            </a:r>
            <a:r>
              <a:rPr lang="en-US" sz="1500" dirty="0" err="1"/>
              <a:t>i</a:t>
            </a:r>
            <a:r>
              <a:rPr lang="en-US" sz="1500" dirty="0"/>
              <a:t>]),</a:t>
            </a:r>
          </a:p>
          <a:p>
            <a:r>
              <a:rPr lang="en-US" sz="1500" dirty="0"/>
              <a:t>        .</a:t>
            </a:r>
            <a:r>
              <a:rPr lang="en-US" sz="1500" dirty="0" err="1"/>
              <a:t>cin</a:t>
            </a:r>
            <a:r>
              <a:rPr lang="en-US" sz="1500" dirty="0"/>
              <a:t>(</a:t>
            </a:r>
            <a:r>
              <a:rPr lang="en-US" sz="1500" dirty="0" err="1"/>
              <a:t>l_carry</a:t>
            </a:r>
            <a:r>
              <a:rPr lang="en-US" sz="1500" dirty="0"/>
              <a:t>[</a:t>
            </a:r>
            <a:r>
              <a:rPr lang="en-US" sz="1500" dirty="0" err="1"/>
              <a:t>i</a:t>
            </a:r>
            <a:r>
              <a:rPr lang="en-US" sz="1500" dirty="0"/>
              <a:t>]),</a:t>
            </a:r>
          </a:p>
          <a:p>
            <a:r>
              <a:rPr lang="en-US" sz="1500" dirty="0"/>
              <a:t>        .sum(</a:t>
            </a:r>
            <a:r>
              <a:rPr lang="en-US" sz="1500" dirty="0" err="1"/>
              <a:t>l_sum</a:t>
            </a:r>
            <a:r>
              <a:rPr lang="en-US" sz="1500" dirty="0"/>
              <a:t>[</a:t>
            </a:r>
            <a:r>
              <a:rPr lang="en-US" sz="1500" dirty="0" err="1"/>
              <a:t>i</a:t>
            </a:r>
            <a:r>
              <a:rPr lang="en-US" sz="1500" dirty="0"/>
              <a:t>]),</a:t>
            </a:r>
          </a:p>
          <a:p>
            <a:r>
              <a:rPr lang="en-US" sz="1500" dirty="0"/>
              <a:t>        .</a:t>
            </a:r>
            <a:r>
              <a:rPr lang="en-US" sz="1500" dirty="0" err="1"/>
              <a:t>cout</a:t>
            </a:r>
            <a:r>
              <a:rPr lang="en-US" sz="1500" dirty="0"/>
              <a:t>(</a:t>
            </a:r>
            <a:r>
              <a:rPr lang="en-US" sz="1500" dirty="0" err="1"/>
              <a:t>l_carry</a:t>
            </a:r>
            <a:r>
              <a:rPr lang="en-US" sz="1500" dirty="0"/>
              <a:t>[i+1]));</a:t>
            </a:r>
          </a:p>
          <a:p>
            <a:r>
              <a:rPr lang="en-US" sz="1500" b="1" dirty="0"/>
              <a:t>    end: </a:t>
            </a:r>
            <a:r>
              <a:rPr lang="en-US" sz="1500" b="1" dirty="0" err="1">
                <a:solidFill>
                  <a:schemeClr val="accent1">
                    <a:lumMod val="75000"/>
                  </a:schemeClr>
                </a:solidFill>
              </a:rPr>
              <a:t>fa_loop</a:t>
            </a:r>
            <a:endParaRPr lang="en-US" sz="1500" b="1" dirty="0">
              <a:solidFill>
                <a:schemeClr val="accent1">
                  <a:lumMod val="75000"/>
                </a:schemeClr>
              </a:solidFill>
            </a:endParaRPr>
          </a:p>
          <a:p>
            <a:r>
              <a:rPr lang="en-US" sz="1500" b="1" dirty="0"/>
              <a:t>  </a:t>
            </a:r>
            <a:r>
              <a:rPr lang="en-US" sz="1500" b="1" dirty="0" err="1"/>
              <a:t>endgenerate</a:t>
            </a:r>
            <a:endParaRPr lang="en-US" sz="1500" b="1" dirty="0"/>
          </a:p>
          <a:p>
            <a:r>
              <a:rPr lang="en-US" sz="1500" b="1" dirty="0"/>
              <a:t>  </a:t>
            </a:r>
          </a:p>
          <a:p>
            <a:r>
              <a:rPr lang="en-US" sz="1500" b="1" dirty="0"/>
              <a:t>  </a:t>
            </a:r>
            <a:r>
              <a:rPr lang="en-US" sz="1500" b="1" dirty="0">
                <a:solidFill>
                  <a:srgbClr val="FF0000"/>
                </a:solidFill>
              </a:rPr>
              <a:t>// final result of addition and carry</a:t>
            </a:r>
            <a:r>
              <a:rPr lang="en-US" sz="1500" b="1" dirty="0"/>
              <a:t> </a:t>
            </a:r>
          </a:p>
          <a:p>
            <a:r>
              <a:rPr lang="en-US" sz="1500" b="1" dirty="0"/>
              <a:t>  assign </a:t>
            </a:r>
            <a:r>
              <a:rPr lang="en-US" sz="1500" dirty="0"/>
              <a:t>result = {</a:t>
            </a:r>
            <a:r>
              <a:rPr lang="en-US" sz="1500" dirty="0" err="1"/>
              <a:t>l_carry</a:t>
            </a:r>
            <a:r>
              <a:rPr lang="en-US" sz="1500" dirty="0"/>
              <a:t>[N], </a:t>
            </a:r>
            <a:r>
              <a:rPr lang="en-US" sz="1500" dirty="0" err="1"/>
              <a:t>l_sum</a:t>
            </a:r>
            <a:r>
              <a:rPr lang="en-US" sz="1500" dirty="0"/>
              <a:t>}; </a:t>
            </a:r>
          </a:p>
          <a:p>
            <a:r>
              <a:rPr lang="en-US" sz="1500" b="1" dirty="0" err="1"/>
              <a:t>endmodule</a:t>
            </a:r>
            <a:r>
              <a:rPr lang="en-US" sz="1500" dirty="0"/>
              <a:t>: </a:t>
            </a:r>
            <a:r>
              <a:rPr lang="en-US" sz="1500" dirty="0" err="1"/>
              <a:t>ripple_carry_adder</a:t>
            </a:r>
            <a:endParaRPr lang="en-US" sz="1500" dirty="0"/>
          </a:p>
        </p:txBody>
      </p:sp>
      <p:sp>
        <p:nvSpPr>
          <p:cNvPr id="22" name="Rectangle 21">
            <a:extLst>
              <a:ext uri="{FF2B5EF4-FFF2-40B4-BE49-F238E27FC236}">
                <a16:creationId xmlns:a16="http://schemas.microsoft.com/office/drawing/2014/main" id="{C29F02D8-8157-4FC6-ABDC-0E88B23E08F5}"/>
              </a:ext>
            </a:extLst>
          </p:cNvPr>
          <p:cNvSpPr/>
          <p:nvPr/>
        </p:nvSpPr>
        <p:spPr>
          <a:xfrm>
            <a:off x="2759503" y="3036533"/>
            <a:ext cx="4020677" cy="338554"/>
          </a:xfrm>
          <a:prstGeom prst="rect">
            <a:avLst/>
          </a:prstGeom>
        </p:spPr>
        <p:txBody>
          <a:bodyPr wrap="square">
            <a:spAutoFit/>
          </a:bodyPr>
          <a:lstStyle/>
          <a:p>
            <a:r>
              <a:rPr lang="en-US" sz="1600" dirty="0" err="1">
                <a:solidFill>
                  <a:srgbClr val="FF0000"/>
                </a:solidFill>
              </a:rPr>
              <a:t>genvar</a:t>
            </a:r>
            <a:r>
              <a:rPr lang="en-US" sz="1600" dirty="0">
                <a:solidFill>
                  <a:srgbClr val="FF0000"/>
                </a:solidFill>
              </a:rPr>
              <a:t> ‘</a:t>
            </a:r>
            <a:r>
              <a:rPr lang="en-US" sz="1600" dirty="0" err="1">
                <a:solidFill>
                  <a:srgbClr val="FF0000"/>
                </a:solidFill>
              </a:rPr>
              <a:t>i</a:t>
            </a:r>
            <a:r>
              <a:rPr lang="en-US" sz="1600" dirty="0">
                <a:solidFill>
                  <a:srgbClr val="FF0000"/>
                </a:solidFill>
              </a:rPr>
              <a:t>’ controls generate for loop iteration</a:t>
            </a:r>
          </a:p>
        </p:txBody>
      </p:sp>
      <p:cxnSp>
        <p:nvCxnSpPr>
          <p:cNvPr id="23" name="Straight Arrow Connector 22">
            <a:extLst>
              <a:ext uri="{FF2B5EF4-FFF2-40B4-BE49-F238E27FC236}">
                <a16:creationId xmlns:a16="http://schemas.microsoft.com/office/drawing/2014/main" id="{5989EA42-1274-4E35-94FF-12DE64DE5CFA}"/>
              </a:ext>
            </a:extLst>
          </p:cNvPr>
          <p:cNvCxnSpPr>
            <a:cxnSpLocks/>
          </p:cNvCxnSpPr>
          <p:nvPr/>
        </p:nvCxnSpPr>
        <p:spPr>
          <a:xfrm flipH="1">
            <a:off x="2483033" y="3228230"/>
            <a:ext cx="29592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40C1436A-E8D5-4CAE-A257-04085991ED31}"/>
              </a:ext>
            </a:extLst>
          </p:cNvPr>
          <p:cNvSpPr/>
          <p:nvPr/>
        </p:nvSpPr>
        <p:spPr>
          <a:xfrm>
            <a:off x="5040568" y="3753138"/>
            <a:ext cx="1759068" cy="1323439"/>
          </a:xfrm>
          <a:prstGeom prst="rect">
            <a:avLst/>
          </a:prstGeom>
        </p:spPr>
        <p:txBody>
          <a:bodyPr wrap="square">
            <a:spAutoFit/>
          </a:bodyPr>
          <a:lstStyle/>
          <a:p>
            <a:r>
              <a:rPr lang="en-US" sz="1600" dirty="0">
                <a:solidFill>
                  <a:srgbClr val="FF0000"/>
                </a:solidFill>
              </a:rPr>
              <a:t>generate for loop statement will create ‘N’ number of full adder module instances</a:t>
            </a:r>
          </a:p>
        </p:txBody>
      </p:sp>
      <p:sp>
        <p:nvSpPr>
          <p:cNvPr id="26" name="Right Brace 25">
            <a:extLst>
              <a:ext uri="{FF2B5EF4-FFF2-40B4-BE49-F238E27FC236}">
                <a16:creationId xmlns:a16="http://schemas.microsoft.com/office/drawing/2014/main" id="{46EC591A-98AA-40A2-AF75-542A1DFA321F}"/>
              </a:ext>
            </a:extLst>
          </p:cNvPr>
          <p:cNvSpPr/>
          <p:nvPr/>
        </p:nvSpPr>
        <p:spPr>
          <a:xfrm>
            <a:off x="4695654" y="3334582"/>
            <a:ext cx="255728" cy="2375556"/>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5B69A355-EC0C-4065-9D31-4E83A138914A}"/>
              </a:ext>
            </a:extLst>
          </p:cNvPr>
          <p:cNvCxnSpPr>
            <a:cxnSpLocks/>
          </p:cNvCxnSpPr>
          <p:nvPr/>
        </p:nvCxnSpPr>
        <p:spPr>
          <a:xfrm flipV="1">
            <a:off x="4814434" y="1070043"/>
            <a:ext cx="3792687" cy="2264229"/>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B47E063-99ED-4810-B520-303F797AF2C7}"/>
              </a:ext>
            </a:extLst>
          </p:cNvPr>
          <p:cNvSpPr/>
          <p:nvPr/>
        </p:nvSpPr>
        <p:spPr>
          <a:xfrm>
            <a:off x="3477934" y="4058907"/>
            <a:ext cx="1188536" cy="1477328"/>
          </a:xfrm>
          <a:prstGeom prst="rect">
            <a:avLst/>
          </a:prstGeom>
        </p:spPr>
        <p:txBody>
          <a:bodyPr wrap="square">
            <a:spAutoFit/>
          </a:bodyPr>
          <a:lstStyle/>
          <a:p>
            <a:pPr algn="ctr"/>
            <a:r>
              <a:rPr lang="en-US" sz="1500" dirty="0">
                <a:solidFill>
                  <a:srgbClr val="FF0000"/>
                </a:solidFill>
              </a:rPr>
              <a:t>mandatory to have named for loop inside generate body</a:t>
            </a:r>
          </a:p>
        </p:txBody>
      </p:sp>
      <p:cxnSp>
        <p:nvCxnSpPr>
          <p:cNvPr id="20" name="Straight Arrow Connector 19">
            <a:extLst>
              <a:ext uri="{FF2B5EF4-FFF2-40B4-BE49-F238E27FC236}">
                <a16:creationId xmlns:a16="http://schemas.microsoft.com/office/drawing/2014/main" id="{5F19C6DD-CBD1-4EB1-B986-8D453E067553}"/>
              </a:ext>
            </a:extLst>
          </p:cNvPr>
          <p:cNvCxnSpPr>
            <a:cxnSpLocks/>
          </p:cNvCxnSpPr>
          <p:nvPr/>
        </p:nvCxnSpPr>
        <p:spPr>
          <a:xfrm flipV="1">
            <a:off x="4192622" y="3774335"/>
            <a:ext cx="0" cy="28457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6E37C50-3C3D-4DB9-BE83-96EE0A4A3957}"/>
              </a:ext>
            </a:extLst>
          </p:cNvPr>
          <p:cNvCxnSpPr>
            <a:cxnSpLocks/>
          </p:cNvCxnSpPr>
          <p:nvPr/>
        </p:nvCxnSpPr>
        <p:spPr>
          <a:xfrm>
            <a:off x="4814434" y="5686659"/>
            <a:ext cx="3979370" cy="928802"/>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2B70526-0F98-40CE-B637-7E2ED5053558}"/>
              </a:ext>
            </a:extLst>
          </p:cNvPr>
          <p:cNvSpPr/>
          <p:nvPr/>
        </p:nvSpPr>
        <p:spPr>
          <a:xfrm>
            <a:off x="8607121" y="905515"/>
            <a:ext cx="2428746" cy="5909310"/>
          </a:xfrm>
          <a:prstGeom prst="rect">
            <a:avLst/>
          </a:prstGeom>
        </p:spPr>
        <p:txBody>
          <a:bodyPr wrap="square">
            <a:spAutoFit/>
          </a:bodyPr>
          <a:lstStyle/>
          <a:p>
            <a:r>
              <a:rPr lang="en-US" sz="1400" b="1" dirty="0" err="1">
                <a:solidFill>
                  <a:srgbClr val="FF0000"/>
                </a:solidFill>
              </a:rPr>
              <a:t>fulladder</a:t>
            </a:r>
            <a:r>
              <a:rPr lang="en-US" sz="1400" b="1" dirty="0">
                <a:solidFill>
                  <a:srgbClr val="FF0000"/>
                </a:solidFill>
              </a:rPr>
              <a:t> </a:t>
            </a:r>
            <a:r>
              <a:rPr lang="en-US" sz="1400" dirty="0">
                <a:solidFill>
                  <a:srgbClr val="FF0000"/>
                </a:solidFill>
              </a:rPr>
              <a:t>fa_inst0(</a:t>
            </a:r>
            <a:r>
              <a:rPr lang="en-US" sz="1400" b="1" dirty="0">
                <a:solidFill>
                  <a:srgbClr val="FF0000"/>
                </a:solidFill>
              </a:rPr>
              <a:t> </a:t>
            </a:r>
          </a:p>
          <a:p>
            <a:r>
              <a:rPr lang="en-US" sz="1400" b="1" dirty="0">
                <a:solidFill>
                  <a:srgbClr val="FF0000"/>
                </a:solidFill>
              </a:rPr>
              <a:t>        </a:t>
            </a:r>
            <a:r>
              <a:rPr lang="en-US" sz="1400" dirty="0">
                <a:solidFill>
                  <a:srgbClr val="FF0000"/>
                </a:solidFill>
              </a:rPr>
              <a:t>.a(A[0]),</a:t>
            </a:r>
          </a:p>
          <a:p>
            <a:r>
              <a:rPr lang="en-US" sz="1400" dirty="0">
                <a:solidFill>
                  <a:srgbClr val="FF0000"/>
                </a:solidFill>
              </a:rPr>
              <a:t>        .b(B[0]),</a:t>
            </a:r>
          </a:p>
          <a:p>
            <a:r>
              <a:rPr lang="en-US" sz="1400" dirty="0">
                <a:solidFill>
                  <a:srgbClr val="FF0000"/>
                </a:solidFill>
              </a:rPr>
              <a:t>        .</a:t>
            </a:r>
            <a:r>
              <a:rPr lang="en-US" sz="1400" dirty="0" err="1">
                <a:solidFill>
                  <a:srgbClr val="FF0000"/>
                </a:solidFill>
              </a:rPr>
              <a:t>cin</a:t>
            </a:r>
            <a:r>
              <a:rPr lang="en-US" sz="1400" dirty="0">
                <a:solidFill>
                  <a:srgbClr val="FF0000"/>
                </a:solidFill>
              </a:rPr>
              <a:t>(</a:t>
            </a:r>
            <a:r>
              <a:rPr lang="en-US" sz="1400" dirty="0" err="1">
                <a:solidFill>
                  <a:srgbClr val="FF0000"/>
                </a:solidFill>
              </a:rPr>
              <a:t>l_carry</a:t>
            </a:r>
            <a:r>
              <a:rPr lang="en-US" sz="1400" dirty="0">
                <a:solidFill>
                  <a:srgbClr val="FF0000"/>
                </a:solidFill>
              </a:rPr>
              <a:t>[0]),</a:t>
            </a:r>
          </a:p>
          <a:p>
            <a:r>
              <a:rPr lang="en-US" sz="1400" dirty="0">
                <a:solidFill>
                  <a:srgbClr val="FF0000"/>
                </a:solidFill>
              </a:rPr>
              <a:t>        .sum(</a:t>
            </a:r>
            <a:r>
              <a:rPr lang="en-US" sz="1400" dirty="0" err="1">
                <a:solidFill>
                  <a:srgbClr val="FF0000"/>
                </a:solidFill>
              </a:rPr>
              <a:t>l_sum</a:t>
            </a:r>
            <a:r>
              <a:rPr lang="en-US" sz="1400" dirty="0">
                <a:solidFill>
                  <a:srgbClr val="FF0000"/>
                </a:solidFill>
              </a:rPr>
              <a:t>[0]),</a:t>
            </a:r>
          </a:p>
          <a:p>
            <a:r>
              <a:rPr lang="en-US" sz="1400" dirty="0">
                <a:solidFill>
                  <a:srgbClr val="FF0000"/>
                </a:solidFill>
              </a:rPr>
              <a:t>        .</a:t>
            </a:r>
            <a:r>
              <a:rPr lang="en-US" sz="1400" dirty="0" err="1">
                <a:solidFill>
                  <a:srgbClr val="FF0000"/>
                </a:solidFill>
              </a:rPr>
              <a:t>cout</a:t>
            </a:r>
            <a:r>
              <a:rPr lang="en-US" sz="1400" dirty="0">
                <a:solidFill>
                  <a:srgbClr val="FF0000"/>
                </a:solidFill>
              </a:rPr>
              <a:t>(</a:t>
            </a:r>
            <a:r>
              <a:rPr lang="en-US" sz="1400" dirty="0" err="1">
                <a:solidFill>
                  <a:srgbClr val="FF0000"/>
                </a:solidFill>
              </a:rPr>
              <a:t>l_carry</a:t>
            </a:r>
            <a:r>
              <a:rPr lang="en-US" sz="1400" dirty="0">
                <a:solidFill>
                  <a:srgbClr val="FF0000"/>
                </a:solidFill>
              </a:rPr>
              <a:t>[1]);</a:t>
            </a:r>
          </a:p>
          <a:p>
            <a:endParaRPr lang="en-US" sz="1400" dirty="0">
              <a:solidFill>
                <a:srgbClr val="FF0000"/>
              </a:solidFill>
            </a:endParaRPr>
          </a:p>
          <a:p>
            <a:r>
              <a:rPr lang="en-US" sz="1400" b="1" dirty="0" err="1">
                <a:solidFill>
                  <a:srgbClr val="FF0000"/>
                </a:solidFill>
              </a:rPr>
              <a:t>fulladder</a:t>
            </a:r>
            <a:r>
              <a:rPr lang="en-US" sz="1400" b="1" dirty="0">
                <a:solidFill>
                  <a:srgbClr val="FF0000"/>
                </a:solidFill>
              </a:rPr>
              <a:t> </a:t>
            </a:r>
            <a:r>
              <a:rPr lang="en-US" sz="1400" dirty="0">
                <a:solidFill>
                  <a:srgbClr val="FF0000"/>
                </a:solidFill>
              </a:rPr>
              <a:t>fa_inst1(</a:t>
            </a:r>
            <a:r>
              <a:rPr lang="en-US" sz="1400" b="1" dirty="0">
                <a:solidFill>
                  <a:srgbClr val="FF0000"/>
                </a:solidFill>
              </a:rPr>
              <a:t> </a:t>
            </a:r>
          </a:p>
          <a:p>
            <a:r>
              <a:rPr lang="en-US" sz="1400" b="1" dirty="0">
                <a:solidFill>
                  <a:srgbClr val="FF0000"/>
                </a:solidFill>
              </a:rPr>
              <a:t>        </a:t>
            </a:r>
            <a:r>
              <a:rPr lang="en-US" sz="1400" dirty="0">
                <a:solidFill>
                  <a:srgbClr val="FF0000"/>
                </a:solidFill>
              </a:rPr>
              <a:t>.a(A[1]),</a:t>
            </a:r>
          </a:p>
          <a:p>
            <a:r>
              <a:rPr lang="en-US" sz="1400" dirty="0">
                <a:solidFill>
                  <a:srgbClr val="FF0000"/>
                </a:solidFill>
              </a:rPr>
              <a:t>        .b(B[1]),</a:t>
            </a:r>
          </a:p>
          <a:p>
            <a:r>
              <a:rPr lang="en-US" sz="1400" dirty="0">
                <a:solidFill>
                  <a:srgbClr val="FF0000"/>
                </a:solidFill>
              </a:rPr>
              <a:t>        .</a:t>
            </a:r>
            <a:r>
              <a:rPr lang="en-US" sz="1400" dirty="0" err="1">
                <a:solidFill>
                  <a:srgbClr val="FF0000"/>
                </a:solidFill>
              </a:rPr>
              <a:t>cin</a:t>
            </a:r>
            <a:r>
              <a:rPr lang="en-US" sz="1400" dirty="0">
                <a:solidFill>
                  <a:srgbClr val="FF0000"/>
                </a:solidFill>
              </a:rPr>
              <a:t>(</a:t>
            </a:r>
            <a:r>
              <a:rPr lang="en-US" sz="1400" dirty="0" err="1">
                <a:solidFill>
                  <a:srgbClr val="FF0000"/>
                </a:solidFill>
              </a:rPr>
              <a:t>l_carry</a:t>
            </a:r>
            <a:r>
              <a:rPr lang="en-US" sz="1400" dirty="0">
                <a:solidFill>
                  <a:srgbClr val="FF0000"/>
                </a:solidFill>
              </a:rPr>
              <a:t>[1]),</a:t>
            </a:r>
          </a:p>
          <a:p>
            <a:r>
              <a:rPr lang="en-US" sz="1400" dirty="0">
                <a:solidFill>
                  <a:srgbClr val="FF0000"/>
                </a:solidFill>
              </a:rPr>
              <a:t>        .sum(</a:t>
            </a:r>
            <a:r>
              <a:rPr lang="en-US" sz="1400" dirty="0" err="1">
                <a:solidFill>
                  <a:srgbClr val="FF0000"/>
                </a:solidFill>
              </a:rPr>
              <a:t>l_sum</a:t>
            </a:r>
            <a:r>
              <a:rPr lang="en-US" sz="1400" dirty="0">
                <a:solidFill>
                  <a:srgbClr val="FF0000"/>
                </a:solidFill>
              </a:rPr>
              <a:t>[1]),</a:t>
            </a:r>
          </a:p>
          <a:p>
            <a:r>
              <a:rPr lang="en-US" sz="1400" dirty="0">
                <a:solidFill>
                  <a:srgbClr val="FF0000"/>
                </a:solidFill>
              </a:rPr>
              <a:t>        .</a:t>
            </a:r>
            <a:r>
              <a:rPr lang="en-US" sz="1400" dirty="0" err="1">
                <a:solidFill>
                  <a:srgbClr val="FF0000"/>
                </a:solidFill>
              </a:rPr>
              <a:t>cout</a:t>
            </a:r>
            <a:r>
              <a:rPr lang="en-US" sz="1400" dirty="0">
                <a:solidFill>
                  <a:srgbClr val="FF0000"/>
                </a:solidFill>
              </a:rPr>
              <a:t>(</a:t>
            </a:r>
            <a:r>
              <a:rPr lang="en-US" sz="1400" dirty="0" err="1">
                <a:solidFill>
                  <a:srgbClr val="FF0000"/>
                </a:solidFill>
              </a:rPr>
              <a:t>l_carry</a:t>
            </a:r>
            <a:r>
              <a:rPr lang="en-US" sz="1400" dirty="0">
                <a:solidFill>
                  <a:srgbClr val="FF0000"/>
                </a:solidFill>
              </a:rPr>
              <a:t>[2]);</a:t>
            </a:r>
          </a:p>
          <a:p>
            <a:endParaRPr lang="en-US" sz="1400" dirty="0">
              <a:solidFill>
                <a:srgbClr val="FF0000"/>
              </a:solidFill>
            </a:endParaRPr>
          </a:p>
          <a:p>
            <a:r>
              <a:rPr lang="en-US" sz="1400" b="1" dirty="0" err="1">
                <a:solidFill>
                  <a:srgbClr val="FF0000"/>
                </a:solidFill>
              </a:rPr>
              <a:t>fulladder</a:t>
            </a:r>
            <a:r>
              <a:rPr lang="en-US" sz="1400" b="1" dirty="0">
                <a:solidFill>
                  <a:srgbClr val="FF0000"/>
                </a:solidFill>
              </a:rPr>
              <a:t> </a:t>
            </a:r>
            <a:r>
              <a:rPr lang="en-US" sz="1400" dirty="0">
                <a:solidFill>
                  <a:srgbClr val="FF0000"/>
                </a:solidFill>
              </a:rPr>
              <a:t>fa_inst2(</a:t>
            </a:r>
            <a:r>
              <a:rPr lang="en-US" sz="1400" b="1" dirty="0">
                <a:solidFill>
                  <a:srgbClr val="FF0000"/>
                </a:solidFill>
              </a:rPr>
              <a:t> </a:t>
            </a:r>
          </a:p>
          <a:p>
            <a:r>
              <a:rPr lang="en-US" sz="1400" b="1" dirty="0">
                <a:solidFill>
                  <a:srgbClr val="FF0000"/>
                </a:solidFill>
              </a:rPr>
              <a:t>        </a:t>
            </a:r>
            <a:r>
              <a:rPr lang="en-US" sz="1400" dirty="0">
                <a:solidFill>
                  <a:srgbClr val="FF0000"/>
                </a:solidFill>
              </a:rPr>
              <a:t>.a(A[2]),</a:t>
            </a:r>
          </a:p>
          <a:p>
            <a:r>
              <a:rPr lang="en-US" sz="1400" dirty="0">
                <a:solidFill>
                  <a:srgbClr val="FF0000"/>
                </a:solidFill>
              </a:rPr>
              <a:t>        .b(B[2]),</a:t>
            </a:r>
          </a:p>
          <a:p>
            <a:r>
              <a:rPr lang="en-US" sz="1400" dirty="0">
                <a:solidFill>
                  <a:srgbClr val="FF0000"/>
                </a:solidFill>
              </a:rPr>
              <a:t>        .</a:t>
            </a:r>
            <a:r>
              <a:rPr lang="en-US" sz="1400" dirty="0" err="1">
                <a:solidFill>
                  <a:srgbClr val="FF0000"/>
                </a:solidFill>
              </a:rPr>
              <a:t>cin</a:t>
            </a:r>
            <a:r>
              <a:rPr lang="en-US" sz="1400" dirty="0">
                <a:solidFill>
                  <a:srgbClr val="FF0000"/>
                </a:solidFill>
              </a:rPr>
              <a:t>(</a:t>
            </a:r>
            <a:r>
              <a:rPr lang="en-US" sz="1400" dirty="0" err="1">
                <a:solidFill>
                  <a:srgbClr val="FF0000"/>
                </a:solidFill>
              </a:rPr>
              <a:t>l_carry</a:t>
            </a:r>
            <a:r>
              <a:rPr lang="en-US" sz="1400" dirty="0">
                <a:solidFill>
                  <a:srgbClr val="FF0000"/>
                </a:solidFill>
              </a:rPr>
              <a:t>[2]),</a:t>
            </a:r>
          </a:p>
          <a:p>
            <a:r>
              <a:rPr lang="en-US" sz="1400" dirty="0">
                <a:solidFill>
                  <a:srgbClr val="FF0000"/>
                </a:solidFill>
              </a:rPr>
              <a:t>        .sum(</a:t>
            </a:r>
            <a:r>
              <a:rPr lang="en-US" sz="1400" dirty="0" err="1">
                <a:solidFill>
                  <a:srgbClr val="FF0000"/>
                </a:solidFill>
              </a:rPr>
              <a:t>l_sum</a:t>
            </a:r>
            <a:r>
              <a:rPr lang="en-US" sz="1400" dirty="0">
                <a:solidFill>
                  <a:srgbClr val="FF0000"/>
                </a:solidFill>
              </a:rPr>
              <a:t>[2]),</a:t>
            </a:r>
          </a:p>
          <a:p>
            <a:r>
              <a:rPr lang="en-US" sz="1400" dirty="0">
                <a:solidFill>
                  <a:srgbClr val="FF0000"/>
                </a:solidFill>
              </a:rPr>
              <a:t>        .</a:t>
            </a:r>
            <a:r>
              <a:rPr lang="en-US" sz="1400" dirty="0" err="1">
                <a:solidFill>
                  <a:srgbClr val="FF0000"/>
                </a:solidFill>
              </a:rPr>
              <a:t>cout</a:t>
            </a:r>
            <a:r>
              <a:rPr lang="en-US" sz="1400" dirty="0">
                <a:solidFill>
                  <a:srgbClr val="FF0000"/>
                </a:solidFill>
              </a:rPr>
              <a:t>(</a:t>
            </a:r>
            <a:r>
              <a:rPr lang="en-US" sz="1400" dirty="0" err="1">
                <a:solidFill>
                  <a:srgbClr val="FF0000"/>
                </a:solidFill>
              </a:rPr>
              <a:t>l_carry</a:t>
            </a:r>
            <a:r>
              <a:rPr lang="en-US" sz="1400" dirty="0">
                <a:solidFill>
                  <a:srgbClr val="FF0000"/>
                </a:solidFill>
              </a:rPr>
              <a:t>[3]);</a:t>
            </a:r>
          </a:p>
          <a:p>
            <a:endParaRPr lang="en-US" sz="1400" b="1" dirty="0">
              <a:solidFill>
                <a:srgbClr val="FF0000"/>
              </a:solidFill>
            </a:endParaRPr>
          </a:p>
          <a:p>
            <a:r>
              <a:rPr lang="en-US" sz="1400" b="1" dirty="0" err="1">
                <a:solidFill>
                  <a:srgbClr val="FF0000"/>
                </a:solidFill>
              </a:rPr>
              <a:t>fulladder</a:t>
            </a:r>
            <a:r>
              <a:rPr lang="en-US" sz="1400" b="1" dirty="0">
                <a:solidFill>
                  <a:srgbClr val="FF0000"/>
                </a:solidFill>
              </a:rPr>
              <a:t> </a:t>
            </a:r>
            <a:r>
              <a:rPr lang="en-US" sz="1400" dirty="0">
                <a:solidFill>
                  <a:srgbClr val="FF0000"/>
                </a:solidFill>
              </a:rPr>
              <a:t>fa_inst3(</a:t>
            </a:r>
            <a:r>
              <a:rPr lang="en-US" sz="1400" b="1" dirty="0">
                <a:solidFill>
                  <a:srgbClr val="FF0000"/>
                </a:solidFill>
              </a:rPr>
              <a:t> </a:t>
            </a:r>
          </a:p>
          <a:p>
            <a:r>
              <a:rPr lang="en-US" sz="1400" b="1" dirty="0">
                <a:solidFill>
                  <a:srgbClr val="FF0000"/>
                </a:solidFill>
              </a:rPr>
              <a:t>        </a:t>
            </a:r>
            <a:r>
              <a:rPr lang="en-US" sz="1400" dirty="0">
                <a:solidFill>
                  <a:srgbClr val="FF0000"/>
                </a:solidFill>
              </a:rPr>
              <a:t>.a(A[3]),</a:t>
            </a:r>
          </a:p>
          <a:p>
            <a:r>
              <a:rPr lang="en-US" sz="1400" dirty="0">
                <a:solidFill>
                  <a:srgbClr val="FF0000"/>
                </a:solidFill>
              </a:rPr>
              <a:t>        .b(B[3]),</a:t>
            </a:r>
          </a:p>
          <a:p>
            <a:r>
              <a:rPr lang="en-US" sz="1400" dirty="0">
                <a:solidFill>
                  <a:srgbClr val="FF0000"/>
                </a:solidFill>
              </a:rPr>
              <a:t>        .</a:t>
            </a:r>
            <a:r>
              <a:rPr lang="en-US" sz="1400" dirty="0" err="1">
                <a:solidFill>
                  <a:srgbClr val="FF0000"/>
                </a:solidFill>
              </a:rPr>
              <a:t>cin</a:t>
            </a:r>
            <a:r>
              <a:rPr lang="en-US" sz="1400" dirty="0">
                <a:solidFill>
                  <a:srgbClr val="FF0000"/>
                </a:solidFill>
              </a:rPr>
              <a:t>(</a:t>
            </a:r>
            <a:r>
              <a:rPr lang="en-US" sz="1400" dirty="0" err="1">
                <a:solidFill>
                  <a:srgbClr val="FF0000"/>
                </a:solidFill>
              </a:rPr>
              <a:t>l_carry</a:t>
            </a:r>
            <a:r>
              <a:rPr lang="en-US" sz="1400" dirty="0">
                <a:solidFill>
                  <a:srgbClr val="FF0000"/>
                </a:solidFill>
              </a:rPr>
              <a:t>[3]),</a:t>
            </a:r>
          </a:p>
          <a:p>
            <a:r>
              <a:rPr lang="en-US" sz="1400" dirty="0">
                <a:solidFill>
                  <a:srgbClr val="FF0000"/>
                </a:solidFill>
              </a:rPr>
              <a:t>        .sum(</a:t>
            </a:r>
            <a:r>
              <a:rPr lang="en-US" sz="1400" dirty="0" err="1">
                <a:solidFill>
                  <a:srgbClr val="FF0000"/>
                </a:solidFill>
              </a:rPr>
              <a:t>l_sum</a:t>
            </a:r>
            <a:r>
              <a:rPr lang="en-US" sz="1400" dirty="0">
                <a:solidFill>
                  <a:srgbClr val="FF0000"/>
                </a:solidFill>
              </a:rPr>
              <a:t>[3]),</a:t>
            </a:r>
          </a:p>
          <a:p>
            <a:r>
              <a:rPr lang="en-US" sz="1400" dirty="0">
                <a:solidFill>
                  <a:srgbClr val="FF0000"/>
                </a:solidFill>
              </a:rPr>
              <a:t>        .</a:t>
            </a:r>
            <a:r>
              <a:rPr lang="en-US" sz="1400" dirty="0" err="1">
                <a:solidFill>
                  <a:srgbClr val="FF0000"/>
                </a:solidFill>
              </a:rPr>
              <a:t>cout</a:t>
            </a:r>
            <a:r>
              <a:rPr lang="en-US" sz="1400" dirty="0">
                <a:solidFill>
                  <a:srgbClr val="FF0000"/>
                </a:solidFill>
              </a:rPr>
              <a:t>(</a:t>
            </a:r>
            <a:r>
              <a:rPr lang="en-US" sz="1400" dirty="0" err="1">
                <a:solidFill>
                  <a:srgbClr val="FF0000"/>
                </a:solidFill>
              </a:rPr>
              <a:t>l_carry</a:t>
            </a:r>
            <a:r>
              <a:rPr lang="en-US" sz="1400" dirty="0">
                <a:solidFill>
                  <a:srgbClr val="FF0000"/>
                </a:solidFill>
              </a:rPr>
              <a:t>[4]);</a:t>
            </a:r>
          </a:p>
        </p:txBody>
      </p:sp>
    </p:spTree>
    <p:extLst>
      <p:ext uri="{BB962C8B-B14F-4D97-AF65-F5344CB8AC3E}">
        <p14:creationId xmlns:p14="http://schemas.microsoft.com/office/powerpoint/2010/main" val="106965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ppt_x"/>
                                          </p:val>
                                        </p:tav>
                                        <p:tav tm="100000">
                                          <p:val>
                                            <p:strVal val="#ppt_x"/>
                                          </p:val>
                                        </p:tav>
                                      </p:tavLst>
                                    </p:anim>
                                    <p:anim calcmode="lin" valueType="num">
                                      <p:cBhvr additive="base">
                                        <p:cTn id="24" dur="500" fill="hold"/>
                                        <p:tgtEl>
                                          <p:spTgt spid="2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ppt_x"/>
                                          </p:val>
                                        </p:tav>
                                        <p:tav tm="100000">
                                          <p:val>
                                            <p:strVal val="#ppt_x"/>
                                          </p:val>
                                        </p:tav>
                                      </p:tavLst>
                                    </p:anim>
                                    <p:anim calcmode="lin" valueType="num">
                                      <p:cBhvr additive="base">
                                        <p:cTn id="34" dur="500" fill="hold"/>
                                        <p:tgtEl>
                                          <p:spTgt spid="2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500" fill="hold"/>
                                        <p:tgtEl>
                                          <p:spTgt spid="28"/>
                                        </p:tgtEl>
                                        <p:attrNameLst>
                                          <p:attrName>ppt_x</p:attrName>
                                        </p:attrNameLst>
                                      </p:cBhvr>
                                      <p:tavLst>
                                        <p:tav tm="0">
                                          <p:val>
                                            <p:strVal val="#ppt_x"/>
                                          </p:val>
                                        </p:tav>
                                        <p:tav tm="100000">
                                          <p:val>
                                            <p:strVal val="#ppt_x"/>
                                          </p:val>
                                        </p:tav>
                                      </p:tavLst>
                                    </p:anim>
                                    <p:anim calcmode="lin" valueType="num">
                                      <p:cBhvr additive="base">
                                        <p:cTn id="44" dur="500" fill="hold"/>
                                        <p:tgtEl>
                                          <p:spTgt spid="2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additive="base">
                                        <p:cTn id="47" dur="500" fill="hold"/>
                                        <p:tgtEl>
                                          <p:spTgt spid="29"/>
                                        </p:tgtEl>
                                        <p:attrNameLst>
                                          <p:attrName>ppt_x</p:attrName>
                                        </p:attrNameLst>
                                      </p:cBhvr>
                                      <p:tavLst>
                                        <p:tav tm="0">
                                          <p:val>
                                            <p:strVal val="#ppt_x"/>
                                          </p:val>
                                        </p:tav>
                                        <p:tav tm="100000">
                                          <p:val>
                                            <p:strVal val="#ppt_x"/>
                                          </p:val>
                                        </p:tav>
                                      </p:tavLst>
                                    </p:anim>
                                    <p:anim calcmode="lin" valueType="num">
                                      <p:cBhvr additive="base">
                                        <p:cTn id="48" dur="500" fill="hold"/>
                                        <p:tgtEl>
                                          <p:spTgt spid="2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ppt_x"/>
                                          </p:val>
                                        </p:tav>
                                        <p:tav tm="100000">
                                          <p:val>
                                            <p:strVal val="#ppt_x"/>
                                          </p:val>
                                        </p:tav>
                                      </p:tavLst>
                                    </p:anim>
                                    <p:anim calcmode="lin" valueType="num">
                                      <p:cBhvr additive="base">
                                        <p:cTn id="5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2" grpId="0"/>
      <p:bldP spid="25" grpId="0"/>
      <p:bldP spid="26" grpId="0" animBg="1"/>
      <p:bldP spid="19"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098F687-A0F3-4A93-99A2-9D62A5003C08}"/>
              </a:ext>
            </a:extLst>
          </p:cNvPr>
          <p:cNvPicPr>
            <a:picLocks noChangeAspect="1"/>
          </p:cNvPicPr>
          <p:nvPr/>
        </p:nvPicPr>
        <p:blipFill>
          <a:blip r:embed="rId2"/>
          <a:stretch>
            <a:fillRect/>
          </a:stretch>
        </p:blipFill>
        <p:spPr>
          <a:xfrm>
            <a:off x="641508" y="1585325"/>
            <a:ext cx="7810500" cy="4276725"/>
          </a:xfrm>
          <a:prstGeom prst="rect">
            <a:avLst/>
          </a:prstGeom>
        </p:spPr>
      </p:pic>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641508" y="123825"/>
            <a:ext cx="10924679"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Ripple Carry Adder Post Synthesis Netlist</a:t>
            </a:r>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356350"/>
            <a:ext cx="2743200" cy="365125"/>
          </a:xfrm>
        </p:spPr>
        <p:txBody>
          <a:bodyPr/>
          <a:lstStyle/>
          <a:p>
            <a:fld id="{3A98EE3D-8CD1-4C3F-BD1C-C98C9596463C}" type="slidenum">
              <a:rPr lang="en-US" smtClean="0"/>
              <a:t>4</a:t>
            </a:fld>
            <a:endParaRPr lang="en-US" dirty="0"/>
          </a:p>
        </p:txBody>
      </p:sp>
      <p:pic>
        <p:nvPicPr>
          <p:cNvPr id="3" name="Picture 2">
            <a:extLst>
              <a:ext uri="{FF2B5EF4-FFF2-40B4-BE49-F238E27FC236}">
                <a16:creationId xmlns:a16="http://schemas.microsoft.com/office/drawing/2014/main" id="{E657DA4E-78E6-4894-877A-8A6155BBC6FF}"/>
              </a:ext>
            </a:extLst>
          </p:cNvPr>
          <p:cNvPicPr>
            <a:picLocks noChangeAspect="1"/>
          </p:cNvPicPr>
          <p:nvPr/>
        </p:nvPicPr>
        <p:blipFill>
          <a:blip r:embed="rId3"/>
          <a:stretch>
            <a:fillRect/>
          </a:stretch>
        </p:blipFill>
        <p:spPr>
          <a:xfrm>
            <a:off x="6505170" y="1722939"/>
            <a:ext cx="4629150" cy="1743075"/>
          </a:xfrm>
          <a:prstGeom prst="rect">
            <a:avLst/>
          </a:prstGeom>
        </p:spPr>
      </p:pic>
      <p:cxnSp>
        <p:nvCxnSpPr>
          <p:cNvPr id="28" name="Straight Arrow Connector 27">
            <a:extLst>
              <a:ext uri="{FF2B5EF4-FFF2-40B4-BE49-F238E27FC236}">
                <a16:creationId xmlns:a16="http://schemas.microsoft.com/office/drawing/2014/main" id="{5B69A355-EC0C-4065-9D31-4E83A138914A}"/>
              </a:ext>
            </a:extLst>
          </p:cNvPr>
          <p:cNvCxnSpPr>
            <a:cxnSpLocks/>
          </p:cNvCxnSpPr>
          <p:nvPr/>
        </p:nvCxnSpPr>
        <p:spPr>
          <a:xfrm flipV="1">
            <a:off x="3741134" y="1890896"/>
            <a:ext cx="2980679" cy="26827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4943B40-76C1-46A5-BC08-7BC853C74AB6}"/>
              </a:ext>
            </a:extLst>
          </p:cNvPr>
          <p:cNvCxnSpPr>
            <a:cxnSpLocks/>
          </p:cNvCxnSpPr>
          <p:nvPr/>
        </p:nvCxnSpPr>
        <p:spPr>
          <a:xfrm flipV="1">
            <a:off x="3741133" y="2594476"/>
            <a:ext cx="2980680" cy="74712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90EF1C6-4F2E-436B-9FE7-9ADD3D883820}"/>
              </a:ext>
            </a:extLst>
          </p:cNvPr>
          <p:cNvCxnSpPr>
            <a:cxnSpLocks/>
          </p:cNvCxnSpPr>
          <p:nvPr/>
        </p:nvCxnSpPr>
        <p:spPr>
          <a:xfrm flipV="1">
            <a:off x="3795577" y="3310105"/>
            <a:ext cx="2926236" cy="122217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D65985A-C55B-4ACE-9BB9-8E9863F887F8}"/>
              </a:ext>
            </a:extLst>
          </p:cNvPr>
          <p:cNvCxnSpPr>
            <a:cxnSpLocks/>
          </p:cNvCxnSpPr>
          <p:nvPr/>
        </p:nvCxnSpPr>
        <p:spPr>
          <a:xfrm flipV="1">
            <a:off x="6147217" y="3450265"/>
            <a:ext cx="1706771" cy="140588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81F7A35-A1BA-4D65-BFDD-22AA94E5F8E5}"/>
              </a:ext>
            </a:extLst>
          </p:cNvPr>
          <p:cNvSpPr txBox="1"/>
          <p:nvPr/>
        </p:nvSpPr>
        <p:spPr>
          <a:xfrm>
            <a:off x="7853988" y="1400659"/>
            <a:ext cx="1697902" cy="369332"/>
          </a:xfrm>
          <a:prstGeom prst="rect">
            <a:avLst/>
          </a:prstGeom>
          <a:noFill/>
        </p:spPr>
        <p:txBody>
          <a:bodyPr wrap="none" rtlCol="0">
            <a:spAutoFit/>
          </a:bodyPr>
          <a:lstStyle/>
          <a:p>
            <a:pPr algn="ctr"/>
            <a:r>
              <a:rPr lang="en-US" b="1" dirty="0">
                <a:solidFill>
                  <a:srgbClr val="FF0000"/>
                </a:solidFill>
              </a:rPr>
              <a:t>Full Adder Logic</a:t>
            </a:r>
          </a:p>
        </p:txBody>
      </p:sp>
      <p:sp>
        <p:nvSpPr>
          <p:cNvPr id="6" name="TextBox 5"/>
          <p:cNvSpPr txBox="1"/>
          <p:nvPr/>
        </p:nvSpPr>
        <p:spPr>
          <a:xfrm>
            <a:off x="9290757" y="4154311"/>
            <a:ext cx="2063044" cy="1200329"/>
          </a:xfrm>
          <a:prstGeom prst="rect">
            <a:avLst/>
          </a:prstGeom>
          <a:noFill/>
        </p:spPr>
        <p:txBody>
          <a:bodyPr wrap="square" rtlCol="0">
            <a:spAutoFit/>
          </a:bodyPr>
          <a:lstStyle/>
          <a:p>
            <a:r>
              <a:rPr lang="en-US" smtClean="0"/>
              <a:t>Why this particular implementation of carry chain? Can we do any better? </a:t>
            </a:r>
            <a:endParaRPr lang="en-US"/>
          </a:p>
        </p:txBody>
      </p:sp>
    </p:spTree>
    <p:extLst>
      <p:ext uri="{BB962C8B-B14F-4D97-AF65-F5344CB8AC3E}">
        <p14:creationId xmlns:p14="http://schemas.microsoft.com/office/powerpoint/2010/main" val="161993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641508" y="123825"/>
            <a:ext cx="10924679"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Ripple Carry Adder Simulation Snapshot</a:t>
            </a:r>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356350"/>
            <a:ext cx="2743200" cy="365125"/>
          </a:xfrm>
        </p:spPr>
        <p:txBody>
          <a:bodyPr/>
          <a:lstStyle/>
          <a:p>
            <a:fld id="{3A98EE3D-8CD1-4C3F-BD1C-C98C9596463C}" type="slidenum">
              <a:rPr lang="en-US" smtClean="0"/>
              <a:t>5</a:t>
            </a:fld>
            <a:endParaRPr lang="en-US" dirty="0"/>
          </a:p>
        </p:txBody>
      </p:sp>
      <p:pic>
        <p:nvPicPr>
          <p:cNvPr id="5" name="Picture 4">
            <a:extLst>
              <a:ext uri="{FF2B5EF4-FFF2-40B4-BE49-F238E27FC236}">
                <a16:creationId xmlns:a16="http://schemas.microsoft.com/office/drawing/2014/main" id="{D4247258-FD33-41D0-8231-7A84F3724CB3}"/>
              </a:ext>
            </a:extLst>
          </p:cNvPr>
          <p:cNvPicPr>
            <a:picLocks noChangeAspect="1"/>
          </p:cNvPicPr>
          <p:nvPr/>
        </p:nvPicPr>
        <p:blipFill>
          <a:blip r:embed="rId2"/>
          <a:stretch>
            <a:fillRect/>
          </a:stretch>
        </p:blipFill>
        <p:spPr>
          <a:xfrm>
            <a:off x="2586139" y="1520884"/>
            <a:ext cx="7396061" cy="2705876"/>
          </a:xfrm>
          <a:prstGeom prst="rect">
            <a:avLst/>
          </a:prstGeom>
        </p:spPr>
      </p:pic>
    </p:spTree>
    <p:extLst>
      <p:ext uri="{BB962C8B-B14F-4D97-AF65-F5344CB8AC3E}">
        <p14:creationId xmlns:p14="http://schemas.microsoft.com/office/powerpoint/2010/main" val="3699365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589171" y="112027"/>
            <a:ext cx="10984134"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Carry Lookahead Adder</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618695" y="583304"/>
            <a:ext cx="10894883" cy="2952799"/>
          </a:xfrm>
        </p:spPr>
        <p:txBody>
          <a:bodyPr>
            <a:noAutofit/>
          </a:bodyPr>
          <a:lstStyle/>
          <a:p>
            <a:r>
              <a:rPr lang="en-US" sz="2000" b="1" dirty="0"/>
              <a:t>A Carry Lookahead Adder is made of a number of full adders cascaded together. </a:t>
            </a:r>
          </a:p>
          <a:p>
            <a:pPr lvl="1"/>
            <a:r>
              <a:rPr lang="en-US" sz="1500" dirty="0"/>
              <a:t>Carry lookahead adder is similar like ripple carry adder with the difference that it calculates the carry bit for each full adder instance before the full adder operation on inputs is performed. </a:t>
            </a:r>
          </a:p>
          <a:p>
            <a:pPr lvl="1"/>
            <a:r>
              <a:rPr lang="en-US" sz="1500" b="1" dirty="0"/>
              <a:t>Generate and Propagate Carry </a:t>
            </a:r>
            <a:r>
              <a:rPr lang="en-US" sz="1500" b="1"/>
              <a:t>Logic </a:t>
            </a:r>
            <a:r>
              <a:rPr lang="en-US" sz="1500" smtClean="0"/>
              <a:t>depend only </a:t>
            </a:r>
            <a:r>
              <a:rPr lang="en-US" sz="1500" dirty="0"/>
              <a:t>on inputs A, B, very first Carry input (C[0]). These values are all known upfront.</a:t>
            </a:r>
          </a:p>
          <a:p>
            <a:pPr lvl="1"/>
            <a:r>
              <a:rPr lang="en-US" sz="1500" dirty="0"/>
              <a:t>Since Carry input for each Full Adder instance is generated upfront, all full adder instances can concurrently perform add operation on its respective input bits and input carry</a:t>
            </a:r>
          </a:p>
          <a:p>
            <a:pPr lvl="1"/>
            <a:r>
              <a:rPr lang="en-US" sz="1500" dirty="0"/>
              <a:t>Advantage of carry lookahead adder is that it adds two numbers faster than ripple carry adder</a:t>
            </a:r>
          </a:p>
          <a:p>
            <a:pPr lvl="1"/>
            <a:r>
              <a:rPr lang="en-US" sz="1500" dirty="0"/>
              <a:t>The drawback is that carry lookahead adder takes more logic gates to implement. So </a:t>
            </a:r>
            <a:r>
              <a:rPr lang="en-US" sz="1500"/>
              <a:t>higher </a:t>
            </a:r>
            <a:r>
              <a:rPr lang="en-US" sz="1500" smtClean="0"/>
              <a:t>resource </a:t>
            </a:r>
            <a:r>
              <a:rPr lang="en-US" sz="1500"/>
              <a:t>usage </a:t>
            </a:r>
            <a:r>
              <a:rPr lang="en-US" sz="1500" smtClean="0"/>
              <a:t>(frequent tradeoff) </a:t>
            </a:r>
            <a:endParaRPr lang="en-US" sz="1500" dirty="0"/>
          </a:p>
          <a:p>
            <a:pPr lvl="1"/>
            <a:r>
              <a:rPr lang="en-US" sz="1500" dirty="0"/>
              <a:t>If faster performance is required when adding two number then select carry lookahead adder as implementation choice </a:t>
            </a:r>
          </a:p>
          <a:p>
            <a:pPr lvl="1"/>
            <a:r>
              <a:rPr lang="en-US" sz="1500" dirty="0"/>
              <a:t>For lower resource usage requirement, ripple carry adder can be selected as an implementation choice</a:t>
            </a:r>
          </a:p>
          <a:p>
            <a:pPr lvl="1"/>
            <a:r>
              <a:rPr lang="en-US" sz="1500" dirty="0"/>
              <a:t>The figure below shows 4 full-adders connected together to produce a 4-bit lookahead carry adder.</a:t>
            </a:r>
          </a:p>
          <a:p>
            <a:pPr marL="457200" lvl="1" indent="0">
              <a:buNone/>
            </a:pPr>
            <a:endParaRPr lang="en-US" sz="1800" dirty="0"/>
          </a:p>
          <a:p>
            <a:pPr marL="457200" lvl="1" indent="0">
              <a:buNone/>
            </a:pPr>
            <a:endParaRPr lang="en-US" sz="2000" b="1" dirty="0"/>
          </a:p>
          <a:p>
            <a:pPr lvl="1"/>
            <a:endParaRPr lang="en-US" sz="2000" b="1"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p:txBody>
          <a:bodyPr/>
          <a:lstStyle/>
          <a:p>
            <a:fld id="{3A98EE3D-8CD1-4C3F-BD1C-C98C9596463C}" type="slidenum">
              <a:rPr lang="en-US" smtClean="0"/>
              <a:t>6</a:t>
            </a:fld>
            <a:endParaRPr lang="en-US" dirty="0"/>
          </a:p>
        </p:txBody>
      </p:sp>
      <p:sp>
        <p:nvSpPr>
          <p:cNvPr id="62" name="TextBox 61">
            <a:extLst>
              <a:ext uri="{FF2B5EF4-FFF2-40B4-BE49-F238E27FC236}">
                <a16:creationId xmlns:a16="http://schemas.microsoft.com/office/drawing/2014/main" id="{D179CCA4-D11E-4BEF-8D03-EBDBF3036A66}"/>
              </a:ext>
            </a:extLst>
          </p:cNvPr>
          <p:cNvSpPr txBox="1"/>
          <p:nvPr/>
        </p:nvSpPr>
        <p:spPr>
          <a:xfrm>
            <a:off x="589171" y="4470789"/>
            <a:ext cx="2342116" cy="646331"/>
          </a:xfrm>
          <a:prstGeom prst="rect">
            <a:avLst/>
          </a:prstGeom>
          <a:noFill/>
        </p:spPr>
        <p:txBody>
          <a:bodyPr wrap="none" rtlCol="0">
            <a:spAutoFit/>
          </a:bodyPr>
          <a:lstStyle/>
          <a:p>
            <a:pPr algn="ctr"/>
            <a:r>
              <a:rPr lang="en-US" b="1" dirty="0">
                <a:solidFill>
                  <a:schemeClr val="accent1">
                    <a:lumMod val="75000"/>
                  </a:schemeClr>
                </a:solidFill>
              </a:rPr>
              <a:t>4-bit Carry Lookahead </a:t>
            </a:r>
          </a:p>
          <a:p>
            <a:pPr algn="ctr"/>
            <a:r>
              <a:rPr lang="en-US" b="1" dirty="0">
                <a:solidFill>
                  <a:schemeClr val="accent1">
                    <a:lumMod val="75000"/>
                  </a:schemeClr>
                </a:solidFill>
              </a:rPr>
              <a:t>Adder</a:t>
            </a:r>
          </a:p>
        </p:txBody>
      </p:sp>
      <p:grpSp>
        <p:nvGrpSpPr>
          <p:cNvPr id="16" name="Group 15">
            <a:extLst>
              <a:ext uri="{FF2B5EF4-FFF2-40B4-BE49-F238E27FC236}">
                <a16:creationId xmlns:a16="http://schemas.microsoft.com/office/drawing/2014/main" id="{D9571C2B-5A18-4DEE-B5A6-52FC56B1DB4B}"/>
              </a:ext>
            </a:extLst>
          </p:cNvPr>
          <p:cNvGrpSpPr/>
          <p:nvPr/>
        </p:nvGrpSpPr>
        <p:grpSpPr>
          <a:xfrm>
            <a:off x="2346633" y="3448246"/>
            <a:ext cx="7906738" cy="3474452"/>
            <a:chOff x="2451629" y="3429000"/>
            <a:chExt cx="7906738" cy="3474452"/>
          </a:xfrm>
        </p:grpSpPr>
        <p:sp>
          <p:nvSpPr>
            <p:cNvPr id="5" name="Rectangle 4">
              <a:extLst>
                <a:ext uri="{FF2B5EF4-FFF2-40B4-BE49-F238E27FC236}">
                  <a16:creationId xmlns:a16="http://schemas.microsoft.com/office/drawing/2014/main" id="{0A93BC54-9CA5-433E-92EB-957FF4C6A26E}"/>
                </a:ext>
              </a:extLst>
            </p:cNvPr>
            <p:cNvSpPr/>
            <p:nvPr/>
          </p:nvSpPr>
          <p:spPr>
            <a:xfrm>
              <a:off x="3259980" y="4054616"/>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Inst3</a:t>
              </a:r>
            </a:p>
          </p:txBody>
        </p:sp>
        <p:cxnSp>
          <p:nvCxnSpPr>
            <p:cNvPr id="8" name="Straight Arrow Connector 7">
              <a:extLst>
                <a:ext uri="{FF2B5EF4-FFF2-40B4-BE49-F238E27FC236}">
                  <a16:creationId xmlns:a16="http://schemas.microsoft.com/office/drawing/2014/main" id="{4E0282DC-85BF-40F9-A75F-D86BCECE762E}"/>
                </a:ext>
              </a:extLst>
            </p:cNvPr>
            <p:cNvCxnSpPr>
              <a:cxnSpLocks/>
            </p:cNvCxnSpPr>
            <p:nvPr/>
          </p:nvCxnSpPr>
          <p:spPr>
            <a:xfrm>
              <a:off x="3947401" y="3723876"/>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EF744C1-BE4B-4661-A540-816AFAA615EE}"/>
                </a:ext>
              </a:extLst>
            </p:cNvPr>
            <p:cNvCxnSpPr>
              <a:cxnSpLocks/>
            </p:cNvCxnSpPr>
            <p:nvPr/>
          </p:nvCxnSpPr>
          <p:spPr>
            <a:xfrm>
              <a:off x="3535597" y="3723876"/>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DD37A7F-33B0-41CE-A21E-DFEE62076428}"/>
                </a:ext>
              </a:extLst>
            </p:cNvPr>
            <p:cNvSpPr txBox="1"/>
            <p:nvPr/>
          </p:nvSpPr>
          <p:spPr>
            <a:xfrm>
              <a:off x="3305764" y="3439782"/>
              <a:ext cx="548548" cy="338554"/>
            </a:xfrm>
            <a:prstGeom prst="rect">
              <a:avLst/>
            </a:prstGeom>
            <a:noFill/>
          </p:spPr>
          <p:txBody>
            <a:bodyPr wrap="none" rtlCol="0">
              <a:spAutoFit/>
            </a:bodyPr>
            <a:lstStyle/>
            <a:p>
              <a:r>
                <a:rPr lang="en-US" sz="1600" b="1" dirty="0">
                  <a:solidFill>
                    <a:schemeClr val="accent1">
                      <a:lumMod val="75000"/>
                    </a:schemeClr>
                  </a:solidFill>
                </a:rPr>
                <a:t>A[3]</a:t>
              </a:r>
            </a:p>
          </p:txBody>
        </p:sp>
        <p:sp>
          <p:nvSpPr>
            <p:cNvPr id="21" name="TextBox 20">
              <a:extLst>
                <a:ext uri="{FF2B5EF4-FFF2-40B4-BE49-F238E27FC236}">
                  <a16:creationId xmlns:a16="http://schemas.microsoft.com/office/drawing/2014/main" id="{C65C5657-FCAC-4074-9249-620B38B3ECA0}"/>
                </a:ext>
              </a:extLst>
            </p:cNvPr>
            <p:cNvSpPr txBox="1"/>
            <p:nvPr/>
          </p:nvSpPr>
          <p:spPr>
            <a:xfrm>
              <a:off x="3718614" y="3430015"/>
              <a:ext cx="538930" cy="338554"/>
            </a:xfrm>
            <a:prstGeom prst="rect">
              <a:avLst/>
            </a:prstGeom>
            <a:noFill/>
          </p:spPr>
          <p:txBody>
            <a:bodyPr wrap="none" rtlCol="0">
              <a:spAutoFit/>
            </a:bodyPr>
            <a:lstStyle/>
            <a:p>
              <a:r>
                <a:rPr lang="en-US" sz="1600" b="1" dirty="0">
                  <a:solidFill>
                    <a:schemeClr val="accent1">
                      <a:lumMod val="75000"/>
                    </a:schemeClr>
                  </a:solidFill>
                </a:rPr>
                <a:t>B[3]</a:t>
              </a:r>
            </a:p>
          </p:txBody>
        </p:sp>
        <p:cxnSp>
          <p:nvCxnSpPr>
            <p:cNvPr id="22" name="Straight Arrow Connector 21">
              <a:extLst>
                <a:ext uri="{FF2B5EF4-FFF2-40B4-BE49-F238E27FC236}">
                  <a16:creationId xmlns:a16="http://schemas.microsoft.com/office/drawing/2014/main" id="{971428DC-0F55-4FF4-8030-06CB74DAC8E5}"/>
                </a:ext>
              </a:extLst>
            </p:cNvPr>
            <p:cNvCxnSpPr>
              <a:cxnSpLocks/>
            </p:cNvCxnSpPr>
            <p:nvPr/>
          </p:nvCxnSpPr>
          <p:spPr>
            <a:xfrm>
              <a:off x="3750180" y="4969017"/>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7E6FF11-978E-4629-B59D-869C18FCF370}"/>
                </a:ext>
              </a:extLst>
            </p:cNvPr>
            <p:cNvSpPr txBox="1"/>
            <p:nvPr/>
          </p:nvSpPr>
          <p:spPr>
            <a:xfrm>
              <a:off x="3489113" y="5223810"/>
              <a:ext cx="521297" cy="338554"/>
            </a:xfrm>
            <a:prstGeom prst="rect">
              <a:avLst/>
            </a:prstGeom>
            <a:noFill/>
          </p:spPr>
          <p:txBody>
            <a:bodyPr wrap="none" rtlCol="0">
              <a:spAutoFit/>
            </a:bodyPr>
            <a:lstStyle/>
            <a:p>
              <a:r>
                <a:rPr lang="en-US" sz="1600" b="1" dirty="0">
                  <a:solidFill>
                    <a:schemeClr val="accent1">
                      <a:lumMod val="75000"/>
                    </a:schemeClr>
                  </a:solidFill>
                </a:rPr>
                <a:t>S[3]</a:t>
              </a:r>
            </a:p>
          </p:txBody>
        </p:sp>
        <p:cxnSp>
          <p:nvCxnSpPr>
            <p:cNvPr id="27" name="Straight Arrow Connector 26">
              <a:extLst>
                <a:ext uri="{FF2B5EF4-FFF2-40B4-BE49-F238E27FC236}">
                  <a16:creationId xmlns:a16="http://schemas.microsoft.com/office/drawing/2014/main" id="{C9F71BDE-333F-4079-9CAD-E21E684C5EB1}"/>
                </a:ext>
              </a:extLst>
            </p:cNvPr>
            <p:cNvCxnSpPr>
              <a:cxnSpLocks/>
            </p:cNvCxnSpPr>
            <p:nvPr/>
          </p:nvCxnSpPr>
          <p:spPr>
            <a:xfrm flipH="1">
              <a:off x="2914387" y="6032561"/>
              <a:ext cx="301558"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E36412-E562-4D13-8C48-C1AEE0ABF086}"/>
                </a:ext>
              </a:extLst>
            </p:cNvPr>
            <p:cNvSpPr txBox="1"/>
            <p:nvPr/>
          </p:nvSpPr>
          <p:spPr>
            <a:xfrm>
              <a:off x="2451629" y="5856683"/>
              <a:ext cx="532518" cy="338554"/>
            </a:xfrm>
            <a:prstGeom prst="rect">
              <a:avLst/>
            </a:prstGeom>
            <a:noFill/>
          </p:spPr>
          <p:txBody>
            <a:bodyPr wrap="none" rtlCol="0">
              <a:spAutoFit/>
            </a:bodyPr>
            <a:lstStyle/>
            <a:p>
              <a:r>
                <a:rPr lang="en-US" sz="1600" b="1" dirty="0">
                  <a:solidFill>
                    <a:schemeClr val="accent1">
                      <a:lumMod val="75000"/>
                    </a:schemeClr>
                  </a:solidFill>
                </a:rPr>
                <a:t>C[4]</a:t>
              </a:r>
            </a:p>
          </p:txBody>
        </p:sp>
        <p:sp>
          <p:nvSpPr>
            <p:cNvPr id="29" name="Rectangle 28">
              <a:extLst>
                <a:ext uri="{FF2B5EF4-FFF2-40B4-BE49-F238E27FC236}">
                  <a16:creationId xmlns:a16="http://schemas.microsoft.com/office/drawing/2014/main" id="{16DC3516-DA30-4C22-A9A7-61F2AC362E3E}"/>
                </a:ext>
              </a:extLst>
            </p:cNvPr>
            <p:cNvSpPr/>
            <p:nvPr/>
          </p:nvSpPr>
          <p:spPr>
            <a:xfrm>
              <a:off x="4880786" y="4053601"/>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Inst2</a:t>
              </a:r>
            </a:p>
          </p:txBody>
        </p:sp>
        <p:cxnSp>
          <p:nvCxnSpPr>
            <p:cNvPr id="30" name="Straight Arrow Connector 29">
              <a:extLst>
                <a:ext uri="{FF2B5EF4-FFF2-40B4-BE49-F238E27FC236}">
                  <a16:creationId xmlns:a16="http://schemas.microsoft.com/office/drawing/2014/main" id="{9FB60CDB-C5E1-49B2-AD43-6CF470D78584}"/>
                </a:ext>
              </a:extLst>
            </p:cNvPr>
            <p:cNvCxnSpPr>
              <a:cxnSpLocks/>
            </p:cNvCxnSpPr>
            <p:nvPr/>
          </p:nvCxnSpPr>
          <p:spPr>
            <a:xfrm>
              <a:off x="5568207"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FB230AC-B1F3-4295-9589-F48D68C7D068}"/>
                </a:ext>
              </a:extLst>
            </p:cNvPr>
            <p:cNvCxnSpPr>
              <a:cxnSpLocks/>
            </p:cNvCxnSpPr>
            <p:nvPr/>
          </p:nvCxnSpPr>
          <p:spPr>
            <a:xfrm>
              <a:off x="5156403"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EF1B8E5-CF60-4D45-ABEC-7FEA14CA7B20}"/>
                </a:ext>
              </a:extLst>
            </p:cNvPr>
            <p:cNvSpPr txBox="1"/>
            <p:nvPr/>
          </p:nvSpPr>
          <p:spPr>
            <a:xfrm>
              <a:off x="4926570" y="3438767"/>
              <a:ext cx="548548" cy="338554"/>
            </a:xfrm>
            <a:prstGeom prst="rect">
              <a:avLst/>
            </a:prstGeom>
            <a:noFill/>
          </p:spPr>
          <p:txBody>
            <a:bodyPr wrap="none" rtlCol="0">
              <a:spAutoFit/>
            </a:bodyPr>
            <a:lstStyle/>
            <a:p>
              <a:r>
                <a:rPr lang="en-US" sz="1600" b="1" dirty="0">
                  <a:solidFill>
                    <a:schemeClr val="accent1">
                      <a:lumMod val="75000"/>
                    </a:schemeClr>
                  </a:solidFill>
                </a:rPr>
                <a:t>A[2]</a:t>
              </a:r>
            </a:p>
          </p:txBody>
        </p:sp>
        <p:sp>
          <p:nvSpPr>
            <p:cNvPr id="33" name="TextBox 32">
              <a:extLst>
                <a:ext uri="{FF2B5EF4-FFF2-40B4-BE49-F238E27FC236}">
                  <a16:creationId xmlns:a16="http://schemas.microsoft.com/office/drawing/2014/main" id="{4D01ABE5-14DB-45E2-B671-6815E71729B1}"/>
                </a:ext>
              </a:extLst>
            </p:cNvPr>
            <p:cNvSpPr txBox="1"/>
            <p:nvPr/>
          </p:nvSpPr>
          <p:spPr>
            <a:xfrm>
              <a:off x="5339420" y="3429000"/>
              <a:ext cx="538930" cy="338554"/>
            </a:xfrm>
            <a:prstGeom prst="rect">
              <a:avLst/>
            </a:prstGeom>
            <a:noFill/>
          </p:spPr>
          <p:txBody>
            <a:bodyPr wrap="none" rtlCol="0">
              <a:spAutoFit/>
            </a:bodyPr>
            <a:lstStyle/>
            <a:p>
              <a:r>
                <a:rPr lang="en-US" sz="1600" b="1" dirty="0">
                  <a:solidFill>
                    <a:schemeClr val="accent1">
                      <a:lumMod val="75000"/>
                    </a:schemeClr>
                  </a:solidFill>
                </a:rPr>
                <a:t>B[2]</a:t>
              </a:r>
            </a:p>
          </p:txBody>
        </p:sp>
        <p:cxnSp>
          <p:nvCxnSpPr>
            <p:cNvPr id="34" name="Straight Arrow Connector 33">
              <a:extLst>
                <a:ext uri="{FF2B5EF4-FFF2-40B4-BE49-F238E27FC236}">
                  <a16:creationId xmlns:a16="http://schemas.microsoft.com/office/drawing/2014/main" id="{76B072DE-9F0E-4B8E-9569-31B66657DDF7}"/>
                </a:ext>
              </a:extLst>
            </p:cNvPr>
            <p:cNvCxnSpPr>
              <a:cxnSpLocks/>
            </p:cNvCxnSpPr>
            <p:nvPr/>
          </p:nvCxnSpPr>
          <p:spPr>
            <a:xfrm>
              <a:off x="5370986" y="4968002"/>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D762596-9674-4A58-8BB9-7C32EBE244DB}"/>
                </a:ext>
              </a:extLst>
            </p:cNvPr>
            <p:cNvSpPr txBox="1"/>
            <p:nvPr/>
          </p:nvSpPr>
          <p:spPr>
            <a:xfrm>
              <a:off x="5122499" y="5223810"/>
              <a:ext cx="521297" cy="338554"/>
            </a:xfrm>
            <a:prstGeom prst="rect">
              <a:avLst/>
            </a:prstGeom>
            <a:noFill/>
          </p:spPr>
          <p:txBody>
            <a:bodyPr wrap="none" rtlCol="0">
              <a:spAutoFit/>
            </a:bodyPr>
            <a:lstStyle/>
            <a:p>
              <a:r>
                <a:rPr lang="en-US" sz="1600" b="1" dirty="0">
                  <a:solidFill>
                    <a:schemeClr val="accent1">
                      <a:lumMod val="75000"/>
                    </a:schemeClr>
                  </a:solidFill>
                </a:rPr>
                <a:t>S[2]</a:t>
              </a:r>
            </a:p>
          </p:txBody>
        </p:sp>
        <p:sp>
          <p:nvSpPr>
            <p:cNvPr id="40" name="Rectangle 39">
              <a:extLst>
                <a:ext uri="{FF2B5EF4-FFF2-40B4-BE49-F238E27FC236}">
                  <a16:creationId xmlns:a16="http://schemas.microsoft.com/office/drawing/2014/main" id="{E6171649-804B-4237-8721-213EAD35639D}"/>
                </a:ext>
              </a:extLst>
            </p:cNvPr>
            <p:cNvSpPr/>
            <p:nvPr/>
          </p:nvSpPr>
          <p:spPr>
            <a:xfrm>
              <a:off x="6506664" y="4053601"/>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Inst1</a:t>
              </a:r>
            </a:p>
          </p:txBody>
        </p:sp>
        <p:cxnSp>
          <p:nvCxnSpPr>
            <p:cNvPr id="41" name="Straight Arrow Connector 40">
              <a:extLst>
                <a:ext uri="{FF2B5EF4-FFF2-40B4-BE49-F238E27FC236}">
                  <a16:creationId xmlns:a16="http://schemas.microsoft.com/office/drawing/2014/main" id="{205B7237-DEA7-4B93-B7B6-EABDA2B7451C}"/>
                </a:ext>
              </a:extLst>
            </p:cNvPr>
            <p:cNvCxnSpPr>
              <a:cxnSpLocks/>
            </p:cNvCxnSpPr>
            <p:nvPr/>
          </p:nvCxnSpPr>
          <p:spPr>
            <a:xfrm>
              <a:off x="7194085"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8F35C2B-6157-464B-A970-D2E2529D74FD}"/>
                </a:ext>
              </a:extLst>
            </p:cNvPr>
            <p:cNvCxnSpPr>
              <a:cxnSpLocks/>
            </p:cNvCxnSpPr>
            <p:nvPr/>
          </p:nvCxnSpPr>
          <p:spPr>
            <a:xfrm>
              <a:off x="6782281"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CF249AF-7507-44D1-A4F1-36286B3C5C2E}"/>
                </a:ext>
              </a:extLst>
            </p:cNvPr>
            <p:cNvSpPr txBox="1"/>
            <p:nvPr/>
          </p:nvSpPr>
          <p:spPr>
            <a:xfrm>
              <a:off x="6552448" y="3438767"/>
              <a:ext cx="548548" cy="338554"/>
            </a:xfrm>
            <a:prstGeom prst="rect">
              <a:avLst/>
            </a:prstGeom>
            <a:noFill/>
          </p:spPr>
          <p:txBody>
            <a:bodyPr wrap="none" rtlCol="0">
              <a:spAutoFit/>
            </a:bodyPr>
            <a:lstStyle/>
            <a:p>
              <a:r>
                <a:rPr lang="en-US" sz="1600" b="1" dirty="0">
                  <a:solidFill>
                    <a:schemeClr val="accent1">
                      <a:lumMod val="75000"/>
                    </a:schemeClr>
                  </a:solidFill>
                </a:rPr>
                <a:t>A[1]</a:t>
              </a:r>
            </a:p>
          </p:txBody>
        </p:sp>
        <p:sp>
          <p:nvSpPr>
            <p:cNvPr id="44" name="TextBox 43">
              <a:extLst>
                <a:ext uri="{FF2B5EF4-FFF2-40B4-BE49-F238E27FC236}">
                  <a16:creationId xmlns:a16="http://schemas.microsoft.com/office/drawing/2014/main" id="{93791F60-2359-4214-9700-F7ACC866C4B2}"/>
                </a:ext>
              </a:extLst>
            </p:cNvPr>
            <p:cNvSpPr txBox="1"/>
            <p:nvPr/>
          </p:nvSpPr>
          <p:spPr>
            <a:xfrm>
              <a:off x="6965298" y="3429000"/>
              <a:ext cx="538930" cy="338554"/>
            </a:xfrm>
            <a:prstGeom prst="rect">
              <a:avLst/>
            </a:prstGeom>
            <a:noFill/>
          </p:spPr>
          <p:txBody>
            <a:bodyPr wrap="none" rtlCol="0">
              <a:spAutoFit/>
            </a:bodyPr>
            <a:lstStyle/>
            <a:p>
              <a:r>
                <a:rPr lang="en-US" sz="1600" b="1" dirty="0">
                  <a:solidFill>
                    <a:schemeClr val="accent1">
                      <a:lumMod val="75000"/>
                    </a:schemeClr>
                  </a:solidFill>
                </a:rPr>
                <a:t>B[1]</a:t>
              </a:r>
            </a:p>
          </p:txBody>
        </p:sp>
        <p:sp>
          <p:nvSpPr>
            <p:cNvPr id="45" name="TextBox 44">
              <a:extLst>
                <a:ext uri="{FF2B5EF4-FFF2-40B4-BE49-F238E27FC236}">
                  <a16:creationId xmlns:a16="http://schemas.microsoft.com/office/drawing/2014/main" id="{0113D017-C828-4EEF-B370-7234A60F57CB}"/>
                </a:ext>
              </a:extLst>
            </p:cNvPr>
            <p:cNvSpPr txBox="1"/>
            <p:nvPr/>
          </p:nvSpPr>
          <p:spPr>
            <a:xfrm>
              <a:off x="6748377" y="5223810"/>
              <a:ext cx="521297" cy="338554"/>
            </a:xfrm>
            <a:prstGeom prst="rect">
              <a:avLst/>
            </a:prstGeom>
            <a:noFill/>
          </p:spPr>
          <p:txBody>
            <a:bodyPr wrap="none" rtlCol="0">
              <a:spAutoFit/>
            </a:bodyPr>
            <a:lstStyle/>
            <a:p>
              <a:r>
                <a:rPr lang="en-US" sz="1600" b="1" dirty="0">
                  <a:solidFill>
                    <a:schemeClr val="accent1">
                      <a:lumMod val="75000"/>
                    </a:schemeClr>
                  </a:solidFill>
                </a:rPr>
                <a:t>S[1]</a:t>
              </a:r>
            </a:p>
          </p:txBody>
        </p:sp>
        <p:cxnSp>
          <p:nvCxnSpPr>
            <p:cNvPr id="46" name="Straight Arrow Connector 45">
              <a:extLst>
                <a:ext uri="{FF2B5EF4-FFF2-40B4-BE49-F238E27FC236}">
                  <a16:creationId xmlns:a16="http://schemas.microsoft.com/office/drawing/2014/main" id="{55F077EC-2DB8-43C2-8062-FD17F61EC9A4}"/>
                </a:ext>
              </a:extLst>
            </p:cNvPr>
            <p:cNvCxnSpPr>
              <a:cxnSpLocks/>
            </p:cNvCxnSpPr>
            <p:nvPr/>
          </p:nvCxnSpPr>
          <p:spPr>
            <a:xfrm>
              <a:off x="7006592" y="4968002"/>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751C255-7BE4-449E-B0DA-BC3A94BEEEFC}"/>
                </a:ext>
              </a:extLst>
            </p:cNvPr>
            <p:cNvCxnSpPr>
              <a:cxnSpLocks/>
            </p:cNvCxnSpPr>
            <p:nvPr/>
          </p:nvCxnSpPr>
          <p:spPr>
            <a:xfrm flipH="1">
              <a:off x="7488639" y="4511817"/>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E65A2A09-6540-4615-95C9-B4775D7D1B5A}"/>
                </a:ext>
              </a:extLst>
            </p:cNvPr>
            <p:cNvSpPr/>
            <p:nvPr/>
          </p:nvSpPr>
          <p:spPr>
            <a:xfrm>
              <a:off x="8107495" y="4053601"/>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Inst0</a:t>
              </a:r>
            </a:p>
          </p:txBody>
        </p:sp>
        <p:cxnSp>
          <p:nvCxnSpPr>
            <p:cNvPr id="50" name="Straight Arrow Connector 49">
              <a:extLst>
                <a:ext uri="{FF2B5EF4-FFF2-40B4-BE49-F238E27FC236}">
                  <a16:creationId xmlns:a16="http://schemas.microsoft.com/office/drawing/2014/main" id="{294ABC1F-1137-432E-AB91-6D63A0D802C6}"/>
                </a:ext>
              </a:extLst>
            </p:cNvPr>
            <p:cNvCxnSpPr>
              <a:cxnSpLocks/>
            </p:cNvCxnSpPr>
            <p:nvPr/>
          </p:nvCxnSpPr>
          <p:spPr>
            <a:xfrm>
              <a:off x="8794916"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7B1C4F4-6ADD-457A-B4E0-2CF4BF8D7898}"/>
                </a:ext>
              </a:extLst>
            </p:cNvPr>
            <p:cNvCxnSpPr>
              <a:cxnSpLocks/>
            </p:cNvCxnSpPr>
            <p:nvPr/>
          </p:nvCxnSpPr>
          <p:spPr>
            <a:xfrm>
              <a:off x="8383112"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BC6DB6F-A487-4A35-84D6-500EF33719FC}"/>
                </a:ext>
              </a:extLst>
            </p:cNvPr>
            <p:cNvSpPr txBox="1"/>
            <p:nvPr/>
          </p:nvSpPr>
          <p:spPr>
            <a:xfrm>
              <a:off x="8153279" y="3438767"/>
              <a:ext cx="548548" cy="338554"/>
            </a:xfrm>
            <a:prstGeom prst="rect">
              <a:avLst/>
            </a:prstGeom>
            <a:noFill/>
          </p:spPr>
          <p:txBody>
            <a:bodyPr wrap="none" rtlCol="0">
              <a:spAutoFit/>
            </a:bodyPr>
            <a:lstStyle/>
            <a:p>
              <a:r>
                <a:rPr lang="en-US" sz="1600" b="1" dirty="0">
                  <a:solidFill>
                    <a:schemeClr val="accent1">
                      <a:lumMod val="75000"/>
                    </a:schemeClr>
                  </a:solidFill>
                </a:rPr>
                <a:t>A[0]</a:t>
              </a:r>
            </a:p>
          </p:txBody>
        </p:sp>
        <p:sp>
          <p:nvSpPr>
            <p:cNvPr id="53" name="TextBox 52">
              <a:extLst>
                <a:ext uri="{FF2B5EF4-FFF2-40B4-BE49-F238E27FC236}">
                  <a16:creationId xmlns:a16="http://schemas.microsoft.com/office/drawing/2014/main" id="{A8333B8C-F37D-4427-BF24-9F254E026222}"/>
                </a:ext>
              </a:extLst>
            </p:cNvPr>
            <p:cNvSpPr txBox="1"/>
            <p:nvPr/>
          </p:nvSpPr>
          <p:spPr>
            <a:xfrm>
              <a:off x="8566129" y="3429000"/>
              <a:ext cx="538930" cy="338554"/>
            </a:xfrm>
            <a:prstGeom prst="rect">
              <a:avLst/>
            </a:prstGeom>
            <a:noFill/>
          </p:spPr>
          <p:txBody>
            <a:bodyPr wrap="none" rtlCol="0">
              <a:spAutoFit/>
            </a:bodyPr>
            <a:lstStyle/>
            <a:p>
              <a:r>
                <a:rPr lang="en-US" sz="1600" b="1" dirty="0">
                  <a:solidFill>
                    <a:schemeClr val="accent1">
                      <a:lumMod val="75000"/>
                    </a:schemeClr>
                  </a:solidFill>
                </a:rPr>
                <a:t>B[0]</a:t>
              </a:r>
            </a:p>
          </p:txBody>
        </p:sp>
        <p:sp>
          <p:nvSpPr>
            <p:cNvPr id="54" name="TextBox 53">
              <a:extLst>
                <a:ext uri="{FF2B5EF4-FFF2-40B4-BE49-F238E27FC236}">
                  <a16:creationId xmlns:a16="http://schemas.microsoft.com/office/drawing/2014/main" id="{E0D3BC1A-6146-4563-99C5-4B012E4B02D6}"/>
                </a:ext>
              </a:extLst>
            </p:cNvPr>
            <p:cNvSpPr txBox="1"/>
            <p:nvPr/>
          </p:nvSpPr>
          <p:spPr>
            <a:xfrm>
              <a:off x="8349208" y="5223810"/>
              <a:ext cx="521297" cy="338554"/>
            </a:xfrm>
            <a:prstGeom prst="rect">
              <a:avLst/>
            </a:prstGeom>
            <a:noFill/>
          </p:spPr>
          <p:txBody>
            <a:bodyPr wrap="none" rtlCol="0">
              <a:spAutoFit/>
            </a:bodyPr>
            <a:lstStyle/>
            <a:p>
              <a:r>
                <a:rPr lang="en-US" sz="1600" b="1" dirty="0">
                  <a:solidFill>
                    <a:schemeClr val="accent1">
                      <a:lumMod val="75000"/>
                    </a:schemeClr>
                  </a:solidFill>
                </a:rPr>
                <a:t>S[0]</a:t>
              </a:r>
            </a:p>
          </p:txBody>
        </p:sp>
        <p:cxnSp>
          <p:nvCxnSpPr>
            <p:cNvPr id="55" name="Straight Arrow Connector 54">
              <a:extLst>
                <a:ext uri="{FF2B5EF4-FFF2-40B4-BE49-F238E27FC236}">
                  <a16:creationId xmlns:a16="http://schemas.microsoft.com/office/drawing/2014/main" id="{A39A20FB-E481-4150-9506-74CC16D62868}"/>
                </a:ext>
              </a:extLst>
            </p:cNvPr>
            <p:cNvCxnSpPr>
              <a:cxnSpLocks/>
            </p:cNvCxnSpPr>
            <p:nvPr/>
          </p:nvCxnSpPr>
          <p:spPr>
            <a:xfrm>
              <a:off x="8607423" y="4968002"/>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105508A-87EF-4877-AA49-8AFCCF160E30}"/>
                </a:ext>
              </a:extLst>
            </p:cNvPr>
            <p:cNvCxnSpPr>
              <a:cxnSpLocks/>
            </p:cNvCxnSpPr>
            <p:nvPr/>
          </p:nvCxnSpPr>
          <p:spPr>
            <a:xfrm flipH="1">
              <a:off x="9109444" y="4421025"/>
              <a:ext cx="301558"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0281114-B3B9-4CCF-9EAD-7A27A90503C6}"/>
                </a:ext>
              </a:extLst>
            </p:cNvPr>
            <p:cNvSpPr txBox="1"/>
            <p:nvPr/>
          </p:nvSpPr>
          <p:spPr>
            <a:xfrm>
              <a:off x="9381818" y="4251748"/>
              <a:ext cx="976549" cy="338554"/>
            </a:xfrm>
            <a:prstGeom prst="rect">
              <a:avLst/>
            </a:prstGeom>
            <a:noFill/>
          </p:spPr>
          <p:txBody>
            <a:bodyPr wrap="none" rtlCol="0">
              <a:spAutoFit/>
            </a:bodyPr>
            <a:lstStyle/>
            <a:p>
              <a:r>
                <a:rPr lang="en-US" sz="1600" b="1" dirty="0">
                  <a:solidFill>
                    <a:schemeClr val="accent1">
                      <a:lumMod val="75000"/>
                    </a:schemeClr>
                  </a:solidFill>
                </a:rPr>
                <a:t>C[0] (</a:t>
              </a:r>
              <a:r>
                <a:rPr lang="en-US" sz="1600" b="1" dirty="0" err="1">
                  <a:solidFill>
                    <a:schemeClr val="accent1">
                      <a:lumMod val="75000"/>
                    </a:schemeClr>
                  </a:solidFill>
                </a:rPr>
                <a:t>Cin</a:t>
              </a:r>
              <a:r>
                <a:rPr lang="en-US" sz="1600" b="1" dirty="0">
                  <a:solidFill>
                    <a:schemeClr val="accent1">
                      <a:lumMod val="75000"/>
                    </a:schemeClr>
                  </a:solidFill>
                </a:rPr>
                <a:t>)</a:t>
              </a:r>
            </a:p>
          </p:txBody>
        </p:sp>
        <p:sp>
          <p:nvSpPr>
            <p:cNvPr id="58" name="TextBox 57">
              <a:extLst>
                <a:ext uri="{FF2B5EF4-FFF2-40B4-BE49-F238E27FC236}">
                  <a16:creationId xmlns:a16="http://schemas.microsoft.com/office/drawing/2014/main" id="{C2CD5DE2-9AD6-461C-BD27-3D8BE8CF7C93}"/>
                </a:ext>
              </a:extLst>
            </p:cNvPr>
            <p:cNvSpPr txBox="1"/>
            <p:nvPr/>
          </p:nvSpPr>
          <p:spPr>
            <a:xfrm>
              <a:off x="7469675" y="4141747"/>
              <a:ext cx="532518" cy="338554"/>
            </a:xfrm>
            <a:prstGeom prst="rect">
              <a:avLst/>
            </a:prstGeom>
            <a:noFill/>
          </p:spPr>
          <p:txBody>
            <a:bodyPr wrap="none" rtlCol="0">
              <a:spAutoFit/>
            </a:bodyPr>
            <a:lstStyle/>
            <a:p>
              <a:r>
                <a:rPr lang="en-US" sz="1600" b="1" dirty="0">
                  <a:solidFill>
                    <a:schemeClr val="accent1">
                      <a:lumMod val="75000"/>
                    </a:schemeClr>
                  </a:solidFill>
                </a:rPr>
                <a:t>C[1]</a:t>
              </a:r>
            </a:p>
          </p:txBody>
        </p:sp>
        <p:sp>
          <p:nvSpPr>
            <p:cNvPr id="59" name="TextBox 58">
              <a:extLst>
                <a:ext uri="{FF2B5EF4-FFF2-40B4-BE49-F238E27FC236}">
                  <a16:creationId xmlns:a16="http://schemas.microsoft.com/office/drawing/2014/main" id="{06B7C148-C871-43E7-B928-AD94DBA3BE40}"/>
                </a:ext>
              </a:extLst>
            </p:cNvPr>
            <p:cNvSpPr txBox="1"/>
            <p:nvPr/>
          </p:nvSpPr>
          <p:spPr>
            <a:xfrm>
              <a:off x="5900274" y="4142130"/>
              <a:ext cx="532518" cy="338554"/>
            </a:xfrm>
            <a:prstGeom prst="rect">
              <a:avLst/>
            </a:prstGeom>
            <a:noFill/>
          </p:spPr>
          <p:txBody>
            <a:bodyPr wrap="none" rtlCol="0">
              <a:spAutoFit/>
            </a:bodyPr>
            <a:lstStyle/>
            <a:p>
              <a:r>
                <a:rPr lang="en-US" sz="1600" b="1" dirty="0">
                  <a:solidFill>
                    <a:schemeClr val="accent1">
                      <a:lumMod val="75000"/>
                    </a:schemeClr>
                  </a:solidFill>
                </a:rPr>
                <a:t>C[2]</a:t>
              </a:r>
            </a:p>
          </p:txBody>
        </p:sp>
        <p:sp>
          <p:nvSpPr>
            <p:cNvPr id="60" name="TextBox 59">
              <a:extLst>
                <a:ext uri="{FF2B5EF4-FFF2-40B4-BE49-F238E27FC236}">
                  <a16:creationId xmlns:a16="http://schemas.microsoft.com/office/drawing/2014/main" id="{A662680C-7FD6-4176-A500-99AC95F14FC9}"/>
                </a:ext>
              </a:extLst>
            </p:cNvPr>
            <p:cNvSpPr txBox="1"/>
            <p:nvPr/>
          </p:nvSpPr>
          <p:spPr>
            <a:xfrm>
              <a:off x="4266448" y="4153806"/>
              <a:ext cx="532518" cy="338554"/>
            </a:xfrm>
            <a:prstGeom prst="rect">
              <a:avLst/>
            </a:prstGeom>
            <a:noFill/>
          </p:spPr>
          <p:txBody>
            <a:bodyPr wrap="none" rtlCol="0">
              <a:spAutoFit/>
            </a:bodyPr>
            <a:lstStyle/>
            <a:p>
              <a:r>
                <a:rPr lang="en-US" sz="1600" b="1" dirty="0">
                  <a:solidFill>
                    <a:schemeClr val="accent1">
                      <a:lumMod val="75000"/>
                    </a:schemeClr>
                  </a:solidFill>
                </a:rPr>
                <a:t>C[3]</a:t>
              </a:r>
            </a:p>
          </p:txBody>
        </p:sp>
        <p:sp>
          <p:nvSpPr>
            <p:cNvPr id="6" name="Rectangle 5">
              <a:extLst>
                <a:ext uri="{FF2B5EF4-FFF2-40B4-BE49-F238E27FC236}">
                  <a16:creationId xmlns:a16="http://schemas.microsoft.com/office/drawing/2014/main" id="{00F97477-B912-48D5-B71D-F421E0CE2566}"/>
                </a:ext>
              </a:extLst>
            </p:cNvPr>
            <p:cNvSpPr/>
            <p:nvPr/>
          </p:nvSpPr>
          <p:spPr>
            <a:xfrm>
              <a:off x="3213762" y="5791652"/>
              <a:ext cx="5822631" cy="564698"/>
            </a:xfrm>
            <a:prstGeom prst="rect">
              <a:avLst/>
            </a:prstGeom>
            <a:solidFill>
              <a:schemeClr val="bg1">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Carry Lookahead Logic (generate and propagate carry)</a:t>
              </a:r>
            </a:p>
          </p:txBody>
        </p:sp>
        <p:sp>
          <p:nvSpPr>
            <p:cNvPr id="68" name="TextBox 67">
              <a:extLst>
                <a:ext uri="{FF2B5EF4-FFF2-40B4-BE49-F238E27FC236}">
                  <a16:creationId xmlns:a16="http://schemas.microsoft.com/office/drawing/2014/main" id="{7C571F8C-DD8F-41CE-ACB5-CF3A14F3F35E}"/>
                </a:ext>
              </a:extLst>
            </p:cNvPr>
            <p:cNvSpPr txBox="1"/>
            <p:nvPr/>
          </p:nvSpPr>
          <p:spPr>
            <a:xfrm>
              <a:off x="7662667" y="6538733"/>
              <a:ext cx="548548" cy="338554"/>
            </a:xfrm>
            <a:prstGeom prst="rect">
              <a:avLst/>
            </a:prstGeom>
            <a:noFill/>
          </p:spPr>
          <p:txBody>
            <a:bodyPr wrap="none" rtlCol="0">
              <a:spAutoFit/>
            </a:bodyPr>
            <a:lstStyle/>
            <a:p>
              <a:r>
                <a:rPr lang="en-US" sz="1600" b="1" dirty="0">
                  <a:solidFill>
                    <a:schemeClr val="accent1">
                      <a:lumMod val="75000"/>
                    </a:schemeClr>
                  </a:solidFill>
                </a:rPr>
                <a:t>A[0]</a:t>
              </a:r>
            </a:p>
          </p:txBody>
        </p:sp>
        <p:sp>
          <p:nvSpPr>
            <p:cNvPr id="69" name="TextBox 68">
              <a:extLst>
                <a:ext uri="{FF2B5EF4-FFF2-40B4-BE49-F238E27FC236}">
                  <a16:creationId xmlns:a16="http://schemas.microsoft.com/office/drawing/2014/main" id="{A320FDA1-62C6-4B4A-840D-5939B39A0BD5}"/>
                </a:ext>
              </a:extLst>
            </p:cNvPr>
            <p:cNvSpPr txBox="1"/>
            <p:nvPr/>
          </p:nvSpPr>
          <p:spPr>
            <a:xfrm>
              <a:off x="8075517" y="6528966"/>
              <a:ext cx="538930" cy="338554"/>
            </a:xfrm>
            <a:prstGeom prst="rect">
              <a:avLst/>
            </a:prstGeom>
            <a:noFill/>
          </p:spPr>
          <p:txBody>
            <a:bodyPr wrap="none" rtlCol="0">
              <a:spAutoFit/>
            </a:bodyPr>
            <a:lstStyle/>
            <a:p>
              <a:r>
                <a:rPr lang="en-US" sz="1600" b="1" dirty="0">
                  <a:solidFill>
                    <a:schemeClr val="accent1">
                      <a:lumMod val="75000"/>
                    </a:schemeClr>
                  </a:solidFill>
                </a:rPr>
                <a:t>B[0]</a:t>
              </a:r>
            </a:p>
          </p:txBody>
        </p:sp>
        <p:cxnSp>
          <p:nvCxnSpPr>
            <p:cNvPr id="70" name="Straight Arrow Connector 69">
              <a:extLst>
                <a:ext uri="{FF2B5EF4-FFF2-40B4-BE49-F238E27FC236}">
                  <a16:creationId xmlns:a16="http://schemas.microsoft.com/office/drawing/2014/main" id="{48439CC7-9514-4180-B24E-2AD6B9DDC7C5}"/>
                </a:ext>
              </a:extLst>
            </p:cNvPr>
            <p:cNvCxnSpPr>
              <a:cxnSpLocks/>
            </p:cNvCxnSpPr>
            <p:nvPr/>
          </p:nvCxnSpPr>
          <p:spPr>
            <a:xfrm flipV="1">
              <a:off x="8276684" y="6356350"/>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094545A-8CBE-4A1D-9DDD-1E37327D924D}"/>
                </a:ext>
              </a:extLst>
            </p:cNvPr>
            <p:cNvCxnSpPr>
              <a:cxnSpLocks/>
            </p:cNvCxnSpPr>
            <p:nvPr/>
          </p:nvCxnSpPr>
          <p:spPr>
            <a:xfrm flipV="1">
              <a:off x="7942701" y="6356350"/>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B7731E21-349D-45DC-BF27-CCA6AA04F173}"/>
                </a:ext>
              </a:extLst>
            </p:cNvPr>
            <p:cNvSpPr txBox="1"/>
            <p:nvPr/>
          </p:nvSpPr>
          <p:spPr>
            <a:xfrm>
              <a:off x="6425117" y="6549856"/>
              <a:ext cx="548548" cy="338554"/>
            </a:xfrm>
            <a:prstGeom prst="rect">
              <a:avLst/>
            </a:prstGeom>
            <a:noFill/>
          </p:spPr>
          <p:txBody>
            <a:bodyPr wrap="none" rtlCol="0">
              <a:spAutoFit/>
            </a:bodyPr>
            <a:lstStyle/>
            <a:p>
              <a:r>
                <a:rPr lang="en-US" sz="1600" b="1" dirty="0">
                  <a:solidFill>
                    <a:schemeClr val="accent1">
                      <a:lumMod val="75000"/>
                    </a:schemeClr>
                  </a:solidFill>
                </a:rPr>
                <a:t>A[1]</a:t>
              </a:r>
            </a:p>
          </p:txBody>
        </p:sp>
        <p:sp>
          <p:nvSpPr>
            <p:cNvPr id="73" name="TextBox 72">
              <a:extLst>
                <a:ext uri="{FF2B5EF4-FFF2-40B4-BE49-F238E27FC236}">
                  <a16:creationId xmlns:a16="http://schemas.microsoft.com/office/drawing/2014/main" id="{870AE470-1C14-4A54-99AD-1AD7AFCC7AC2}"/>
                </a:ext>
              </a:extLst>
            </p:cNvPr>
            <p:cNvSpPr txBox="1"/>
            <p:nvPr/>
          </p:nvSpPr>
          <p:spPr>
            <a:xfrm>
              <a:off x="6837967" y="6540089"/>
              <a:ext cx="538930" cy="338554"/>
            </a:xfrm>
            <a:prstGeom prst="rect">
              <a:avLst/>
            </a:prstGeom>
            <a:noFill/>
          </p:spPr>
          <p:txBody>
            <a:bodyPr wrap="none" rtlCol="0">
              <a:spAutoFit/>
            </a:bodyPr>
            <a:lstStyle/>
            <a:p>
              <a:r>
                <a:rPr lang="en-US" sz="1600" b="1" dirty="0">
                  <a:solidFill>
                    <a:schemeClr val="accent1">
                      <a:lumMod val="75000"/>
                    </a:schemeClr>
                  </a:solidFill>
                </a:rPr>
                <a:t>B[1]</a:t>
              </a:r>
            </a:p>
          </p:txBody>
        </p:sp>
        <p:cxnSp>
          <p:nvCxnSpPr>
            <p:cNvPr id="74" name="Straight Arrow Connector 73">
              <a:extLst>
                <a:ext uri="{FF2B5EF4-FFF2-40B4-BE49-F238E27FC236}">
                  <a16:creationId xmlns:a16="http://schemas.microsoft.com/office/drawing/2014/main" id="{65151BEA-F782-44EB-ACE3-EC453D737872}"/>
                </a:ext>
              </a:extLst>
            </p:cNvPr>
            <p:cNvCxnSpPr>
              <a:cxnSpLocks/>
            </p:cNvCxnSpPr>
            <p:nvPr/>
          </p:nvCxnSpPr>
          <p:spPr>
            <a:xfrm flipV="1">
              <a:off x="7039134" y="6367473"/>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AF6A96DA-0748-4A5A-B1C4-E761F8105B9E}"/>
                </a:ext>
              </a:extLst>
            </p:cNvPr>
            <p:cNvCxnSpPr>
              <a:cxnSpLocks/>
            </p:cNvCxnSpPr>
            <p:nvPr/>
          </p:nvCxnSpPr>
          <p:spPr>
            <a:xfrm flipV="1">
              <a:off x="6705151" y="6367473"/>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6AE67233-2126-41FD-9062-7BB7880B4AAA}"/>
                </a:ext>
              </a:extLst>
            </p:cNvPr>
            <p:cNvSpPr txBox="1"/>
            <p:nvPr/>
          </p:nvSpPr>
          <p:spPr>
            <a:xfrm>
              <a:off x="5031851" y="6552365"/>
              <a:ext cx="548548" cy="338554"/>
            </a:xfrm>
            <a:prstGeom prst="rect">
              <a:avLst/>
            </a:prstGeom>
            <a:noFill/>
          </p:spPr>
          <p:txBody>
            <a:bodyPr wrap="none" rtlCol="0">
              <a:spAutoFit/>
            </a:bodyPr>
            <a:lstStyle/>
            <a:p>
              <a:r>
                <a:rPr lang="en-US" sz="1600" b="1" dirty="0">
                  <a:solidFill>
                    <a:schemeClr val="accent1">
                      <a:lumMod val="75000"/>
                    </a:schemeClr>
                  </a:solidFill>
                </a:rPr>
                <a:t>A[2]</a:t>
              </a:r>
            </a:p>
          </p:txBody>
        </p:sp>
        <p:sp>
          <p:nvSpPr>
            <p:cNvPr id="77" name="TextBox 76">
              <a:extLst>
                <a:ext uri="{FF2B5EF4-FFF2-40B4-BE49-F238E27FC236}">
                  <a16:creationId xmlns:a16="http://schemas.microsoft.com/office/drawing/2014/main" id="{5EE00D9A-A6C6-49AB-BC1C-C48AE2D63FF4}"/>
                </a:ext>
              </a:extLst>
            </p:cNvPr>
            <p:cNvSpPr txBox="1"/>
            <p:nvPr/>
          </p:nvSpPr>
          <p:spPr>
            <a:xfrm>
              <a:off x="5444701" y="6542598"/>
              <a:ext cx="538930" cy="338554"/>
            </a:xfrm>
            <a:prstGeom prst="rect">
              <a:avLst/>
            </a:prstGeom>
            <a:noFill/>
          </p:spPr>
          <p:txBody>
            <a:bodyPr wrap="none" rtlCol="0">
              <a:spAutoFit/>
            </a:bodyPr>
            <a:lstStyle/>
            <a:p>
              <a:r>
                <a:rPr lang="en-US" sz="1600" b="1" dirty="0">
                  <a:solidFill>
                    <a:schemeClr val="accent1">
                      <a:lumMod val="75000"/>
                    </a:schemeClr>
                  </a:solidFill>
                </a:rPr>
                <a:t>B[2]</a:t>
              </a:r>
            </a:p>
          </p:txBody>
        </p:sp>
        <p:cxnSp>
          <p:nvCxnSpPr>
            <p:cNvPr id="78" name="Straight Arrow Connector 77">
              <a:extLst>
                <a:ext uri="{FF2B5EF4-FFF2-40B4-BE49-F238E27FC236}">
                  <a16:creationId xmlns:a16="http://schemas.microsoft.com/office/drawing/2014/main" id="{247A5120-C2D6-49B6-969F-79EE03552E66}"/>
                </a:ext>
              </a:extLst>
            </p:cNvPr>
            <p:cNvCxnSpPr>
              <a:cxnSpLocks/>
            </p:cNvCxnSpPr>
            <p:nvPr/>
          </p:nvCxnSpPr>
          <p:spPr>
            <a:xfrm flipV="1">
              <a:off x="5645868" y="6369982"/>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C49AA2D-1948-457C-8D77-5CDA22D677D9}"/>
                </a:ext>
              </a:extLst>
            </p:cNvPr>
            <p:cNvCxnSpPr>
              <a:cxnSpLocks/>
            </p:cNvCxnSpPr>
            <p:nvPr/>
          </p:nvCxnSpPr>
          <p:spPr>
            <a:xfrm flipV="1">
              <a:off x="5311885" y="6369982"/>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A4162C01-4C3B-4EEE-BD74-AB9D7B0224F0}"/>
                </a:ext>
              </a:extLst>
            </p:cNvPr>
            <p:cNvSpPr txBox="1"/>
            <p:nvPr/>
          </p:nvSpPr>
          <p:spPr>
            <a:xfrm>
              <a:off x="3629037" y="6564898"/>
              <a:ext cx="548548" cy="338554"/>
            </a:xfrm>
            <a:prstGeom prst="rect">
              <a:avLst/>
            </a:prstGeom>
            <a:noFill/>
          </p:spPr>
          <p:txBody>
            <a:bodyPr wrap="none" rtlCol="0">
              <a:spAutoFit/>
            </a:bodyPr>
            <a:lstStyle/>
            <a:p>
              <a:r>
                <a:rPr lang="en-US" sz="1600" b="1" dirty="0">
                  <a:solidFill>
                    <a:schemeClr val="accent1">
                      <a:lumMod val="75000"/>
                    </a:schemeClr>
                  </a:solidFill>
                </a:rPr>
                <a:t>A[3]</a:t>
              </a:r>
            </a:p>
          </p:txBody>
        </p:sp>
        <p:sp>
          <p:nvSpPr>
            <p:cNvPr id="81" name="TextBox 80">
              <a:extLst>
                <a:ext uri="{FF2B5EF4-FFF2-40B4-BE49-F238E27FC236}">
                  <a16:creationId xmlns:a16="http://schemas.microsoft.com/office/drawing/2014/main" id="{B96F2888-EF55-4145-B27F-1EF399F99730}"/>
                </a:ext>
              </a:extLst>
            </p:cNvPr>
            <p:cNvSpPr txBox="1"/>
            <p:nvPr/>
          </p:nvSpPr>
          <p:spPr>
            <a:xfrm>
              <a:off x="4041887" y="6555131"/>
              <a:ext cx="538930" cy="338554"/>
            </a:xfrm>
            <a:prstGeom prst="rect">
              <a:avLst/>
            </a:prstGeom>
            <a:noFill/>
          </p:spPr>
          <p:txBody>
            <a:bodyPr wrap="none" rtlCol="0">
              <a:spAutoFit/>
            </a:bodyPr>
            <a:lstStyle/>
            <a:p>
              <a:r>
                <a:rPr lang="en-US" sz="1600" b="1" dirty="0">
                  <a:solidFill>
                    <a:schemeClr val="accent1">
                      <a:lumMod val="75000"/>
                    </a:schemeClr>
                  </a:solidFill>
                </a:rPr>
                <a:t>B[3]</a:t>
              </a:r>
            </a:p>
          </p:txBody>
        </p:sp>
        <p:cxnSp>
          <p:nvCxnSpPr>
            <p:cNvPr id="82" name="Straight Arrow Connector 81">
              <a:extLst>
                <a:ext uri="{FF2B5EF4-FFF2-40B4-BE49-F238E27FC236}">
                  <a16:creationId xmlns:a16="http://schemas.microsoft.com/office/drawing/2014/main" id="{6766416F-B7F2-4E28-ABDF-E3E4084F1BEF}"/>
                </a:ext>
              </a:extLst>
            </p:cNvPr>
            <p:cNvCxnSpPr>
              <a:cxnSpLocks/>
            </p:cNvCxnSpPr>
            <p:nvPr/>
          </p:nvCxnSpPr>
          <p:spPr>
            <a:xfrm flipV="1">
              <a:off x="4243054" y="6382515"/>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DECC584-1F7C-42EE-AF33-6CC57790DBE6}"/>
                </a:ext>
              </a:extLst>
            </p:cNvPr>
            <p:cNvCxnSpPr>
              <a:cxnSpLocks/>
            </p:cNvCxnSpPr>
            <p:nvPr/>
          </p:nvCxnSpPr>
          <p:spPr>
            <a:xfrm flipV="1">
              <a:off x="3909071" y="6382515"/>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E743443F-BA04-4BAC-BCA9-5FFF0E68CA0E}"/>
                </a:ext>
              </a:extLst>
            </p:cNvPr>
            <p:cNvCxnSpPr>
              <a:cxnSpLocks/>
            </p:cNvCxnSpPr>
            <p:nvPr/>
          </p:nvCxnSpPr>
          <p:spPr>
            <a:xfrm flipH="1">
              <a:off x="7752921" y="4506466"/>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D66C3889-96F9-4D36-8A0C-8467A564A73E}"/>
                </a:ext>
              </a:extLst>
            </p:cNvPr>
            <p:cNvCxnSpPr>
              <a:cxnSpLocks/>
            </p:cNvCxnSpPr>
            <p:nvPr/>
          </p:nvCxnSpPr>
          <p:spPr>
            <a:xfrm flipH="1">
              <a:off x="5894956" y="4517698"/>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3FECB6D-2050-4A16-9AD8-DACF785723A3}"/>
                </a:ext>
              </a:extLst>
            </p:cNvPr>
            <p:cNvCxnSpPr>
              <a:cxnSpLocks/>
            </p:cNvCxnSpPr>
            <p:nvPr/>
          </p:nvCxnSpPr>
          <p:spPr>
            <a:xfrm flipH="1">
              <a:off x="6159238" y="4512347"/>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0D5E227-FFF7-4E36-8D7A-60A34F29069B}"/>
                </a:ext>
              </a:extLst>
            </p:cNvPr>
            <p:cNvCxnSpPr>
              <a:cxnSpLocks/>
            </p:cNvCxnSpPr>
            <p:nvPr/>
          </p:nvCxnSpPr>
          <p:spPr>
            <a:xfrm flipH="1">
              <a:off x="4257361" y="4505331"/>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CEE488ED-D211-4C97-8AA8-510E58612101}"/>
                </a:ext>
              </a:extLst>
            </p:cNvPr>
            <p:cNvCxnSpPr>
              <a:cxnSpLocks/>
            </p:cNvCxnSpPr>
            <p:nvPr/>
          </p:nvCxnSpPr>
          <p:spPr>
            <a:xfrm flipH="1">
              <a:off x="4521643" y="4499980"/>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F1B04FC-C7F3-4181-8869-0740F9CAA4B7}"/>
                </a:ext>
              </a:extLst>
            </p:cNvPr>
            <p:cNvGrpSpPr/>
            <p:nvPr/>
          </p:nvGrpSpPr>
          <p:grpSpPr>
            <a:xfrm rot="10800000" flipH="1">
              <a:off x="9024479" y="4408037"/>
              <a:ext cx="288418" cy="1624520"/>
              <a:chOff x="10296690" y="4639935"/>
              <a:chExt cx="264283" cy="1317614"/>
            </a:xfrm>
          </p:grpSpPr>
          <p:cxnSp>
            <p:nvCxnSpPr>
              <p:cNvPr id="89" name="Straight Arrow Connector 88">
                <a:extLst>
                  <a:ext uri="{FF2B5EF4-FFF2-40B4-BE49-F238E27FC236}">
                    <a16:creationId xmlns:a16="http://schemas.microsoft.com/office/drawing/2014/main" id="{B9D7ABFB-A2E1-4CB8-AF78-143E90B241EB}"/>
                  </a:ext>
                </a:extLst>
              </p:cNvPr>
              <p:cNvCxnSpPr>
                <a:cxnSpLocks/>
              </p:cNvCxnSpPr>
              <p:nvPr/>
            </p:nvCxnSpPr>
            <p:spPr>
              <a:xfrm flipH="1">
                <a:off x="10296690" y="4645286"/>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F1519AFC-89FC-4B31-AF7D-D650D7B2A927}"/>
                  </a:ext>
                </a:extLst>
              </p:cNvPr>
              <p:cNvCxnSpPr>
                <a:cxnSpLocks/>
              </p:cNvCxnSpPr>
              <p:nvPr/>
            </p:nvCxnSpPr>
            <p:spPr>
              <a:xfrm flipH="1">
                <a:off x="10560972" y="4639935"/>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grpSp>
      </p:grpSp>
      <p:sp>
        <p:nvSpPr>
          <p:cNvPr id="91" name="TextBox 90">
            <a:extLst>
              <a:ext uri="{FF2B5EF4-FFF2-40B4-BE49-F238E27FC236}">
                <a16:creationId xmlns:a16="http://schemas.microsoft.com/office/drawing/2014/main" id="{E502728B-FB61-4B09-8E7A-F5BE58118932}"/>
              </a:ext>
            </a:extLst>
          </p:cNvPr>
          <p:cNvSpPr txBox="1"/>
          <p:nvPr/>
        </p:nvSpPr>
        <p:spPr>
          <a:xfrm>
            <a:off x="9411352" y="4967792"/>
            <a:ext cx="2539430" cy="1323439"/>
          </a:xfrm>
          <a:prstGeom prst="rect">
            <a:avLst/>
          </a:prstGeom>
          <a:noFill/>
        </p:spPr>
        <p:txBody>
          <a:bodyPr wrap="square" rtlCol="0">
            <a:spAutoFit/>
          </a:bodyPr>
          <a:lstStyle/>
          <a:p>
            <a:pPr algn="ctr"/>
            <a:r>
              <a:rPr lang="en-US" sz="1600" b="1" dirty="0">
                <a:solidFill>
                  <a:srgbClr val="C00000"/>
                </a:solidFill>
              </a:rPr>
              <a:t>Only depends</a:t>
            </a:r>
          </a:p>
          <a:p>
            <a:pPr algn="ctr"/>
            <a:r>
              <a:rPr lang="en-US" sz="1600" b="1" dirty="0">
                <a:solidFill>
                  <a:srgbClr val="C00000"/>
                </a:solidFill>
              </a:rPr>
              <a:t>On Inputs A[3:0], B[3:0] and C[0]</a:t>
            </a:r>
          </a:p>
          <a:p>
            <a:pPr algn="ctr"/>
            <a:r>
              <a:rPr lang="en-US" sz="1600" b="1" dirty="0">
                <a:solidFill>
                  <a:srgbClr val="C00000"/>
                </a:solidFill>
              </a:rPr>
              <a:t>to generate Carry  C[1],C[2],C[3],C[4]</a:t>
            </a:r>
          </a:p>
        </p:txBody>
      </p:sp>
      <p:cxnSp>
        <p:nvCxnSpPr>
          <p:cNvPr id="92" name="Straight Arrow Connector 91">
            <a:extLst>
              <a:ext uri="{FF2B5EF4-FFF2-40B4-BE49-F238E27FC236}">
                <a16:creationId xmlns:a16="http://schemas.microsoft.com/office/drawing/2014/main" id="{24C751FF-54CA-479D-B06B-E197C60F5760}"/>
              </a:ext>
            </a:extLst>
          </p:cNvPr>
          <p:cNvCxnSpPr>
            <a:cxnSpLocks/>
          </p:cNvCxnSpPr>
          <p:nvPr/>
        </p:nvCxnSpPr>
        <p:spPr>
          <a:xfrm flipH="1">
            <a:off x="8906706" y="5943709"/>
            <a:ext cx="992411" cy="32601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2968F37B-332C-4DAA-AD79-EAA7CBBF8ABB}"/>
              </a:ext>
            </a:extLst>
          </p:cNvPr>
          <p:cNvCxnSpPr>
            <a:cxnSpLocks/>
          </p:cNvCxnSpPr>
          <p:nvPr/>
        </p:nvCxnSpPr>
        <p:spPr>
          <a:xfrm>
            <a:off x="2118892" y="1613157"/>
            <a:ext cx="1061341" cy="4308476"/>
          </a:xfrm>
          <a:prstGeom prst="straightConnector1">
            <a:avLst/>
          </a:prstGeom>
          <a:ln w="1270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10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3"/>
                                        </p:tgtEl>
                                        <p:attrNameLst>
                                          <p:attrName>style.visibility</p:attrName>
                                        </p:attrNameLst>
                                      </p:cBhvr>
                                      <p:to>
                                        <p:strVal val="visible"/>
                                      </p:to>
                                    </p:set>
                                    <p:anim calcmode="lin" valueType="num">
                                      <p:cBhvr additive="base">
                                        <p:cTn id="17" dur="500" fill="hold"/>
                                        <p:tgtEl>
                                          <p:spTgt spid="93"/>
                                        </p:tgtEl>
                                        <p:attrNameLst>
                                          <p:attrName>ppt_x</p:attrName>
                                        </p:attrNameLst>
                                      </p:cBhvr>
                                      <p:tavLst>
                                        <p:tav tm="0">
                                          <p:val>
                                            <p:strVal val="#ppt_x"/>
                                          </p:val>
                                        </p:tav>
                                        <p:tav tm="100000">
                                          <p:val>
                                            <p:strVal val="#ppt_x"/>
                                          </p:val>
                                        </p:tav>
                                      </p:tavLst>
                                    </p:anim>
                                    <p:anim calcmode="lin" valueType="num">
                                      <p:cBhvr additive="base">
                                        <p:cTn id="18"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295565" y="123825"/>
            <a:ext cx="11720222"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Carry Lookahead Adder Hint (Carry Out Boolean Expression)</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295565" y="695627"/>
            <a:ext cx="6868715" cy="6121848"/>
          </a:xfrm>
        </p:spPr>
        <p:txBody>
          <a:bodyPr>
            <a:noAutofit/>
          </a:bodyPr>
          <a:lstStyle/>
          <a:p>
            <a:r>
              <a:rPr lang="en-US" sz="2000" b="1" dirty="0"/>
              <a:t>In Yellow marked rows in full adder truth table, </a:t>
            </a:r>
            <a:r>
              <a:rPr lang="en-US" sz="2000" b="1" dirty="0" err="1"/>
              <a:t>Cout</a:t>
            </a:r>
            <a:r>
              <a:rPr lang="en-US" sz="2000" b="1" dirty="0"/>
              <a:t> = 1 when either A=1 or B =1, provided </a:t>
            </a:r>
            <a:r>
              <a:rPr lang="en-US" sz="2000" b="1" dirty="0" err="1"/>
              <a:t>Cin</a:t>
            </a:r>
            <a:r>
              <a:rPr lang="en-US" sz="2000" b="1" dirty="0"/>
              <a:t> = 1</a:t>
            </a:r>
          </a:p>
          <a:p>
            <a:pPr lvl="1"/>
            <a:r>
              <a:rPr lang="en-US" sz="2000" dirty="0"/>
              <a:t>In another words, incoming carry (</a:t>
            </a:r>
            <a:r>
              <a:rPr lang="en-US" sz="2000" dirty="0" err="1"/>
              <a:t>Cin</a:t>
            </a:r>
            <a:r>
              <a:rPr lang="en-US" sz="2000" dirty="0"/>
              <a:t>=1) is propagated to carry out (</a:t>
            </a:r>
            <a:r>
              <a:rPr lang="en-US" sz="2000" dirty="0" err="1"/>
              <a:t>Cout</a:t>
            </a:r>
            <a:r>
              <a:rPr lang="en-US" sz="2000" dirty="0"/>
              <a:t>) if one of the input’s is 1 and other is 0 </a:t>
            </a:r>
          </a:p>
          <a:p>
            <a:pPr lvl="1"/>
            <a:r>
              <a:rPr lang="en-US" sz="2000" dirty="0"/>
              <a:t>This can be represented as : </a:t>
            </a:r>
            <a:r>
              <a:rPr lang="en-US" sz="2000" b="1" dirty="0">
                <a:solidFill>
                  <a:schemeClr val="accent6">
                    <a:lumMod val="50000"/>
                  </a:schemeClr>
                </a:solidFill>
              </a:rPr>
              <a:t>(A[</a:t>
            </a:r>
            <a:r>
              <a:rPr lang="en-US" sz="2000" b="1" dirty="0" err="1">
                <a:solidFill>
                  <a:schemeClr val="accent6">
                    <a:lumMod val="50000"/>
                  </a:schemeClr>
                </a:solidFill>
              </a:rPr>
              <a:t>i</a:t>
            </a:r>
            <a:r>
              <a:rPr lang="en-US" sz="2000" b="1" dirty="0">
                <a:solidFill>
                  <a:schemeClr val="accent6">
                    <a:lumMod val="50000"/>
                  </a:schemeClr>
                </a:solidFill>
              </a:rPr>
              <a:t>] | B[</a:t>
            </a:r>
            <a:r>
              <a:rPr lang="en-US" sz="2000" b="1" dirty="0" err="1">
                <a:solidFill>
                  <a:schemeClr val="accent6">
                    <a:lumMod val="50000"/>
                  </a:schemeClr>
                </a:solidFill>
              </a:rPr>
              <a:t>i</a:t>
            </a:r>
            <a:r>
              <a:rPr lang="en-US" sz="2000" b="1" dirty="0">
                <a:solidFill>
                  <a:schemeClr val="accent6">
                    <a:lumMod val="50000"/>
                  </a:schemeClr>
                </a:solidFill>
              </a:rPr>
              <a:t>]) &amp; </a:t>
            </a:r>
            <a:r>
              <a:rPr lang="en-US" sz="2000" b="1" dirty="0" err="1">
                <a:solidFill>
                  <a:schemeClr val="accent6">
                    <a:lumMod val="50000"/>
                  </a:schemeClr>
                </a:solidFill>
              </a:rPr>
              <a:t>Cin</a:t>
            </a:r>
            <a:r>
              <a:rPr lang="en-US" sz="2000" b="1" dirty="0">
                <a:solidFill>
                  <a:schemeClr val="accent6">
                    <a:lumMod val="50000"/>
                  </a:schemeClr>
                </a:solidFill>
              </a:rPr>
              <a:t>[</a:t>
            </a:r>
            <a:r>
              <a:rPr lang="en-US" sz="2000" b="1" dirty="0" err="1">
                <a:solidFill>
                  <a:schemeClr val="accent6">
                    <a:lumMod val="50000"/>
                  </a:schemeClr>
                </a:solidFill>
              </a:rPr>
              <a:t>i</a:t>
            </a:r>
            <a:r>
              <a:rPr lang="en-US" sz="2000" b="1" dirty="0">
                <a:solidFill>
                  <a:schemeClr val="accent6">
                    <a:lumMod val="50000"/>
                  </a:schemeClr>
                </a:solidFill>
              </a:rPr>
              <a:t>] </a:t>
            </a:r>
          </a:p>
          <a:p>
            <a:pPr lvl="1"/>
            <a:r>
              <a:rPr lang="en-US" sz="2000" dirty="0"/>
              <a:t>This is known as </a:t>
            </a:r>
            <a:r>
              <a:rPr lang="en-US" sz="2000" b="1" dirty="0"/>
              <a:t>propagate</a:t>
            </a:r>
            <a:r>
              <a:rPr lang="en-US" sz="2000" dirty="0"/>
              <a:t> </a:t>
            </a:r>
            <a:r>
              <a:rPr lang="en-US" sz="2000" dirty="0" err="1"/>
              <a:t>carryin</a:t>
            </a:r>
            <a:r>
              <a:rPr lang="en-US" sz="2000" dirty="0"/>
              <a:t> to carryout</a:t>
            </a:r>
          </a:p>
          <a:p>
            <a:endParaRPr lang="en-US" sz="2000" b="1" dirty="0"/>
          </a:p>
          <a:p>
            <a:r>
              <a:rPr lang="en-US" sz="2000" b="1" dirty="0"/>
              <a:t>In red marked rows in full adder truth table, </a:t>
            </a:r>
            <a:r>
              <a:rPr lang="en-US" sz="2000" b="1" dirty="0" err="1"/>
              <a:t>Cout</a:t>
            </a:r>
            <a:r>
              <a:rPr lang="en-US" sz="2000" b="1" dirty="0"/>
              <a:t> = 1 when both A = 1 and B = 1, whether </a:t>
            </a:r>
            <a:r>
              <a:rPr lang="en-US" sz="2000" b="1" dirty="0" err="1"/>
              <a:t>Cin</a:t>
            </a:r>
            <a:r>
              <a:rPr lang="en-US" sz="2000" b="1" dirty="0"/>
              <a:t> = 1 or 0</a:t>
            </a:r>
          </a:p>
          <a:p>
            <a:pPr lvl="1"/>
            <a:r>
              <a:rPr lang="en-US" sz="2000" dirty="0"/>
              <a:t>A carry out (</a:t>
            </a:r>
            <a:r>
              <a:rPr lang="en-US" sz="2000" dirty="0" err="1"/>
              <a:t>Cout</a:t>
            </a:r>
            <a:r>
              <a:rPr lang="en-US" sz="2000" dirty="0"/>
              <a:t>) is generated if both A and B are 1 irrespective of the fact that previous carry (</a:t>
            </a:r>
            <a:r>
              <a:rPr lang="en-US" sz="2000" dirty="0" err="1"/>
              <a:t>Cin</a:t>
            </a:r>
            <a:r>
              <a:rPr lang="en-US" sz="2000" dirty="0"/>
              <a:t>) was 1 or 0</a:t>
            </a:r>
          </a:p>
          <a:p>
            <a:pPr lvl="1"/>
            <a:r>
              <a:rPr lang="en-US" sz="2000" dirty="0"/>
              <a:t>This can be represented as :   </a:t>
            </a:r>
            <a:r>
              <a:rPr lang="en-US" sz="2000" b="1" dirty="0">
                <a:solidFill>
                  <a:schemeClr val="accent5">
                    <a:lumMod val="75000"/>
                  </a:schemeClr>
                </a:solidFill>
              </a:rPr>
              <a:t>A[</a:t>
            </a:r>
            <a:r>
              <a:rPr lang="en-US" sz="2000" b="1" dirty="0" err="1">
                <a:solidFill>
                  <a:schemeClr val="accent5">
                    <a:lumMod val="75000"/>
                  </a:schemeClr>
                </a:solidFill>
              </a:rPr>
              <a:t>i</a:t>
            </a:r>
            <a:r>
              <a:rPr lang="en-US" sz="2000" b="1" dirty="0">
                <a:solidFill>
                  <a:schemeClr val="accent5">
                    <a:lumMod val="75000"/>
                  </a:schemeClr>
                </a:solidFill>
              </a:rPr>
              <a:t>] &amp; B[</a:t>
            </a:r>
            <a:r>
              <a:rPr lang="en-US" sz="2000" b="1" dirty="0" err="1">
                <a:solidFill>
                  <a:schemeClr val="accent5">
                    <a:lumMod val="75000"/>
                  </a:schemeClr>
                </a:solidFill>
              </a:rPr>
              <a:t>i</a:t>
            </a:r>
            <a:r>
              <a:rPr lang="en-US" sz="2000" b="1" dirty="0">
                <a:solidFill>
                  <a:schemeClr val="accent5">
                    <a:lumMod val="75000"/>
                  </a:schemeClr>
                </a:solidFill>
              </a:rPr>
              <a:t>]  </a:t>
            </a:r>
          </a:p>
          <a:p>
            <a:pPr lvl="1"/>
            <a:r>
              <a:rPr lang="en-US" sz="2000" dirty="0"/>
              <a:t>This is known as </a:t>
            </a:r>
            <a:r>
              <a:rPr lang="en-US" sz="2000" b="1" dirty="0"/>
              <a:t>generate</a:t>
            </a:r>
            <a:r>
              <a:rPr lang="en-US" sz="2000" dirty="0"/>
              <a:t> carryout</a:t>
            </a:r>
            <a:endParaRPr lang="en-US" sz="2000" b="1" dirty="0">
              <a:solidFill>
                <a:schemeClr val="accent5">
                  <a:lumMod val="75000"/>
                </a:schemeClr>
              </a:solidFill>
            </a:endParaRPr>
          </a:p>
          <a:p>
            <a:endParaRPr lang="en-US" sz="2000" b="1" dirty="0"/>
          </a:p>
          <a:p>
            <a:r>
              <a:rPr lang="en-US" sz="2000" b="1" dirty="0"/>
              <a:t>Hence final Boolean expression for Carry out (</a:t>
            </a:r>
            <a:r>
              <a:rPr lang="en-US" sz="2000" b="1" dirty="0" err="1"/>
              <a:t>Cout</a:t>
            </a:r>
            <a:r>
              <a:rPr lang="en-US" sz="2000" b="1" dirty="0"/>
              <a:t>) generation is  combination of above mentioned :</a:t>
            </a:r>
          </a:p>
          <a:p>
            <a:pPr lvl="1"/>
            <a:r>
              <a:rPr lang="en-US" sz="2000" dirty="0" err="1"/>
              <a:t>Cout</a:t>
            </a:r>
            <a:r>
              <a:rPr lang="en-US" sz="2000" dirty="0"/>
              <a:t>[i+1] = (</a:t>
            </a:r>
            <a:r>
              <a:rPr lang="en-US" sz="2000" b="1" dirty="0">
                <a:solidFill>
                  <a:schemeClr val="accent6">
                    <a:lumMod val="50000"/>
                  </a:schemeClr>
                </a:solidFill>
              </a:rPr>
              <a:t>(A[</a:t>
            </a:r>
            <a:r>
              <a:rPr lang="en-US" sz="2000" b="1" dirty="0" err="1">
                <a:solidFill>
                  <a:schemeClr val="accent6">
                    <a:lumMod val="50000"/>
                  </a:schemeClr>
                </a:solidFill>
              </a:rPr>
              <a:t>i</a:t>
            </a:r>
            <a:r>
              <a:rPr lang="en-US" sz="2000" b="1" dirty="0">
                <a:solidFill>
                  <a:schemeClr val="accent6">
                    <a:lumMod val="50000"/>
                  </a:schemeClr>
                </a:solidFill>
              </a:rPr>
              <a:t>] | B[</a:t>
            </a:r>
            <a:r>
              <a:rPr lang="en-US" sz="2000" b="1" dirty="0" err="1">
                <a:solidFill>
                  <a:schemeClr val="accent6">
                    <a:lumMod val="50000"/>
                  </a:schemeClr>
                </a:solidFill>
              </a:rPr>
              <a:t>i</a:t>
            </a:r>
            <a:r>
              <a:rPr lang="en-US" sz="2000" b="1" dirty="0">
                <a:solidFill>
                  <a:schemeClr val="accent6">
                    <a:lumMod val="50000"/>
                  </a:schemeClr>
                </a:solidFill>
              </a:rPr>
              <a:t>]) &amp; </a:t>
            </a:r>
            <a:r>
              <a:rPr lang="en-US" sz="2000" b="1" dirty="0" err="1">
                <a:solidFill>
                  <a:schemeClr val="accent6">
                    <a:lumMod val="50000"/>
                  </a:schemeClr>
                </a:solidFill>
              </a:rPr>
              <a:t>Cin</a:t>
            </a:r>
            <a:r>
              <a:rPr lang="en-US" sz="2000" b="1" dirty="0">
                <a:solidFill>
                  <a:schemeClr val="accent6">
                    <a:lumMod val="50000"/>
                  </a:schemeClr>
                </a:solidFill>
              </a:rPr>
              <a:t>[</a:t>
            </a:r>
            <a:r>
              <a:rPr lang="en-US" sz="2000" b="1" dirty="0" err="1">
                <a:solidFill>
                  <a:schemeClr val="accent6">
                    <a:lumMod val="50000"/>
                  </a:schemeClr>
                </a:solidFill>
              </a:rPr>
              <a:t>i</a:t>
            </a:r>
            <a:r>
              <a:rPr lang="en-US" sz="2000" b="1" dirty="0">
                <a:solidFill>
                  <a:schemeClr val="accent6">
                    <a:lumMod val="50000"/>
                  </a:schemeClr>
                </a:solidFill>
              </a:rPr>
              <a:t>])  |</a:t>
            </a:r>
            <a:r>
              <a:rPr lang="en-US" sz="2000" dirty="0"/>
              <a:t>  </a:t>
            </a:r>
            <a:r>
              <a:rPr lang="en-US" sz="2000" b="1" dirty="0">
                <a:solidFill>
                  <a:schemeClr val="accent5">
                    <a:lumMod val="75000"/>
                  </a:schemeClr>
                </a:solidFill>
              </a:rPr>
              <a:t>(A[</a:t>
            </a:r>
            <a:r>
              <a:rPr lang="en-US" sz="2000" b="1" dirty="0" err="1">
                <a:solidFill>
                  <a:schemeClr val="accent5">
                    <a:lumMod val="75000"/>
                  </a:schemeClr>
                </a:solidFill>
              </a:rPr>
              <a:t>i</a:t>
            </a:r>
            <a:r>
              <a:rPr lang="en-US" sz="2000" b="1" dirty="0">
                <a:solidFill>
                  <a:schemeClr val="accent5">
                    <a:lumMod val="75000"/>
                  </a:schemeClr>
                </a:solidFill>
              </a:rPr>
              <a:t>] &amp; B[</a:t>
            </a:r>
            <a:r>
              <a:rPr lang="en-US" sz="2000" b="1" dirty="0" err="1">
                <a:solidFill>
                  <a:schemeClr val="accent5">
                    <a:lumMod val="75000"/>
                  </a:schemeClr>
                </a:solidFill>
              </a:rPr>
              <a:t>i</a:t>
            </a:r>
            <a:r>
              <a:rPr lang="en-US" sz="2000" b="1" dirty="0">
                <a:solidFill>
                  <a:schemeClr val="accent5">
                    <a:lumMod val="75000"/>
                  </a:schemeClr>
                </a:solidFill>
              </a:rPr>
              <a:t>])</a:t>
            </a:r>
            <a:r>
              <a:rPr lang="en-US" sz="2000" dirty="0"/>
              <a:t> </a:t>
            </a:r>
          </a:p>
          <a:p>
            <a:pPr marL="0" indent="0">
              <a:buNone/>
            </a:pPr>
            <a:endParaRPr lang="en-US" sz="2000"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463357"/>
            <a:ext cx="2743200" cy="365125"/>
          </a:xfrm>
        </p:spPr>
        <p:txBody>
          <a:bodyPr/>
          <a:lstStyle/>
          <a:p>
            <a:fld id="{3A98EE3D-8CD1-4C3F-BD1C-C98C9596463C}" type="slidenum">
              <a:rPr lang="en-US" smtClean="0"/>
              <a:t>7</a:t>
            </a:fld>
            <a:endParaRPr lang="en-US" dirty="0"/>
          </a:p>
        </p:txBody>
      </p:sp>
      <p:pic>
        <p:nvPicPr>
          <p:cNvPr id="11" name="Picture 10">
            <a:extLst>
              <a:ext uri="{FF2B5EF4-FFF2-40B4-BE49-F238E27FC236}">
                <a16:creationId xmlns:a16="http://schemas.microsoft.com/office/drawing/2014/main" id="{E8959FE7-18CB-4BF2-9A71-2E7A527D01D4}"/>
              </a:ext>
            </a:extLst>
          </p:cNvPr>
          <p:cNvPicPr>
            <a:picLocks noChangeAspect="1"/>
          </p:cNvPicPr>
          <p:nvPr/>
        </p:nvPicPr>
        <p:blipFill>
          <a:blip r:embed="rId2"/>
          <a:stretch>
            <a:fillRect/>
          </a:stretch>
        </p:blipFill>
        <p:spPr>
          <a:xfrm>
            <a:off x="8066827" y="681451"/>
            <a:ext cx="3505200" cy="2676525"/>
          </a:xfrm>
          <a:prstGeom prst="rect">
            <a:avLst/>
          </a:prstGeom>
        </p:spPr>
      </p:pic>
      <p:cxnSp>
        <p:nvCxnSpPr>
          <p:cNvPr id="17" name="Straight Arrow Connector 16">
            <a:extLst>
              <a:ext uri="{FF2B5EF4-FFF2-40B4-BE49-F238E27FC236}">
                <a16:creationId xmlns:a16="http://schemas.microsoft.com/office/drawing/2014/main" id="{1D071306-C72F-4736-9FE2-D7C20961420A}"/>
              </a:ext>
            </a:extLst>
          </p:cNvPr>
          <p:cNvCxnSpPr>
            <a:cxnSpLocks/>
          </p:cNvCxnSpPr>
          <p:nvPr/>
        </p:nvCxnSpPr>
        <p:spPr>
          <a:xfrm>
            <a:off x="6587230" y="994293"/>
            <a:ext cx="1526959" cy="11541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285B0D2-F82C-4DED-BF57-8F650FAD9653}"/>
              </a:ext>
            </a:extLst>
          </p:cNvPr>
          <p:cNvCxnSpPr>
            <a:cxnSpLocks/>
          </p:cNvCxnSpPr>
          <p:nvPr/>
        </p:nvCxnSpPr>
        <p:spPr>
          <a:xfrm>
            <a:off x="6587230" y="994293"/>
            <a:ext cx="1526959" cy="1642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A150AF1A-AE8B-492C-AB36-7079FEBD75CE}"/>
              </a:ext>
            </a:extLst>
          </p:cNvPr>
          <p:cNvPicPr>
            <a:picLocks noChangeAspect="1"/>
          </p:cNvPicPr>
          <p:nvPr/>
        </p:nvPicPr>
        <p:blipFill>
          <a:blip r:embed="rId3"/>
          <a:stretch>
            <a:fillRect/>
          </a:stretch>
        </p:blipFill>
        <p:spPr>
          <a:xfrm>
            <a:off x="8105310" y="3659469"/>
            <a:ext cx="3524250" cy="2667000"/>
          </a:xfrm>
          <a:prstGeom prst="rect">
            <a:avLst/>
          </a:prstGeom>
        </p:spPr>
      </p:pic>
      <p:cxnSp>
        <p:nvCxnSpPr>
          <p:cNvPr id="92" name="Straight Arrow Connector 91">
            <a:extLst>
              <a:ext uri="{FF2B5EF4-FFF2-40B4-BE49-F238E27FC236}">
                <a16:creationId xmlns:a16="http://schemas.microsoft.com/office/drawing/2014/main" id="{560AEB30-E599-45F6-A525-D7F6304039CF}"/>
              </a:ext>
            </a:extLst>
          </p:cNvPr>
          <p:cNvCxnSpPr>
            <a:cxnSpLocks/>
          </p:cNvCxnSpPr>
          <p:nvPr/>
        </p:nvCxnSpPr>
        <p:spPr>
          <a:xfrm>
            <a:off x="7019922" y="3410777"/>
            <a:ext cx="1085388" cy="23236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5AC6DA3D-C5DF-4DAA-AA7B-A6504683FF52}"/>
              </a:ext>
            </a:extLst>
          </p:cNvPr>
          <p:cNvCxnSpPr>
            <a:cxnSpLocks/>
          </p:cNvCxnSpPr>
          <p:nvPr/>
        </p:nvCxnSpPr>
        <p:spPr>
          <a:xfrm>
            <a:off x="6976533" y="3357976"/>
            <a:ext cx="1208679" cy="28185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057E2F4-C081-4F0B-A2EC-C43A421956FD}"/>
              </a:ext>
            </a:extLst>
          </p:cNvPr>
          <p:cNvSpPr txBox="1"/>
          <p:nvPr/>
        </p:nvSpPr>
        <p:spPr>
          <a:xfrm>
            <a:off x="8712485" y="3339446"/>
            <a:ext cx="2539430" cy="338554"/>
          </a:xfrm>
          <a:prstGeom prst="rect">
            <a:avLst/>
          </a:prstGeom>
          <a:noFill/>
        </p:spPr>
        <p:txBody>
          <a:bodyPr wrap="square" rtlCol="0">
            <a:spAutoFit/>
          </a:bodyPr>
          <a:lstStyle/>
          <a:p>
            <a:pPr algn="ctr"/>
            <a:r>
              <a:rPr lang="en-US" sz="1600" b="1" dirty="0">
                <a:solidFill>
                  <a:srgbClr val="C00000"/>
                </a:solidFill>
              </a:rPr>
              <a:t>Full Adder Truth Table</a:t>
            </a:r>
          </a:p>
        </p:txBody>
      </p:sp>
      <p:sp>
        <p:nvSpPr>
          <p:cNvPr id="6" name="Rectangle 5">
            <a:extLst>
              <a:ext uri="{FF2B5EF4-FFF2-40B4-BE49-F238E27FC236}">
                <a16:creationId xmlns:a16="http://schemas.microsoft.com/office/drawing/2014/main" id="{F88939A3-F10F-4447-A54E-9E22D7497827}"/>
              </a:ext>
            </a:extLst>
          </p:cNvPr>
          <p:cNvSpPr/>
          <p:nvPr/>
        </p:nvSpPr>
        <p:spPr>
          <a:xfrm>
            <a:off x="8105310" y="2000250"/>
            <a:ext cx="1362540" cy="285034"/>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6A8699-0792-45F4-B715-7DC028774FA6}"/>
              </a:ext>
            </a:extLst>
          </p:cNvPr>
          <p:cNvSpPr/>
          <p:nvPr/>
        </p:nvSpPr>
        <p:spPr>
          <a:xfrm>
            <a:off x="8105310" y="2504034"/>
            <a:ext cx="1362540" cy="285034"/>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D86AD40-B6C4-4F42-96FC-F954CDC7825A}"/>
              </a:ext>
            </a:extLst>
          </p:cNvPr>
          <p:cNvSpPr/>
          <p:nvPr/>
        </p:nvSpPr>
        <p:spPr>
          <a:xfrm>
            <a:off x="8105310" y="5739943"/>
            <a:ext cx="1463338" cy="518980"/>
          </a:xfrm>
          <a:prstGeom prst="rect">
            <a:avLst/>
          </a:prstGeom>
          <a:noFill/>
          <a:ln w="2540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6325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Carry Kill, Anyone?</a:t>
            </a:r>
            <a:endParaRPr lang="en-US"/>
          </a:p>
        </p:txBody>
      </p:sp>
      <p:sp>
        <p:nvSpPr>
          <p:cNvPr id="3" name="Content Placeholder 2"/>
          <p:cNvSpPr>
            <a:spLocks noGrp="1"/>
          </p:cNvSpPr>
          <p:nvPr>
            <p:ph idx="1"/>
          </p:nvPr>
        </p:nvSpPr>
        <p:spPr/>
        <p:txBody>
          <a:bodyPr/>
          <a:lstStyle/>
          <a:p>
            <a:r>
              <a:rPr lang="en-US" smtClean="0"/>
              <a:t>We saw how to do carry generate and carry propagate. </a:t>
            </a:r>
          </a:p>
          <a:p>
            <a:r>
              <a:rPr lang="en-US" smtClean="0"/>
              <a:t>Generate produces carry_out = 1 w/o waiting for carry_in.</a:t>
            </a:r>
          </a:p>
          <a:p>
            <a:r>
              <a:rPr lang="en-US" smtClean="0"/>
              <a:t>Propagate passes carry_in to carry out, but faster than ripple. </a:t>
            </a:r>
          </a:p>
          <a:p>
            <a:r>
              <a:rPr lang="en-US" smtClean="0"/>
              <a:t>Could we somehow make a carry kill, which produces carry_out = 0? </a:t>
            </a:r>
          </a:p>
          <a:p>
            <a:pPr lvl="1"/>
            <a:r>
              <a:rPr lang="en-US" smtClean="0"/>
              <a:t>Any advantage? </a:t>
            </a:r>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8</a:t>
            </a:fld>
            <a:endParaRPr lang="en-US" dirty="0"/>
          </a:p>
        </p:txBody>
      </p:sp>
    </p:spTree>
    <p:extLst>
      <p:ext uri="{BB962C8B-B14F-4D97-AF65-F5344CB8AC3E}">
        <p14:creationId xmlns:p14="http://schemas.microsoft.com/office/powerpoint/2010/main" val="3531597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295565" y="123825"/>
            <a:ext cx="11720222"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Carry Lookahead Adder Hint (Carry Out Boolean Expression)</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295565" y="695627"/>
            <a:ext cx="11429710" cy="6121848"/>
          </a:xfrm>
        </p:spPr>
        <p:txBody>
          <a:bodyPr>
            <a:noAutofit/>
          </a:bodyPr>
          <a:lstStyle/>
          <a:p>
            <a:r>
              <a:rPr lang="en-US" sz="2000" b="1" dirty="0"/>
              <a:t>Carry Generate :  G(</a:t>
            </a:r>
            <a:r>
              <a:rPr lang="en-US" sz="2000" b="1" dirty="0" err="1"/>
              <a:t>i</a:t>
            </a:r>
            <a:r>
              <a:rPr lang="en-US" sz="2000" b="1" dirty="0"/>
              <a:t>) = (A[</a:t>
            </a:r>
            <a:r>
              <a:rPr lang="en-US" sz="2000" b="1" dirty="0" err="1"/>
              <a:t>i</a:t>
            </a:r>
            <a:r>
              <a:rPr lang="en-US" sz="2000" b="1" dirty="0"/>
              <a:t>].B[</a:t>
            </a:r>
            <a:r>
              <a:rPr lang="en-US" sz="2000" b="1" dirty="0" err="1"/>
              <a:t>i</a:t>
            </a:r>
            <a:r>
              <a:rPr lang="en-US" sz="2000" b="1" dirty="0"/>
              <a:t>])     </a:t>
            </a:r>
            <a:r>
              <a:rPr lang="en-US" sz="2000" b="1" dirty="0">
                <a:solidFill>
                  <a:schemeClr val="accent1">
                    <a:lumMod val="75000"/>
                  </a:schemeClr>
                </a:solidFill>
              </a:rPr>
              <a:t>// Note : </a:t>
            </a:r>
            <a:r>
              <a:rPr lang="en-US" sz="2000" b="1" dirty="0">
                <a:solidFill>
                  <a:srgbClr val="C00000"/>
                </a:solidFill>
              </a:rPr>
              <a:t>&amp;</a:t>
            </a:r>
            <a:r>
              <a:rPr lang="en-US" sz="2000" b="1" dirty="0">
                <a:solidFill>
                  <a:schemeClr val="accent1">
                    <a:lumMod val="75000"/>
                  </a:schemeClr>
                </a:solidFill>
              </a:rPr>
              <a:t> is represented as </a:t>
            </a:r>
            <a:r>
              <a:rPr lang="en-US" sz="2000" b="1" dirty="0">
                <a:solidFill>
                  <a:srgbClr val="C00000"/>
                </a:solidFill>
              </a:rPr>
              <a:t>.</a:t>
            </a:r>
          </a:p>
          <a:p>
            <a:r>
              <a:rPr lang="en-US" sz="2000" b="1" dirty="0"/>
              <a:t>Carry Propagate : P(</a:t>
            </a:r>
            <a:r>
              <a:rPr lang="en-US" sz="2000" b="1" dirty="0" err="1"/>
              <a:t>i</a:t>
            </a:r>
            <a:r>
              <a:rPr lang="en-US" sz="2000" b="1" dirty="0"/>
              <a:t>) = (A[</a:t>
            </a:r>
            <a:r>
              <a:rPr lang="en-US" sz="2000" b="1" dirty="0" err="1"/>
              <a:t>i</a:t>
            </a:r>
            <a:r>
              <a:rPr lang="en-US" sz="2000" b="1" dirty="0"/>
              <a:t>]+B[</a:t>
            </a:r>
            <a:r>
              <a:rPr lang="en-US" sz="2000" b="1" dirty="0" err="1"/>
              <a:t>i</a:t>
            </a:r>
            <a:r>
              <a:rPr lang="en-US" sz="2000" b="1" dirty="0"/>
              <a:t>])    </a:t>
            </a:r>
            <a:r>
              <a:rPr lang="en-US" sz="2000" b="1" dirty="0">
                <a:solidFill>
                  <a:schemeClr val="accent1">
                    <a:lumMod val="75000"/>
                  </a:schemeClr>
                </a:solidFill>
              </a:rPr>
              <a:t>// Note : </a:t>
            </a:r>
            <a:r>
              <a:rPr lang="en-US" sz="2000" b="1" dirty="0">
                <a:solidFill>
                  <a:srgbClr val="C00000"/>
                </a:solidFill>
              </a:rPr>
              <a:t>|</a:t>
            </a:r>
            <a:r>
              <a:rPr lang="en-US" sz="2000" b="1" dirty="0">
                <a:solidFill>
                  <a:schemeClr val="accent1">
                    <a:lumMod val="75000"/>
                  </a:schemeClr>
                </a:solidFill>
              </a:rPr>
              <a:t> is represented as </a:t>
            </a:r>
            <a:r>
              <a:rPr lang="en-US" sz="2000" b="1" dirty="0">
                <a:solidFill>
                  <a:srgbClr val="C00000"/>
                </a:solidFill>
              </a:rPr>
              <a:t>+</a:t>
            </a:r>
          </a:p>
          <a:p>
            <a:r>
              <a:rPr lang="en-US" sz="2000" b="1" dirty="0"/>
              <a:t>Generate and Propagate Carry : C[i+1] = G[</a:t>
            </a:r>
            <a:r>
              <a:rPr lang="en-US" sz="2000" b="1" dirty="0" err="1"/>
              <a:t>i</a:t>
            </a:r>
            <a:r>
              <a:rPr lang="en-US" sz="2000" b="1" dirty="0"/>
              <a:t>] + P[</a:t>
            </a:r>
            <a:r>
              <a:rPr lang="en-US" sz="2000" b="1" dirty="0" err="1"/>
              <a:t>i</a:t>
            </a:r>
            <a:r>
              <a:rPr lang="en-US" sz="2000" b="1" dirty="0"/>
              <a:t>].C[</a:t>
            </a:r>
            <a:r>
              <a:rPr lang="en-US" sz="2000" b="1" dirty="0" err="1"/>
              <a:t>i</a:t>
            </a:r>
            <a:r>
              <a:rPr lang="en-US" sz="2000" b="1" dirty="0"/>
              <a:t>]   </a:t>
            </a:r>
          </a:p>
          <a:p>
            <a:r>
              <a:rPr lang="en-US" sz="2000" b="1" dirty="0"/>
              <a:t>Carry inputs for each Full Adder Instance equations can be expanded as shown below </a:t>
            </a:r>
          </a:p>
          <a:p>
            <a:pPr marL="342900" lvl="1" indent="0">
              <a:buNone/>
            </a:pPr>
            <a:r>
              <a:rPr lang="en-US" sz="1600" b="1" dirty="0"/>
              <a:t>C[1] = G[0] + P[0].C[0]    </a:t>
            </a:r>
            <a:endParaRPr lang="en-US" sz="1600" b="1" dirty="0">
              <a:sym typeface="Wingdings" panose="05000000000000000000" pitchFamily="2" charset="2"/>
            </a:endParaRPr>
          </a:p>
          <a:p>
            <a:pPr marL="342900" lvl="1" indent="0">
              <a:buNone/>
            </a:pPr>
            <a:r>
              <a:rPr lang="en-US" sz="1600" b="1" dirty="0">
                <a:sym typeface="Wingdings" panose="05000000000000000000" pitchFamily="2" charset="2"/>
              </a:rPr>
              <a:t>         = G[0] + P[0].</a:t>
            </a:r>
            <a:r>
              <a:rPr lang="en-US" sz="1600" b="1" dirty="0" err="1">
                <a:sym typeface="Wingdings" panose="05000000000000000000" pitchFamily="2" charset="2"/>
              </a:rPr>
              <a:t>Cin</a:t>
            </a:r>
            <a:r>
              <a:rPr lang="en-US" sz="1600" b="1" dirty="0">
                <a:sym typeface="Wingdings" panose="05000000000000000000" pitchFamily="2" charset="2"/>
              </a:rPr>
              <a:t>   </a:t>
            </a:r>
            <a:r>
              <a:rPr lang="en-US" sz="1600" b="1" dirty="0">
                <a:solidFill>
                  <a:schemeClr val="accent1">
                    <a:lumMod val="75000"/>
                  </a:schemeClr>
                </a:solidFill>
                <a:sym typeface="Wingdings" panose="05000000000000000000" pitchFamily="2" charset="2"/>
              </a:rPr>
              <a:t>// Note : Replaced C[0] with </a:t>
            </a:r>
            <a:r>
              <a:rPr lang="en-US" sz="1600" b="1" dirty="0" err="1">
                <a:solidFill>
                  <a:schemeClr val="accent1">
                    <a:lumMod val="75000"/>
                  </a:schemeClr>
                </a:solidFill>
                <a:sym typeface="Wingdings" panose="05000000000000000000" pitchFamily="2" charset="2"/>
              </a:rPr>
              <a:t>Cin</a:t>
            </a:r>
            <a:r>
              <a:rPr lang="en-US" sz="1600" b="1" dirty="0">
                <a:solidFill>
                  <a:schemeClr val="accent1">
                    <a:lumMod val="75000"/>
                  </a:schemeClr>
                </a:solidFill>
                <a:sym typeface="Wingdings" panose="05000000000000000000" pitchFamily="2" charset="2"/>
              </a:rPr>
              <a:t>. C[0] is the input carry to first stage full adder</a:t>
            </a:r>
            <a:endParaRPr lang="en-US" sz="1600" b="1" dirty="0">
              <a:solidFill>
                <a:schemeClr val="accent1">
                  <a:lumMod val="75000"/>
                </a:schemeClr>
              </a:solidFill>
            </a:endParaRPr>
          </a:p>
          <a:p>
            <a:pPr marL="342900" lvl="1" indent="0">
              <a:buNone/>
            </a:pPr>
            <a:endParaRPr lang="en-US" sz="1600" b="1" dirty="0"/>
          </a:p>
          <a:p>
            <a:pPr marL="342900" lvl="1" indent="0">
              <a:buNone/>
            </a:pPr>
            <a:r>
              <a:rPr lang="en-US" sz="1600" b="1" dirty="0"/>
              <a:t>C[2] = G[1] + P[1].C[1]  </a:t>
            </a:r>
            <a:r>
              <a:rPr lang="en-US" sz="1600" b="1" dirty="0">
                <a:solidFill>
                  <a:schemeClr val="accent1">
                    <a:lumMod val="75000"/>
                  </a:schemeClr>
                </a:solidFill>
                <a:sym typeface="Wingdings" panose="05000000000000000000" pitchFamily="2" charset="2"/>
              </a:rPr>
              <a:t>// Note : C[1] can be replaced with G[0] + P[0].</a:t>
            </a:r>
            <a:r>
              <a:rPr lang="en-US" sz="1600" b="1" dirty="0" err="1">
                <a:solidFill>
                  <a:schemeClr val="accent1">
                    <a:lumMod val="75000"/>
                  </a:schemeClr>
                </a:solidFill>
                <a:sym typeface="Wingdings" panose="05000000000000000000" pitchFamily="2" charset="2"/>
              </a:rPr>
              <a:t>Cin</a:t>
            </a:r>
            <a:r>
              <a:rPr lang="en-US" sz="1600" b="1" dirty="0">
                <a:solidFill>
                  <a:schemeClr val="accent1">
                    <a:lumMod val="75000"/>
                  </a:schemeClr>
                </a:solidFill>
                <a:sym typeface="Wingdings" panose="05000000000000000000" pitchFamily="2" charset="2"/>
              </a:rPr>
              <a:t> </a:t>
            </a:r>
            <a:endParaRPr lang="en-US" sz="1600" b="1" dirty="0">
              <a:solidFill>
                <a:schemeClr val="accent1">
                  <a:lumMod val="75000"/>
                </a:schemeClr>
              </a:solidFill>
            </a:endParaRPr>
          </a:p>
          <a:p>
            <a:pPr marL="342900" lvl="1" indent="0">
              <a:buNone/>
            </a:pPr>
            <a:r>
              <a:rPr lang="en-US" sz="1600" b="1" dirty="0"/>
              <a:t>         = G[1] + P[1] (G[0] + P[0].</a:t>
            </a:r>
            <a:r>
              <a:rPr lang="en-US" sz="1600" b="1" dirty="0" err="1"/>
              <a:t>Cin</a:t>
            </a:r>
            <a:r>
              <a:rPr lang="en-US" sz="1600" b="1" dirty="0"/>
              <a:t>)</a:t>
            </a:r>
          </a:p>
          <a:p>
            <a:pPr marL="342900" lvl="1" indent="0">
              <a:buNone/>
            </a:pPr>
            <a:r>
              <a:rPr lang="en-US" sz="1600" b="1" dirty="0"/>
              <a:t>          = G[1] + P[1].G[0] + P[1].P[0].</a:t>
            </a:r>
            <a:r>
              <a:rPr lang="en-US" sz="1600" b="1" dirty="0" err="1"/>
              <a:t>Cin</a:t>
            </a:r>
            <a:endParaRPr lang="en-US" sz="1600" b="1" dirty="0"/>
          </a:p>
          <a:p>
            <a:pPr marL="342900" lvl="1" indent="0">
              <a:buNone/>
            </a:pPr>
            <a:endParaRPr lang="en-US" sz="1600" b="1" dirty="0"/>
          </a:p>
          <a:p>
            <a:pPr marL="342900" lvl="1" indent="0">
              <a:buNone/>
            </a:pPr>
            <a:r>
              <a:rPr lang="en-US" sz="1600" b="1" dirty="0"/>
              <a:t>C[3] = G[2] + P[2].C[2]  </a:t>
            </a:r>
            <a:r>
              <a:rPr lang="en-US" sz="1600" b="1" dirty="0">
                <a:solidFill>
                  <a:schemeClr val="accent1">
                    <a:lumMod val="75000"/>
                  </a:schemeClr>
                </a:solidFill>
                <a:sym typeface="Wingdings" panose="05000000000000000000" pitchFamily="2" charset="2"/>
              </a:rPr>
              <a:t>// Note : C[2] can be replaced with </a:t>
            </a:r>
            <a:r>
              <a:rPr lang="en-US" sz="1600" b="1" dirty="0">
                <a:solidFill>
                  <a:schemeClr val="accent1">
                    <a:lumMod val="75000"/>
                  </a:schemeClr>
                </a:solidFill>
              </a:rPr>
              <a:t>G[1] + P[1].G[0] + P[1].P[0].</a:t>
            </a:r>
            <a:r>
              <a:rPr lang="en-US" sz="1600" b="1" dirty="0" err="1">
                <a:solidFill>
                  <a:schemeClr val="accent1">
                    <a:lumMod val="75000"/>
                  </a:schemeClr>
                </a:solidFill>
              </a:rPr>
              <a:t>Cin</a:t>
            </a:r>
            <a:endParaRPr lang="en-US" sz="1600" b="1" dirty="0">
              <a:solidFill>
                <a:schemeClr val="accent1">
                  <a:lumMod val="75000"/>
                </a:schemeClr>
              </a:solidFill>
            </a:endParaRPr>
          </a:p>
          <a:p>
            <a:pPr marL="342900" lvl="1" indent="0">
              <a:buNone/>
            </a:pPr>
            <a:r>
              <a:rPr lang="en-US" sz="1600" b="1" dirty="0"/>
              <a:t>         = G[2] + P[2] (G[1] + P[1].G[0] + P[1].P[0].</a:t>
            </a:r>
            <a:r>
              <a:rPr lang="en-US" sz="1600" b="1" dirty="0" err="1"/>
              <a:t>Cin</a:t>
            </a:r>
            <a:r>
              <a:rPr lang="en-US" sz="1600" b="1" dirty="0"/>
              <a:t>)</a:t>
            </a:r>
          </a:p>
          <a:p>
            <a:pPr marL="342900" lvl="1" indent="0">
              <a:buNone/>
            </a:pPr>
            <a:r>
              <a:rPr lang="en-US" sz="1600" b="1" dirty="0"/>
              <a:t>         = G[2] + P[2].G[1] + P[2].P[1].G[0] + P[2].P[1].P[0].</a:t>
            </a:r>
            <a:r>
              <a:rPr lang="en-US" sz="1600" b="1" dirty="0" err="1"/>
              <a:t>Cin</a:t>
            </a:r>
            <a:endParaRPr lang="en-US" sz="1600" b="1" dirty="0"/>
          </a:p>
          <a:p>
            <a:pPr marL="342900" lvl="1" indent="0">
              <a:buNone/>
            </a:pPr>
            <a:r>
              <a:rPr lang="en-US" sz="1600" b="1" dirty="0"/>
              <a:t>     </a:t>
            </a:r>
          </a:p>
          <a:p>
            <a:pPr marL="342900" lvl="1" indent="0">
              <a:buNone/>
            </a:pPr>
            <a:r>
              <a:rPr lang="en-US" sz="1600" b="1" dirty="0"/>
              <a:t>C[4] = G[3] + P[3].C[3]  </a:t>
            </a:r>
            <a:r>
              <a:rPr lang="en-US" sz="1600" b="1" dirty="0">
                <a:solidFill>
                  <a:schemeClr val="accent1">
                    <a:lumMod val="75000"/>
                  </a:schemeClr>
                </a:solidFill>
                <a:sym typeface="Wingdings" panose="05000000000000000000" pitchFamily="2" charset="2"/>
              </a:rPr>
              <a:t>// Note : C[3] can be replaced with </a:t>
            </a:r>
            <a:r>
              <a:rPr lang="en-US" sz="1600" b="1" dirty="0">
                <a:solidFill>
                  <a:schemeClr val="accent1">
                    <a:lumMod val="75000"/>
                  </a:schemeClr>
                </a:solidFill>
              </a:rPr>
              <a:t>G[2] + P[2].G[1] + P[2].P[1].G[0] + P[2].P[1].P[0].</a:t>
            </a:r>
            <a:r>
              <a:rPr lang="en-US" sz="1600" b="1" dirty="0" err="1">
                <a:solidFill>
                  <a:schemeClr val="accent1">
                    <a:lumMod val="75000"/>
                  </a:schemeClr>
                </a:solidFill>
              </a:rPr>
              <a:t>Cin</a:t>
            </a:r>
            <a:endParaRPr lang="en-US" sz="1600" b="1" dirty="0">
              <a:solidFill>
                <a:schemeClr val="accent1">
                  <a:lumMod val="75000"/>
                </a:schemeClr>
              </a:solidFill>
            </a:endParaRPr>
          </a:p>
          <a:p>
            <a:pPr marL="342900" lvl="1" indent="0">
              <a:buNone/>
            </a:pPr>
            <a:r>
              <a:rPr lang="en-US" sz="1600" b="1" dirty="0"/>
              <a:t>         = G[3] + P[3] (G[2] + P[2].G[1] + P[2].P[1].G[0] + P[2].P[1].P[0].</a:t>
            </a:r>
            <a:r>
              <a:rPr lang="en-US" sz="1600" b="1" dirty="0" err="1"/>
              <a:t>Cin</a:t>
            </a:r>
            <a:r>
              <a:rPr lang="en-US" sz="1600" b="1" dirty="0"/>
              <a:t>)</a:t>
            </a:r>
          </a:p>
          <a:p>
            <a:pPr marL="342900" lvl="1" indent="0">
              <a:buNone/>
            </a:pPr>
            <a:r>
              <a:rPr lang="en-US" sz="1600" b="1" dirty="0"/>
              <a:t>         = G[3] + P[3].G[2] + P[3].P[2].G[1] + P[3].P[2].P[1].G[0] + P[3].P[2].P[1].P[0].</a:t>
            </a:r>
            <a:r>
              <a:rPr lang="en-US" sz="1600" b="1" dirty="0" err="1"/>
              <a:t>Cin</a:t>
            </a:r>
            <a:endParaRPr lang="en-US" sz="1600" b="1" dirty="0"/>
          </a:p>
          <a:p>
            <a:pPr marL="342900" lvl="1" indent="0">
              <a:buNone/>
            </a:pPr>
            <a:r>
              <a:rPr lang="en-US" sz="1600" b="1" dirty="0"/>
              <a:t>             </a:t>
            </a:r>
          </a:p>
          <a:p>
            <a:endParaRPr lang="en-US" sz="2000" b="1" dirty="0"/>
          </a:p>
          <a:p>
            <a:endParaRPr lang="en-US" sz="2000" b="1" dirty="0"/>
          </a:p>
          <a:p>
            <a:endParaRPr lang="en-US" sz="2000" b="1"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463357"/>
            <a:ext cx="2743200" cy="365125"/>
          </a:xfrm>
        </p:spPr>
        <p:txBody>
          <a:bodyPr/>
          <a:lstStyle/>
          <a:p>
            <a:fld id="{3A98EE3D-8CD1-4C3F-BD1C-C98C9596463C}" type="slidenum">
              <a:rPr lang="en-US" smtClean="0"/>
              <a:t>9</a:t>
            </a:fld>
            <a:endParaRPr lang="en-US" dirty="0"/>
          </a:p>
        </p:txBody>
      </p:sp>
    </p:spTree>
    <p:extLst>
      <p:ext uri="{BB962C8B-B14F-4D97-AF65-F5344CB8AC3E}">
        <p14:creationId xmlns:p14="http://schemas.microsoft.com/office/powerpoint/2010/main" val="3095937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295565" y="123825"/>
            <a:ext cx="11720222"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Carry Lookahead Adder Hint (Carry Out Boolean Expression)</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295564" y="705787"/>
            <a:ext cx="11720221" cy="6121848"/>
          </a:xfrm>
        </p:spPr>
        <p:txBody>
          <a:bodyPr>
            <a:noAutofit/>
          </a:bodyPr>
          <a:lstStyle/>
          <a:p>
            <a:r>
              <a:rPr lang="en-US" sz="2000" b="1" dirty="0">
                <a:sym typeface="Wingdings" panose="05000000000000000000" pitchFamily="2" charset="2"/>
              </a:rPr>
              <a:t>G[</a:t>
            </a:r>
            <a:r>
              <a:rPr lang="en-US" sz="2000" b="1" dirty="0" err="1">
                <a:sym typeface="Wingdings" panose="05000000000000000000" pitchFamily="2" charset="2"/>
              </a:rPr>
              <a:t>i</a:t>
            </a:r>
            <a:r>
              <a:rPr lang="en-US" sz="2000" b="1" dirty="0">
                <a:sym typeface="Wingdings" panose="05000000000000000000" pitchFamily="2" charset="2"/>
              </a:rPr>
              <a:t>] and P[</a:t>
            </a:r>
            <a:r>
              <a:rPr lang="en-US" sz="2000" b="1" dirty="0" err="1">
                <a:sym typeface="Wingdings" panose="05000000000000000000" pitchFamily="2" charset="2"/>
              </a:rPr>
              <a:t>i</a:t>
            </a:r>
            <a:r>
              <a:rPr lang="en-US" sz="2000" b="1" dirty="0">
                <a:sym typeface="Wingdings" panose="05000000000000000000" pitchFamily="2" charset="2"/>
              </a:rPr>
              <a:t>] can be further replaced with A[</a:t>
            </a:r>
            <a:r>
              <a:rPr lang="en-US" sz="2000" b="1" dirty="0" err="1">
                <a:sym typeface="Wingdings" panose="05000000000000000000" pitchFamily="2" charset="2"/>
              </a:rPr>
              <a:t>i</a:t>
            </a:r>
            <a:r>
              <a:rPr lang="en-US" sz="2000" b="1" dirty="0">
                <a:sym typeface="Wingdings" panose="05000000000000000000" pitchFamily="2" charset="2"/>
              </a:rPr>
              <a:t>].B[</a:t>
            </a:r>
            <a:r>
              <a:rPr lang="en-US" sz="2000" b="1" dirty="0" err="1">
                <a:sym typeface="Wingdings" panose="05000000000000000000" pitchFamily="2" charset="2"/>
              </a:rPr>
              <a:t>i</a:t>
            </a:r>
            <a:r>
              <a:rPr lang="en-US" sz="2000" b="1" dirty="0">
                <a:sym typeface="Wingdings" panose="05000000000000000000" pitchFamily="2" charset="2"/>
              </a:rPr>
              <a:t>] and A[</a:t>
            </a:r>
            <a:r>
              <a:rPr lang="en-US" sz="2000" b="1" dirty="0" err="1">
                <a:sym typeface="Wingdings" panose="05000000000000000000" pitchFamily="2" charset="2"/>
              </a:rPr>
              <a:t>i</a:t>
            </a:r>
            <a:r>
              <a:rPr lang="en-US" sz="2000" b="1" dirty="0">
                <a:sym typeface="Wingdings" panose="05000000000000000000" pitchFamily="2" charset="2"/>
              </a:rPr>
              <a:t>]+B[</a:t>
            </a:r>
            <a:r>
              <a:rPr lang="en-US" sz="2000" b="1" dirty="0" err="1">
                <a:sym typeface="Wingdings" panose="05000000000000000000" pitchFamily="2" charset="2"/>
              </a:rPr>
              <a:t>i</a:t>
            </a:r>
            <a:r>
              <a:rPr lang="en-US" sz="2000" b="1" dirty="0">
                <a:sym typeface="Wingdings" panose="05000000000000000000" pitchFamily="2" charset="2"/>
              </a:rPr>
              <a:t>] below in each of the C[1], C[2], C[3], C[4] carry equations</a:t>
            </a:r>
          </a:p>
          <a:p>
            <a:pPr marL="0" indent="0">
              <a:buNone/>
            </a:pPr>
            <a:r>
              <a:rPr lang="en-US" sz="1600" b="1" dirty="0">
                <a:solidFill>
                  <a:schemeClr val="accent1">
                    <a:lumMod val="75000"/>
                  </a:schemeClr>
                </a:solidFill>
                <a:sym typeface="Wingdings" panose="05000000000000000000" pitchFamily="2" charset="2"/>
              </a:rPr>
              <a:t>C[1] = G[0] + P[0].</a:t>
            </a:r>
            <a:r>
              <a:rPr lang="en-US" sz="1600" b="1" dirty="0" err="1">
                <a:solidFill>
                  <a:schemeClr val="accent1">
                    <a:lumMod val="75000"/>
                  </a:schemeClr>
                </a:solidFill>
                <a:sym typeface="Wingdings" panose="05000000000000000000" pitchFamily="2" charset="2"/>
              </a:rPr>
              <a:t>Cin</a:t>
            </a:r>
            <a:endParaRPr lang="en-US" sz="1600" b="1" dirty="0">
              <a:solidFill>
                <a:schemeClr val="accent1">
                  <a:lumMod val="75000"/>
                </a:schemeClr>
              </a:solidFill>
              <a:sym typeface="Wingdings" panose="05000000000000000000" pitchFamily="2" charset="2"/>
            </a:endParaRPr>
          </a:p>
          <a:p>
            <a:pPr marL="0" indent="0">
              <a:buNone/>
            </a:pPr>
            <a:r>
              <a:rPr lang="en-US" sz="1600" b="1" dirty="0">
                <a:sym typeface="Wingdings" panose="05000000000000000000" pitchFamily="2" charset="2"/>
              </a:rPr>
              <a:t>         = (A[0].B[0]) + (A[0]+B[0]).</a:t>
            </a:r>
            <a:r>
              <a:rPr lang="en-US" sz="1600" b="1" dirty="0" err="1">
                <a:sym typeface="Wingdings" panose="05000000000000000000" pitchFamily="2" charset="2"/>
              </a:rPr>
              <a:t>Cin</a:t>
            </a:r>
            <a:r>
              <a:rPr lang="en-US" sz="1600" b="1" dirty="0">
                <a:sym typeface="Wingdings" panose="05000000000000000000" pitchFamily="2" charset="2"/>
              </a:rPr>
              <a:t> </a:t>
            </a:r>
          </a:p>
          <a:p>
            <a:pPr marL="0" indent="0">
              <a:buNone/>
            </a:pPr>
            <a:r>
              <a:rPr lang="en-US" sz="1600" b="1" dirty="0">
                <a:solidFill>
                  <a:schemeClr val="accent1">
                    <a:lumMod val="75000"/>
                  </a:schemeClr>
                </a:solidFill>
              </a:rPr>
              <a:t>C[2] = G[1] + P[1].G[0] + P[1].P[0].</a:t>
            </a:r>
            <a:r>
              <a:rPr lang="en-US" sz="1600" b="1" dirty="0" err="1">
                <a:solidFill>
                  <a:schemeClr val="accent1">
                    <a:lumMod val="75000"/>
                  </a:schemeClr>
                </a:solidFill>
              </a:rPr>
              <a:t>Cin</a:t>
            </a:r>
            <a:endParaRPr lang="en-US" sz="1600" b="1" dirty="0">
              <a:solidFill>
                <a:schemeClr val="accent1">
                  <a:lumMod val="75000"/>
                </a:schemeClr>
              </a:solidFill>
            </a:endParaRPr>
          </a:p>
          <a:p>
            <a:pPr marL="0" indent="0">
              <a:buNone/>
            </a:pPr>
            <a:r>
              <a:rPr lang="en-US" sz="1600" b="1" dirty="0"/>
              <a:t>         = </a:t>
            </a:r>
            <a:r>
              <a:rPr lang="en-US" sz="1600" b="1" dirty="0">
                <a:sym typeface="Wingdings" panose="05000000000000000000" pitchFamily="2" charset="2"/>
              </a:rPr>
              <a:t>(A[1].B[1]) + (A[1]+B[1]). (A[0].B[0]) + (A[1]+B[1]). (A[0]+B[0]).</a:t>
            </a:r>
            <a:r>
              <a:rPr lang="en-US" sz="1600" b="1" dirty="0" err="1">
                <a:sym typeface="Wingdings" panose="05000000000000000000" pitchFamily="2" charset="2"/>
              </a:rPr>
              <a:t>Cin</a:t>
            </a:r>
            <a:r>
              <a:rPr lang="en-US" sz="1600" b="1" dirty="0">
                <a:sym typeface="Wingdings" panose="05000000000000000000" pitchFamily="2" charset="2"/>
              </a:rPr>
              <a:t> </a:t>
            </a:r>
            <a:endParaRPr lang="en-US" sz="1600" b="1" dirty="0"/>
          </a:p>
          <a:p>
            <a:pPr marL="0" indent="0">
              <a:buNone/>
            </a:pPr>
            <a:r>
              <a:rPr lang="en-US" sz="1600" b="1" dirty="0">
                <a:solidFill>
                  <a:schemeClr val="accent1">
                    <a:lumMod val="75000"/>
                  </a:schemeClr>
                </a:solidFill>
              </a:rPr>
              <a:t>C[3] = G[2] + P[2].G[1] + P[2].P[1].G[0] + P[2].P[1].P[0].</a:t>
            </a:r>
            <a:r>
              <a:rPr lang="en-US" sz="1600" b="1" dirty="0" err="1">
                <a:solidFill>
                  <a:schemeClr val="accent1">
                    <a:lumMod val="75000"/>
                  </a:schemeClr>
                </a:solidFill>
              </a:rPr>
              <a:t>Cin</a:t>
            </a:r>
            <a:endParaRPr lang="en-US" sz="1600" b="1" dirty="0">
              <a:solidFill>
                <a:schemeClr val="accent1">
                  <a:lumMod val="75000"/>
                </a:schemeClr>
              </a:solidFill>
            </a:endParaRPr>
          </a:p>
          <a:p>
            <a:pPr marL="0" indent="0">
              <a:buNone/>
            </a:pPr>
            <a:r>
              <a:rPr lang="en-US" sz="1600" b="1" dirty="0"/>
              <a:t>         = </a:t>
            </a:r>
            <a:r>
              <a:rPr lang="en-US" sz="1600" b="1" dirty="0">
                <a:sym typeface="Wingdings" panose="05000000000000000000" pitchFamily="2" charset="2"/>
              </a:rPr>
              <a:t>(A[2].B[2]) + ((A[2]+B[2]).(A[1].B[1])) + ((A[2]+B[2]). (A[1]+B[1]).(A[0].B[0])) + ((A[2]+B[2]).(A[1]+B[1]).(A[0]+B[0]).</a:t>
            </a:r>
            <a:r>
              <a:rPr lang="en-US" sz="1600" b="1" dirty="0" err="1">
                <a:sym typeface="Wingdings" panose="05000000000000000000" pitchFamily="2" charset="2"/>
              </a:rPr>
              <a:t>Cin</a:t>
            </a:r>
            <a:r>
              <a:rPr lang="en-US" sz="1600" b="1" dirty="0">
                <a:sym typeface="Wingdings" panose="05000000000000000000" pitchFamily="2" charset="2"/>
              </a:rPr>
              <a:t>)</a:t>
            </a:r>
            <a:endParaRPr lang="en-US" sz="1600" b="1" dirty="0"/>
          </a:p>
          <a:p>
            <a:pPr marL="0" indent="0">
              <a:buNone/>
            </a:pPr>
            <a:r>
              <a:rPr lang="en-US" sz="1600" b="1" dirty="0">
                <a:solidFill>
                  <a:schemeClr val="accent1">
                    <a:lumMod val="75000"/>
                  </a:schemeClr>
                </a:solidFill>
              </a:rPr>
              <a:t>C[4] = G[3] + P[3].G[2] + P[3].P[2].G[1] + P[3].P[2].P[1].G[0] + P[3].P[2].P[1].P[0].</a:t>
            </a:r>
            <a:r>
              <a:rPr lang="en-US" sz="1600" b="1" dirty="0" err="1">
                <a:solidFill>
                  <a:schemeClr val="accent1">
                    <a:lumMod val="75000"/>
                  </a:schemeClr>
                </a:solidFill>
              </a:rPr>
              <a:t>Cin</a:t>
            </a:r>
            <a:endParaRPr lang="en-US" sz="1600" b="1" dirty="0">
              <a:solidFill>
                <a:schemeClr val="accent1">
                  <a:lumMod val="75000"/>
                </a:schemeClr>
              </a:solidFill>
            </a:endParaRPr>
          </a:p>
          <a:p>
            <a:pPr marL="0" indent="0">
              <a:buNone/>
            </a:pPr>
            <a:r>
              <a:rPr lang="en-US" sz="1600" b="1" dirty="0"/>
              <a:t>         = </a:t>
            </a:r>
            <a:r>
              <a:rPr lang="en-US" sz="1600" b="1" dirty="0">
                <a:sym typeface="Wingdings" panose="05000000000000000000" pitchFamily="2" charset="2"/>
              </a:rPr>
              <a:t>(A[3].B[3]) + ((A[3]+B[3]).(A[2].B[2])) + ((A[3]+B[3]). (A[2]+B[2]).(A[1].B[1])) + ((A[3]+B[3]). (A[2]+B[2]).(A[1]+B[1]).(A[0].B[0])) 	+ ((A[3]+B[3]). (A[2]+B[2]).(A[1]+B[1]).(A[0]+B[0]).</a:t>
            </a:r>
            <a:r>
              <a:rPr lang="en-US" sz="1600" b="1" dirty="0" err="1">
                <a:sym typeface="Wingdings" panose="05000000000000000000" pitchFamily="2" charset="2"/>
              </a:rPr>
              <a:t>Cin</a:t>
            </a:r>
            <a:r>
              <a:rPr lang="en-US" sz="1600" b="1" dirty="0">
                <a:sym typeface="Wingdings" panose="05000000000000000000" pitchFamily="2" charset="2"/>
              </a:rPr>
              <a:t>) </a:t>
            </a:r>
            <a:endParaRPr lang="en-US" sz="1600" b="1" dirty="0"/>
          </a:p>
          <a:p>
            <a:pPr marL="342900" lvl="1" indent="0">
              <a:buNone/>
            </a:pPr>
            <a:r>
              <a:rPr lang="en-US" sz="1500" b="1" dirty="0"/>
              <a:t>             </a:t>
            </a:r>
          </a:p>
          <a:p>
            <a:endParaRPr lang="en-US" sz="1500" b="1" dirty="0"/>
          </a:p>
          <a:p>
            <a:endParaRPr lang="en-US" sz="2000" b="1" dirty="0"/>
          </a:p>
          <a:p>
            <a:endParaRPr lang="en-US" sz="2000" b="1"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463357"/>
            <a:ext cx="2743200" cy="365125"/>
          </a:xfrm>
        </p:spPr>
        <p:txBody>
          <a:bodyPr/>
          <a:lstStyle/>
          <a:p>
            <a:fld id="{3A98EE3D-8CD1-4C3F-BD1C-C98C9596463C}" type="slidenum">
              <a:rPr lang="en-US" smtClean="0"/>
              <a:t>10</a:t>
            </a:fld>
            <a:endParaRPr lang="en-US" dirty="0"/>
          </a:p>
        </p:txBody>
      </p:sp>
      <p:grpSp>
        <p:nvGrpSpPr>
          <p:cNvPr id="13" name="Group 12">
            <a:extLst>
              <a:ext uri="{FF2B5EF4-FFF2-40B4-BE49-F238E27FC236}">
                <a16:creationId xmlns:a16="http://schemas.microsoft.com/office/drawing/2014/main" id="{FE98753D-7B3C-4151-B1B9-DBB5D03605C0}"/>
              </a:ext>
            </a:extLst>
          </p:cNvPr>
          <p:cNvGrpSpPr/>
          <p:nvPr/>
        </p:nvGrpSpPr>
        <p:grpSpPr>
          <a:xfrm>
            <a:off x="3363025" y="1334115"/>
            <a:ext cx="8446357" cy="2469036"/>
            <a:chOff x="3363025" y="1323955"/>
            <a:chExt cx="8446357" cy="2469036"/>
          </a:xfrm>
        </p:grpSpPr>
        <p:sp>
          <p:nvSpPr>
            <p:cNvPr id="129" name="TextBox 128">
              <a:extLst>
                <a:ext uri="{FF2B5EF4-FFF2-40B4-BE49-F238E27FC236}">
                  <a16:creationId xmlns:a16="http://schemas.microsoft.com/office/drawing/2014/main" id="{50B6496D-605E-44FA-B431-EBE4007CC32B}"/>
                </a:ext>
              </a:extLst>
            </p:cNvPr>
            <p:cNvSpPr txBox="1"/>
            <p:nvPr/>
          </p:nvSpPr>
          <p:spPr>
            <a:xfrm>
              <a:off x="8322415" y="1323955"/>
              <a:ext cx="3486967" cy="1600438"/>
            </a:xfrm>
            <a:prstGeom prst="rect">
              <a:avLst/>
            </a:prstGeom>
            <a:noFill/>
          </p:spPr>
          <p:txBody>
            <a:bodyPr wrap="square" rtlCol="0">
              <a:spAutoFit/>
            </a:bodyPr>
            <a:lstStyle/>
            <a:p>
              <a:pPr algn="ctr"/>
              <a:r>
                <a:rPr lang="en-US" sz="1400" b="1" dirty="0">
                  <a:solidFill>
                    <a:srgbClr val="C00000"/>
                  </a:solidFill>
                </a:rPr>
                <a:t>C[1],C[2],C[3],C[4] depends on inputs A[0], A[1], A[2], A[3], B[0], B[1], B[2], B[3] and </a:t>
              </a:r>
              <a:r>
                <a:rPr lang="en-US" sz="1400" b="1" dirty="0" err="1">
                  <a:solidFill>
                    <a:srgbClr val="C00000"/>
                  </a:solidFill>
                </a:rPr>
                <a:t>Cin</a:t>
              </a:r>
              <a:r>
                <a:rPr lang="en-US" sz="1400" b="1" dirty="0">
                  <a:solidFill>
                    <a:srgbClr val="C00000"/>
                  </a:solidFill>
                </a:rPr>
                <a:t>, whose values are known upfront and hence Carry inputs C[1] to C[4] can be computed right away and hence all 4 full adders can perform operation simultaneously to allow fast add operation ! </a:t>
              </a:r>
            </a:p>
          </p:txBody>
        </p:sp>
        <p:cxnSp>
          <p:nvCxnSpPr>
            <p:cNvPr id="130" name="Straight Arrow Connector 129">
              <a:extLst>
                <a:ext uri="{FF2B5EF4-FFF2-40B4-BE49-F238E27FC236}">
                  <a16:creationId xmlns:a16="http://schemas.microsoft.com/office/drawing/2014/main" id="{7D61395B-7632-412F-B5B9-5DDD445E996C}"/>
                </a:ext>
              </a:extLst>
            </p:cNvPr>
            <p:cNvCxnSpPr>
              <a:cxnSpLocks/>
            </p:cNvCxnSpPr>
            <p:nvPr/>
          </p:nvCxnSpPr>
          <p:spPr>
            <a:xfrm flipH="1" flipV="1">
              <a:off x="3363025" y="1833473"/>
              <a:ext cx="5005865" cy="88147"/>
            </a:xfrm>
            <a:prstGeom prst="straightConnector1">
              <a:avLst/>
            </a:prstGeom>
            <a:ln w="1270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F7E3CB35-5108-4602-BC32-6CA878C48708}"/>
                </a:ext>
              </a:extLst>
            </p:cNvPr>
            <p:cNvCxnSpPr>
              <a:cxnSpLocks/>
            </p:cNvCxnSpPr>
            <p:nvPr/>
          </p:nvCxnSpPr>
          <p:spPr>
            <a:xfrm flipH="1">
              <a:off x="6516395" y="1921620"/>
              <a:ext cx="1852495" cy="595196"/>
            </a:xfrm>
            <a:prstGeom prst="straightConnector1">
              <a:avLst/>
            </a:prstGeom>
            <a:ln w="1270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473AD260-8105-49E2-8926-9F4256AC5849}"/>
                </a:ext>
              </a:extLst>
            </p:cNvPr>
            <p:cNvCxnSpPr>
              <a:cxnSpLocks/>
            </p:cNvCxnSpPr>
            <p:nvPr/>
          </p:nvCxnSpPr>
          <p:spPr>
            <a:xfrm flipH="1">
              <a:off x="6780465" y="1931387"/>
              <a:ext cx="1588425" cy="1146787"/>
            </a:xfrm>
            <a:prstGeom prst="straightConnector1">
              <a:avLst/>
            </a:prstGeom>
            <a:ln w="1270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1B9DA5AE-4943-483C-B249-19C80E75A803}"/>
                </a:ext>
              </a:extLst>
            </p:cNvPr>
            <p:cNvCxnSpPr>
              <a:cxnSpLocks/>
            </p:cNvCxnSpPr>
            <p:nvPr/>
          </p:nvCxnSpPr>
          <p:spPr>
            <a:xfrm flipH="1">
              <a:off x="7675306" y="1941076"/>
              <a:ext cx="693584" cy="1851915"/>
            </a:xfrm>
            <a:prstGeom prst="straightConnector1">
              <a:avLst/>
            </a:prstGeom>
            <a:ln w="1270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028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295565" y="123825"/>
            <a:ext cx="11720222"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Carry Lookahead Adder Implementation Hint</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255920" y="654815"/>
            <a:ext cx="11556124" cy="854453"/>
          </a:xfrm>
        </p:spPr>
        <p:txBody>
          <a:bodyPr>
            <a:noAutofit/>
          </a:bodyPr>
          <a:lstStyle/>
          <a:p>
            <a:r>
              <a:rPr lang="en-US" sz="2000" b="1" smtClean="0"/>
              <a:t>Example: instantiate </a:t>
            </a:r>
            <a:r>
              <a:rPr lang="en-US" sz="2000" b="1" dirty="0"/>
              <a:t>4 Full Adder Modules using “generate for” statement</a:t>
            </a:r>
          </a:p>
          <a:p>
            <a:pPr lvl="1"/>
            <a:r>
              <a:rPr lang="en-US" sz="1800" dirty="0"/>
              <a:t>As per diagram below </a:t>
            </a:r>
            <a:r>
              <a:rPr lang="en-US" sz="1800" dirty="0" err="1"/>
              <a:t>Cout</a:t>
            </a:r>
            <a:r>
              <a:rPr lang="en-US" sz="1800" dirty="0"/>
              <a:t> from each full adder is not passed to next Full Adder hence in each of the full adder instance </a:t>
            </a:r>
            <a:r>
              <a:rPr lang="en-US" sz="1800" dirty="0" err="1"/>
              <a:t>Cout</a:t>
            </a:r>
            <a:r>
              <a:rPr lang="en-US" sz="1800" dirty="0"/>
              <a:t> can be left connected.   </a:t>
            </a:r>
          </a:p>
          <a:p>
            <a:pPr marL="457200" lvl="1" indent="0">
              <a:buNone/>
            </a:pPr>
            <a:endParaRPr lang="en-US" sz="1800" dirty="0"/>
          </a:p>
          <a:p>
            <a:pPr marL="0" indent="0">
              <a:buNone/>
            </a:pPr>
            <a:endParaRPr lang="en-US" sz="1800"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463357"/>
            <a:ext cx="2743200" cy="365125"/>
          </a:xfrm>
        </p:spPr>
        <p:txBody>
          <a:bodyPr/>
          <a:lstStyle/>
          <a:p>
            <a:fld id="{3A98EE3D-8CD1-4C3F-BD1C-C98C9596463C}" type="slidenum">
              <a:rPr lang="en-US" smtClean="0"/>
              <a:t>11</a:t>
            </a:fld>
            <a:endParaRPr lang="en-US" dirty="0"/>
          </a:p>
        </p:txBody>
      </p:sp>
      <p:pic>
        <p:nvPicPr>
          <p:cNvPr id="8" name="Picture 7">
            <a:extLst>
              <a:ext uri="{FF2B5EF4-FFF2-40B4-BE49-F238E27FC236}">
                <a16:creationId xmlns:a16="http://schemas.microsoft.com/office/drawing/2014/main" id="{2321809F-3838-4145-BC3A-C9675B334DC0}"/>
              </a:ext>
            </a:extLst>
          </p:cNvPr>
          <p:cNvPicPr>
            <a:picLocks noChangeAspect="1"/>
          </p:cNvPicPr>
          <p:nvPr/>
        </p:nvPicPr>
        <p:blipFill>
          <a:blip r:embed="rId2"/>
          <a:stretch>
            <a:fillRect/>
          </a:stretch>
        </p:blipFill>
        <p:spPr>
          <a:xfrm>
            <a:off x="1004316" y="1667259"/>
            <a:ext cx="7191375" cy="1571625"/>
          </a:xfrm>
          <a:prstGeom prst="rect">
            <a:avLst/>
          </a:prstGeom>
        </p:spPr>
      </p:pic>
      <p:sp>
        <p:nvSpPr>
          <p:cNvPr id="77" name="TextBox 76">
            <a:extLst>
              <a:ext uri="{FF2B5EF4-FFF2-40B4-BE49-F238E27FC236}">
                <a16:creationId xmlns:a16="http://schemas.microsoft.com/office/drawing/2014/main" id="{F0806091-D9FB-458B-B933-DF0FBD12ECAB}"/>
              </a:ext>
            </a:extLst>
          </p:cNvPr>
          <p:cNvSpPr txBox="1"/>
          <p:nvPr/>
        </p:nvSpPr>
        <p:spPr>
          <a:xfrm>
            <a:off x="589171" y="4423597"/>
            <a:ext cx="2342116" cy="646331"/>
          </a:xfrm>
          <a:prstGeom prst="rect">
            <a:avLst/>
          </a:prstGeom>
          <a:noFill/>
        </p:spPr>
        <p:txBody>
          <a:bodyPr wrap="none" rtlCol="0">
            <a:spAutoFit/>
          </a:bodyPr>
          <a:lstStyle/>
          <a:p>
            <a:pPr algn="ctr"/>
            <a:r>
              <a:rPr lang="en-US" b="1" dirty="0">
                <a:solidFill>
                  <a:schemeClr val="accent1">
                    <a:lumMod val="75000"/>
                  </a:schemeClr>
                </a:solidFill>
              </a:rPr>
              <a:t>4-bit Carry Lookahead </a:t>
            </a:r>
          </a:p>
          <a:p>
            <a:pPr algn="ctr"/>
            <a:r>
              <a:rPr lang="en-US" b="1" dirty="0">
                <a:solidFill>
                  <a:schemeClr val="accent1">
                    <a:lumMod val="75000"/>
                  </a:schemeClr>
                </a:solidFill>
              </a:rPr>
              <a:t>Adder</a:t>
            </a:r>
          </a:p>
        </p:txBody>
      </p:sp>
      <p:grpSp>
        <p:nvGrpSpPr>
          <p:cNvPr id="78" name="Group 77">
            <a:extLst>
              <a:ext uri="{FF2B5EF4-FFF2-40B4-BE49-F238E27FC236}">
                <a16:creationId xmlns:a16="http://schemas.microsoft.com/office/drawing/2014/main" id="{1F9F8832-D5C7-41CB-A46B-570F18DEADA6}"/>
              </a:ext>
            </a:extLst>
          </p:cNvPr>
          <p:cNvGrpSpPr/>
          <p:nvPr/>
        </p:nvGrpSpPr>
        <p:grpSpPr>
          <a:xfrm>
            <a:off x="2346633" y="3401054"/>
            <a:ext cx="7906738" cy="3474452"/>
            <a:chOff x="2451629" y="3429000"/>
            <a:chExt cx="7906738" cy="3474452"/>
          </a:xfrm>
        </p:grpSpPr>
        <p:sp>
          <p:nvSpPr>
            <p:cNvPr id="79" name="Rectangle 78">
              <a:extLst>
                <a:ext uri="{FF2B5EF4-FFF2-40B4-BE49-F238E27FC236}">
                  <a16:creationId xmlns:a16="http://schemas.microsoft.com/office/drawing/2014/main" id="{290C4D50-9B9C-4E7C-88B4-F4811F522E14}"/>
                </a:ext>
              </a:extLst>
            </p:cNvPr>
            <p:cNvSpPr/>
            <p:nvPr/>
          </p:nvSpPr>
          <p:spPr>
            <a:xfrm>
              <a:off x="3259980" y="4054616"/>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Inst3</a:t>
              </a:r>
            </a:p>
          </p:txBody>
        </p:sp>
        <p:cxnSp>
          <p:nvCxnSpPr>
            <p:cNvPr id="80" name="Straight Arrow Connector 79">
              <a:extLst>
                <a:ext uri="{FF2B5EF4-FFF2-40B4-BE49-F238E27FC236}">
                  <a16:creationId xmlns:a16="http://schemas.microsoft.com/office/drawing/2014/main" id="{DF3D2429-E5B6-453C-ADA2-068908D11D91}"/>
                </a:ext>
              </a:extLst>
            </p:cNvPr>
            <p:cNvCxnSpPr>
              <a:cxnSpLocks/>
            </p:cNvCxnSpPr>
            <p:nvPr/>
          </p:nvCxnSpPr>
          <p:spPr>
            <a:xfrm>
              <a:off x="3947401" y="3723876"/>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289BE68B-FCB1-4CE9-93AA-1049A7796844}"/>
                </a:ext>
              </a:extLst>
            </p:cNvPr>
            <p:cNvCxnSpPr>
              <a:cxnSpLocks/>
            </p:cNvCxnSpPr>
            <p:nvPr/>
          </p:nvCxnSpPr>
          <p:spPr>
            <a:xfrm>
              <a:off x="3535597" y="3723876"/>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6C5C56B7-D4DF-4C49-840B-A03EA8B2F998}"/>
                </a:ext>
              </a:extLst>
            </p:cNvPr>
            <p:cNvSpPr txBox="1"/>
            <p:nvPr/>
          </p:nvSpPr>
          <p:spPr>
            <a:xfrm>
              <a:off x="3305764" y="3439782"/>
              <a:ext cx="548548" cy="338554"/>
            </a:xfrm>
            <a:prstGeom prst="rect">
              <a:avLst/>
            </a:prstGeom>
            <a:noFill/>
          </p:spPr>
          <p:txBody>
            <a:bodyPr wrap="none" rtlCol="0">
              <a:spAutoFit/>
            </a:bodyPr>
            <a:lstStyle/>
            <a:p>
              <a:r>
                <a:rPr lang="en-US" sz="1600" b="1" dirty="0">
                  <a:solidFill>
                    <a:schemeClr val="accent1">
                      <a:lumMod val="75000"/>
                    </a:schemeClr>
                  </a:solidFill>
                </a:rPr>
                <a:t>A[3]</a:t>
              </a:r>
            </a:p>
          </p:txBody>
        </p:sp>
        <p:sp>
          <p:nvSpPr>
            <p:cNvPr id="83" name="TextBox 82">
              <a:extLst>
                <a:ext uri="{FF2B5EF4-FFF2-40B4-BE49-F238E27FC236}">
                  <a16:creationId xmlns:a16="http://schemas.microsoft.com/office/drawing/2014/main" id="{D4DE59A1-AE32-4A60-97C2-1CD2762464D8}"/>
                </a:ext>
              </a:extLst>
            </p:cNvPr>
            <p:cNvSpPr txBox="1"/>
            <p:nvPr/>
          </p:nvSpPr>
          <p:spPr>
            <a:xfrm>
              <a:off x="3718614" y="3430015"/>
              <a:ext cx="538930" cy="338554"/>
            </a:xfrm>
            <a:prstGeom prst="rect">
              <a:avLst/>
            </a:prstGeom>
            <a:noFill/>
          </p:spPr>
          <p:txBody>
            <a:bodyPr wrap="none" rtlCol="0">
              <a:spAutoFit/>
            </a:bodyPr>
            <a:lstStyle/>
            <a:p>
              <a:r>
                <a:rPr lang="en-US" sz="1600" b="1" dirty="0">
                  <a:solidFill>
                    <a:schemeClr val="accent1">
                      <a:lumMod val="75000"/>
                    </a:schemeClr>
                  </a:solidFill>
                </a:rPr>
                <a:t>B[3]</a:t>
              </a:r>
            </a:p>
          </p:txBody>
        </p:sp>
        <p:cxnSp>
          <p:nvCxnSpPr>
            <p:cNvPr id="84" name="Straight Arrow Connector 83">
              <a:extLst>
                <a:ext uri="{FF2B5EF4-FFF2-40B4-BE49-F238E27FC236}">
                  <a16:creationId xmlns:a16="http://schemas.microsoft.com/office/drawing/2014/main" id="{A98E4764-E332-40AE-8128-FDBDC05E6F95}"/>
                </a:ext>
              </a:extLst>
            </p:cNvPr>
            <p:cNvCxnSpPr>
              <a:cxnSpLocks/>
            </p:cNvCxnSpPr>
            <p:nvPr/>
          </p:nvCxnSpPr>
          <p:spPr>
            <a:xfrm>
              <a:off x="3750180" y="4969017"/>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AE046D0-F0C4-4046-BD9C-09A9AFBC2F7E}"/>
                </a:ext>
              </a:extLst>
            </p:cNvPr>
            <p:cNvSpPr txBox="1"/>
            <p:nvPr/>
          </p:nvSpPr>
          <p:spPr>
            <a:xfrm>
              <a:off x="3500305" y="5253626"/>
              <a:ext cx="521297" cy="338554"/>
            </a:xfrm>
            <a:prstGeom prst="rect">
              <a:avLst/>
            </a:prstGeom>
            <a:noFill/>
          </p:spPr>
          <p:txBody>
            <a:bodyPr wrap="none" rtlCol="0">
              <a:spAutoFit/>
            </a:bodyPr>
            <a:lstStyle/>
            <a:p>
              <a:r>
                <a:rPr lang="en-US" sz="1600" b="1" dirty="0">
                  <a:solidFill>
                    <a:schemeClr val="accent1">
                      <a:lumMod val="75000"/>
                    </a:schemeClr>
                  </a:solidFill>
                </a:rPr>
                <a:t>S[3]</a:t>
              </a:r>
            </a:p>
          </p:txBody>
        </p:sp>
        <p:cxnSp>
          <p:nvCxnSpPr>
            <p:cNvPr id="86" name="Straight Arrow Connector 85">
              <a:extLst>
                <a:ext uri="{FF2B5EF4-FFF2-40B4-BE49-F238E27FC236}">
                  <a16:creationId xmlns:a16="http://schemas.microsoft.com/office/drawing/2014/main" id="{7A5493D3-0FCF-40F9-9C5D-E611DE1F47D2}"/>
                </a:ext>
              </a:extLst>
            </p:cNvPr>
            <p:cNvCxnSpPr>
              <a:cxnSpLocks/>
            </p:cNvCxnSpPr>
            <p:nvPr/>
          </p:nvCxnSpPr>
          <p:spPr>
            <a:xfrm flipH="1">
              <a:off x="2914387" y="6032561"/>
              <a:ext cx="301558"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F0B2DBFC-AD58-4BCE-AD13-9819C9A0E8DD}"/>
                </a:ext>
              </a:extLst>
            </p:cNvPr>
            <p:cNvSpPr txBox="1"/>
            <p:nvPr/>
          </p:nvSpPr>
          <p:spPr>
            <a:xfrm>
              <a:off x="2451629" y="5856683"/>
              <a:ext cx="532518" cy="338554"/>
            </a:xfrm>
            <a:prstGeom prst="rect">
              <a:avLst/>
            </a:prstGeom>
            <a:noFill/>
          </p:spPr>
          <p:txBody>
            <a:bodyPr wrap="none" rtlCol="0">
              <a:spAutoFit/>
            </a:bodyPr>
            <a:lstStyle/>
            <a:p>
              <a:r>
                <a:rPr lang="en-US" sz="1600" b="1" dirty="0">
                  <a:solidFill>
                    <a:schemeClr val="accent1">
                      <a:lumMod val="75000"/>
                    </a:schemeClr>
                  </a:solidFill>
                </a:rPr>
                <a:t>C[4]</a:t>
              </a:r>
            </a:p>
          </p:txBody>
        </p:sp>
        <p:sp>
          <p:nvSpPr>
            <p:cNvPr id="88" name="Rectangle 87">
              <a:extLst>
                <a:ext uri="{FF2B5EF4-FFF2-40B4-BE49-F238E27FC236}">
                  <a16:creationId xmlns:a16="http://schemas.microsoft.com/office/drawing/2014/main" id="{E6440407-9891-4AB0-8C2C-23202F7E0383}"/>
                </a:ext>
              </a:extLst>
            </p:cNvPr>
            <p:cNvSpPr/>
            <p:nvPr/>
          </p:nvSpPr>
          <p:spPr>
            <a:xfrm>
              <a:off x="4880786" y="4053601"/>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Inst2</a:t>
              </a:r>
            </a:p>
          </p:txBody>
        </p:sp>
        <p:cxnSp>
          <p:nvCxnSpPr>
            <p:cNvPr id="89" name="Straight Arrow Connector 88">
              <a:extLst>
                <a:ext uri="{FF2B5EF4-FFF2-40B4-BE49-F238E27FC236}">
                  <a16:creationId xmlns:a16="http://schemas.microsoft.com/office/drawing/2014/main" id="{C7B04D93-32EF-4745-9653-E6D32B2DD332}"/>
                </a:ext>
              </a:extLst>
            </p:cNvPr>
            <p:cNvCxnSpPr>
              <a:cxnSpLocks/>
            </p:cNvCxnSpPr>
            <p:nvPr/>
          </p:nvCxnSpPr>
          <p:spPr>
            <a:xfrm>
              <a:off x="5568207"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33F617D-398B-48F0-9E7D-3D610C1D28A0}"/>
                </a:ext>
              </a:extLst>
            </p:cNvPr>
            <p:cNvCxnSpPr>
              <a:cxnSpLocks/>
            </p:cNvCxnSpPr>
            <p:nvPr/>
          </p:nvCxnSpPr>
          <p:spPr>
            <a:xfrm>
              <a:off x="5156403"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325B0F86-2123-4263-B931-E0ED1739711B}"/>
                </a:ext>
              </a:extLst>
            </p:cNvPr>
            <p:cNvSpPr txBox="1"/>
            <p:nvPr/>
          </p:nvSpPr>
          <p:spPr>
            <a:xfrm>
              <a:off x="4926570" y="3438767"/>
              <a:ext cx="548548" cy="338554"/>
            </a:xfrm>
            <a:prstGeom prst="rect">
              <a:avLst/>
            </a:prstGeom>
            <a:noFill/>
          </p:spPr>
          <p:txBody>
            <a:bodyPr wrap="none" rtlCol="0">
              <a:spAutoFit/>
            </a:bodyPr>
            <a:lstStyle/>
            <a:p>
              <a:r>
                <a:rPr lang="en-US" sz="1600" b="1" dirty="0">
                  <a:solidFill>
                    <a:schemeClr val="accent1">
                      <a:lumMod val="75000"/>
                    </a:schemeClr>
                  </a:solidFill>
                </a:rPr>
                <a:t>A[2]</a:t>
              </a:r>
            </a:p>
          </p:txBody>
        </p:sp>
        <p:sp>
          <p:nvSpPr>
            <p:cNvPr id="92" name="TextBox 91">
              <a:extLst>
                <a:ext uri="{FF2B5EF4-FFF2-40B4-BE49-F238E27FC236}">
                  <a16:creationId xmlns:a16="http://schemas.microsoft.com/office/drawing/2014/main" id="{CC5CD81B-2885-41C0-B6E0-2543AA857E73}"/>
                </a:ext>
              </a:extLst>
            </p:cNvPr>
            <p:cNvSpPr txBox="1"/>
            <p:nvPr/>
          </p:nvSpPr>
          <p:spPr>
            <a:xfrm>
              <a:off x="5339420" y="3429000"/>
              <a:ext cx="538930" cy="338554"/>
            </a:xfrm>
            <a:prstGeom prst="rect">
              <a:avLst/>
            </a:prstGeom>
            <a:noFill/>
          </p:spPr>
          <p:txBody>
            <a:bodyPr wrap="none" rtlCol="0">
              <a:spAutoFit/>
            </a:bodyPr>
            <a:lstStyle/>
            <a:p>
              <a:r>
                <a:rPr lang="en-US" sz="1600" b="1" dirty="0">
                  <a:solidFill>
                    <a:schemeClr val="accent1">
                      <a:lumMod val="75000"/>
                    </a:schemeClr>
                  </a:solidFill>
                </a:rPr>
                <a:t>B[2]</a:t>
              </a:r>
            </a:p>
          </p:txBody>
        </p:sp>
        <p:cxnSp>
          <p:nvCxnSpPr>
            <p:cNvPr id="93" name="Straight Arrow Connector 92">
              <a:extLst>
                <a:ext uri="{FF2B5EF4-FFF2-40B4-BE49-F238E27FC236}">
                  <a16:creationId xmlns:a16="http://schemas.microsoft.com/office/drawing/2014/main" id="{D11EFBEC-09B9-4331-A1D7-4779769073FD}"/>
                </a:ext>
              </a:extLst>
            </p:cNvPr>
            <p:cNvCxnSpPr>
              <a:cxnSpLocks/>
            </p:cNvCxnSpPr>
            <p:nvPr/>
          </p:nvCxnSpPr>
          <p:spPr>
            <a:xfrm>
              <a:off x="5370986" y="4968002"/>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273C9B9-AC8D-4302-9B9F-BDF067CFEB1B}"/>
                </a:ext>
              </a:extLst>
            </p:cNvPr>
            <p:cNvSpPr txBox="1"/>
            <p:nvPr/>
          </p:nvSpPr>
          <p:spPr>
            <a:xfrm>
              <a:off x="5156403" y="5228146"/>
              <a:ext cx="521297" cy="338554"/>
            </a:xfrm>
            <a:prstGeom prst="rect">
              <a:avLst/>
            </a:prstGeom>
            <a:noFill/>
          </p:spPr>
          <p:txBody>
            <a:bodyPr wrap="none" rtlCol="0">
              <a:spAutoFit/>
            </a:bodyPr>
            <a:lstStyle/>
            <a:p>
              <a:r>
                <a:rPr lang="en-US" sz="1600" b="1" dirty="0">
                  <a:solidFill>
                    <a:schemeClr val="accent1">
                      <a:lumMod val="75000"/>
                    </a:schemeClr>
                  </a:solidFill>
                </a:rPr>
                <a:t>S[2]</a:t>
              </a:r>
            </a:p>
          </p:txBody>
        </p:sp>
        <p:sp>
          <p:nvSpPr>
            <p:cNvPr id="95" name="Rectangle 94">
              <a:extLst>
                <a:ext uri="{FF2B5EF4-FFF2-40B4-BE49-F238E27FC236}">
                  <a16:creationId xmlns:a16="http://schemas.microsoft.com/office/drawing/2014/main" id="{FB56DA31-1845-466D-9F1C-01EF1335B0F0}"/>
                </a:ext>
              </a:extLst>
            </p:cNvPr>
            <p:cNvSpPr/>
            <p:nvPr/>
          </p:nvSpPr>
          <p:spPr>
            <a:xfrm>
              <a:off x="6506664" y="4053601"/>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Inst1</a:t>
              </a:r>
            </a:p>
          </p:txBody>
        </p:sp>
        <p:cxnSp>
          <p:nvCxnSpPr>
            <p:cNvPr id="96" name="Straight Arrow Connector 95">
              <a:extLst>
                <a:ext uri="{FF2B5EF4-FFF2-40B4-BE49-F238E27FC236}">
                  <a16:creationId xmlns:a16="http://schemas.microsoft.com/office/drawing/2014/main" id="{BAE06AA1-C822-434D-8F32-BF5B82B3EFC1}"/>
                </a:ext>
              </a:extLst>
            </p:cNvPr>
            <p:cNvCxnSpPr>
              <a:cxnSpLocks/>
            </p:cNvCxnSpPr>
            <p:nvPr/>
          </p:nvCxnSpPr>
          <p:spPr>
            <a:xfrm>
              <a:off x="7194085"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B9077C43-2DA1-42AE-9B92-62DAF145A751}"/>
                </a:ext>
              </a:extLst>
            </p:cNvPr>
            <p:cNvCxnSpPr>
              <a:cxnSpLocks/>
            </p:cNvCxnSpPr>
            <p:nvPr/>
          </p:nvCxnSpPr>
          <p:spPr>
            <a:xfrm>
              <a:off x="6782281"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65CDF9C0-1A39-466C-B857-0AB6CCD2E126}"/>
                </a:ext>
              </a:extLst>
            </p:cNvPr>
            <p:cNvSpPr txBox="1"/>
            <p:nvPr/>
          </p:nvSpPr>
          <p:spPr>
            <a:xfrm>
              <a:off x="6552448" y="3438767"/>
              <a:ext cx="548548" cy="338554"/>
            </a:xfrm>
            <a:prstGeom prst="rect">
              <a:avLst/>
            </a:prstGeom>
            <a:noFill/>
          </p:spPr>
          <p:txBody>
            <a:bodyPr wrap="none" rtlCol="0">
              <a:spAutoFit/>
            </a:bodyPr>
            <a:lstStyle/>
            <a:p>
              <a:r>
                <a:rPr lang="en-US" sz="1600" b="1" dirty="0">
                  <a:solidFill>
                    <a:schemeClr val="accent1">
                      <a:lumMod val="75000"/>
                    </a:schemeClr>
                  </a:solidFill>
                </a:rPr>
                <a:t>A[1]</a:t>
              </a:r>
            </a:p>
          </p:txBody>
        </p:sp>
        <p:sp>
          <p:nvSpPr>
            <p:cNvPr id="99" name="TextBox 98">
              <a:extLst>
                <a:ext uri="{FF2B5EF4-FFF2-40B4-BE49-F238E27FC236}">
                  <a16:creationId xmlns:a16="http://schemas.microsoft.com/office/drawing/2014/main" id="{09C68668-943E-4389-8794-6D12666AD0D9}"/>
                </a:ext>
              </a:extLst>
            </p:cNvPr>
            <p:cNvSpPr txBox="1"/>
            <p:nvPr/>
          </p:nvSpPr>
          <p:spPr>
            <a:xfrm>
              <a:off x="6965298" y="3429000"/>
              <a:ext cx="538930" cy="338554"/>
            </a:xfrm>
            <a:prstGeom prst="rect">
              <a:avLst/>
            </a:prstGeom>
            <a:noFill/>
          </p:spPr>
          <p:txBody>
            <a:bodyPr wrap="none" rtlCol="0">
              <a:spAutoFit/>
            </a:bodyPr>
            <a:lstStyle/>
            <a:p>
              <a:r>
                <a:rPr lang="en-US" sz="1600" b="1" dirty="0">
                  <a:solidFill>
                    <a:schemeClr val="accent1">
                      <a:lumMod val="75000"/>
                    </a:schemeClr>
                  </a:solidFill>
                </a:rPr>
                <a:t>B[1]</a:t>
              </a:r>
            </a:p>
          </p:txBody>
        </p:sp>
        <p:sp>
          <p:nvSpPr>
            <p:cNvPr id="100" name="TextBox 99">
              <a:extLst>
                <a:ext uri="{FF2B5EF4-FFF2-40B4-BE49-F238E27FC236}">
                  <a16:creationId xmlns:a16="http://schemas.microsoft.com/office/drawing/2014/main" id="{7A5C0DCD-CEE6-4B8B-80E1-C328B749EDBB}"/>
                </a:ext>
              </a:extLst>
            </p:cNvPr>
            <p:cNvSpPr txBox="1"/>
            <p:nvPr/>
          </p:nvSpPr>
          <p:spPr>
            <a:xfrm>
              <a:off x="6754049" y="5212542"/>
              <a:ext cx="521297" cy="338554"/>
            </a:xfrm>
            <a:prstGeom prst="rect">
              <a:avLst/>
            </a:prstGeom>
            <a:noFill/>
          </p:spPr>
          <p:txBody>
            <a:bodyPr wrap="none" rtlCol="0">
              <a:spAutoFit/>
            </a:bodyPr>
            <a:lstStyle/>
            <a:p>
              <a:r>
                <a:rPr lang="en-US" sz="1600" b="1" dirty="0">
                  <a:solidFill>
                    <a:schemeClr val="accent1">
                      <a:lumMod val="75000"/>
                    </a:schemeClr>
                  </a:solidFill>
                </a:rPr>
                <a:t>S[1]</a:t>
              </a:r>
            </a:p>
          </p:txBody>
        </p:sp>
        <p:cxnSp>
          <p:nvCxnSpPr>
            <p:cNvPr id="101" name="Straight Arrow Connector 100">
              <a:extLst>
                <a:ext uri="{FF2B5EF4-FFF2-40B4-BE49-F238E27FC236}">
                  <a16:creationId xmlns:a16="http://schemas.microsoft.com/office/drawing/2014/main" id="{23617E16-F873-4BC7-949A-EEC2B7F5EC4E}"/>
                </a:ext>
              </a:extLst>
            </p:cNvPr>
            <p:cNvCxnSpPr>
              <a:cxnSpLocks/>
            </p:cNvCxnSpPr>
            <p:nvPr/>
          </p:nvCxnSpPr>
          <p:spPr>
            <a:xfrm>
              <a:off x="7006592" y="4968002"/>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D2E09A3A-FFF9-49DD-85D7-EC28ECDE2754}"/>
                </a:ext>
              </a:extLst>
            </p:cNvPr>
            <p:cNvCxnSpPr>
              <a:cxnSpLocks/>
            </p:cNvCxnSpPr>
            <p:nvPr/>
          </p:nvCxnSpPr>
          <p:spPr>
            <a:xfrm flipH="1">
              <a:off x="7488639" y="4511817"/>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A3F35E02-528B-460E-B708-F69F5BEEE85D}"/>
                </a:ext>
              </a:extLst>
            </p:cNvPr>
            <p:cNvSpPr/>
            <p:nvPr/>
          </p:nvSpPr>
          <p:spPr>
            <a:xfrm>
              <a:off x="8107495" y="4053601"/>
              <a:ext cx="1001949" cy="89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1-bit Full Adder</a:t>
              </a:r>
            </a:p>
            <a:p>
              <a:pPr algn="ctr"/>
              <a:r>
                <a:rPr lang="en-US" dirty="0"/>
                <a:t>Inst0</a:t>
              </a:r>
            </a:p>
          </p:txBody>
        </p:sp>
        <p:cxnSp>
          <p:nvCxnSpPr>
            <p:cNvPr id="104" name="Straight Arrow Connector 103">
              <a:extLst>
                <a:ext uri="{FF2B5EF4-FFF2-40B4-BE49-F238E27FC236}">
                  <a16:creationId xmlns:a16="http://schemas.microsoft.com/office/drawing/2014/main" id="{53783D91-233F-4CAC-99A4-9994798B9583}"/>
                </a:ext>
              </a:extLst>
            </p:cNvPr>
            <p:cNvCxnSpPr>
              <a:cxnSpLocks/>
            </p:cNvCxnSpPr>
            <p:nvPr/>
          </p:nvCxnSpPr>
          <p:spPr>
            <a:xfrm>
              <a:off x="8794916"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69F8999D-D6B1-4E7A-9CB2-761DFD8263B7}"/>
                </a:ext>
              </a:extLst>
            </p:cNvPr>
            <p:cNvCxnSpPr>
              <a:cxnSpLocks/>
            </p:cNvCxnSpPr>
            <p:nvPr/>
          </p:nvCxnSpPr>
          <p:spPr>
            <a:xfrm>
              <a:off x="8383112" y="3722861"/>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E2612D2-E6F5-45CE-A625-B58DF2D1C286}"/>
                </a:ext>
              </a:extLst>
            </p:cNvPr>
            <p:cNvSpPr txBox="1"/>
            <p:nvPr/>
          </p:nvSpPr>
          <p:spPr>
            <a:xfrm>
              <a:off x="8153279" y="3438767"/>
              <a:ext cx="548548" cy="338554"/>
            </a:xfrm>
            <a:prstGeom prst="rect">
              <a:avLst/>
            </a:prstGeom>
            <a:noFill/>
          </p:spPr>
          <p:txBody>
            <a:bodyPr wrap="none" rtlCol="0">
              <a:spAutoFit/>
            </a:bodyPr>
            <a:lstStyle/>
            <a:p>
              <a:r>
                <a:rPr lang="en-US" sz="1600" b="1" dirty="0">
                  <a:solidFill>
                    <a:schemeClr val="accent1">
                      <a:lumMod val="75000"/>
                    </a:schemeClr>
                  </a:solidFill>
                </a:rPr>
                <a:t>A[0]</a:t>
              </a:r>
            </a:p>
          </p:txBody>
        </p:sp>
        <p:sp>
          <p:nvSpPr>
            <p:cNvPr id="107" name="TextBox 106">
              <a:extLst>
                <a:ext uri="{FF2B5EF4-FFF2-40B4-BE49-F238E27FC236}">
                  <a16:creationId xmlns:a16="http://schemas.microsoft.com/office/drawing/2014/main" id="{2B061E64-7423-40EC-A8CA-E3D397B5E89F}"/>
                </a:ext>
              </a:extLst>
            </p:cNvPr>
            <p:cNvSpPr txBox="1"/>
            <p:nvPr/>
          </p:nvSpPr>
          <p:spPr>
            <a:xfrm>
              <a:off x="8566129" y="3429000"/>
              <a:ext cx="538930" cy="338554"/>
            </a:xfrm>
            <a:prstGeom prst="rect">
              <a:avLst/>
            </a:prstGeom>
            <a:noFill/>
          </p:spPr>
          <p:txBody>
            <a:bodyPr wrap="none" rtlCol="0">
              <a:spAutoFit/>
            </a:bodyPr>
            <a:lstStyle/>
            <a:p>
              <a:r>
                <a:rPr lang="en-US" sz="1600" b="1" dirty="0">
                  <a:solidFill>
                    <a:schemeClr val="accent1">
                      <a:lumMod val="75000"/>
                    </a:schemeClr>
                  </a:solidFill>
                </a:rPr>
                <a:t>B[0]</a:t>
              </a:r>
            </a:p>
          </p:txBody>
        </p:sp>
        <p:sp>
          <p:nvSpPr>
            <p:cNvPr id="108" name="TextBox 107">
              <a:extLst>
                <a:ext uri="{FF2B5EF4-FFF2-40B4-BE49-F238E27FC236}">
                  <a16:creationId xmlns:a16="http://schemas.microsoft.com/office/drawing/2014/main" id="{7FA43F56-2E81-4325-A600-9250C358F7E8}"/>
                </a:ext>
              </a:extLst>
            </p:cNvPr>
            <p:cNvSpPr txBox="1"/>
            <p:nvPr/>
          </p:nvSpPr>
          <p:spPr>
            <a:xfrm>
              <a:off x="8366908" y="5223810"/>
              <a:ext cx="521297" cy="338554"/>
            </a:xfrm>
            <a:prstGeom prst="rect">
              <a:avLst/>
            </a:prstGeom>
            <a:noFill/>
          </p:spPr>
          <p:txBody>
            <a:bodyPr wrap="none" rtlCol="0">
              <a:spAutoFit/>
            </a:bodyPr>
            <a:lstStyle/>
            <a:p>
              <a:r>
                <a:rPr lang="en-US" sz="1600" b="1" dirty="0">
                  <a:solidFill>
                    <a:schemeClr val="accent1">
                      <a:lumMod val="75000"/>
                    </a:schemeClr>
                  </a:solidFill>
                </a:rPr>
                <a:t>S[0]</a:t>
              </a:r>
            </a:p>
          </p:txBody>
        </p:sp>
        <p:cxnSp>
          <p:nvCxnSpPr>
            <p:cNvPr id="109" name="Straight Arrow Connector 108">
              <a:extLst>
                <a:ext uri="{FF2B5EF4-FFF2-40B4-BE49-F238E27FC236}">
                  <a16:creationId xmlns:a16="http://schemas.microsoft.com/office/drawing/2014/main" id="{6D9C5B2C-A383-4627-92A2-32FEE9920515}"/>
                </a:ext>
              </a:extLst>
            </p:cNvPr>
            <p:cNvCxnSpPr>
              <a:cxnSpLocks/>
            </p:cNvCxnSpPr>
            <p:nvPr/>
          </p:nvCxnSpPr>
          <p:spPr>
            <a:xfrm>
              <a:off x="8607423" y="4968002"/>
              <a:ext cx="0" cy="330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8FCCF2FF-8691-4225-95AC-38071BF7E892}"/>
                </a:ext>
              </a:extLst>
            </p:cNvPr>
            <p:cNvCxnSpPr>
              <a:cxnSpLocks/>
            </p:cNvCxnSpPr>
            <p:nvPr/>
          </p:nvCxnSpPr>
          <p:spPr>
            <a:xfrm flipH="1">
              <a:off x="9109444" y="4421025"/>
              <a:ext cx="301558"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38052EA-FF17-4895-811B-01C95B87B1E9}"/>
                </a:ext>
              </a:extLst>
            </p:cNvPr>
            <p:cNvSpPr txBox="1"/>
            <p:nvPr/>
          </p:nvSpPr>
          <p:spPr>
            <a:xfrm>
              <a:off x="9381818" y="4251748"/>
              <a:ext cx="976549" cy="338554"/>
            </a:xfrm>
            <a:prstGeom prst="rect">
              <a:avLst/>
            </a:prstGeom>
            <a:noFill/>
          </p:spPr>
          <p:txBody>
            <a:bodyPr wrap="none" rtlCol="0">
              <a:spAutoFit/>
            </a:bodyPr>
            <a:lstStyle/>
            <a:p>
              <a:r>
                <a:rPr lang="en-US" sz="1600" b="1" dirty="0">
                  <a:solidFill>
                    <a:schemeClr val="accent1">
                      <a:lumMod val="75000"/>
                    </a:schemeClr>
                  </a:solidFill>
                </a:rPr>
                <a:t>C[0] (</a:t>
              </a:r>
              <a:r>
                <a:rPr lang="en-US" sz="1600" b="1" dirty="0" err="1">
                  <a:solidFill>
                    <a:schemeClr val="accent1">
                      <a:lumMod val="75000"/>
                    </a:schemeClr>
                  </a:solidFill>
                </a:rPr>
                <a:t>Cin</a:t>
              </a:r>
              <a:r>
                <a:rPr lang="en-US" sz="1600" b="1" dirty="0">
                  <a:solidFill>
                    <a:schemeClr val="accent1">
                      <a:lumMod val="75000"/>
                    </a:schemeClr>
                  </a:solidFill>
                </a:rPr>
                <a:t>)</a:t>
              </a:r>
            </a:p>
          </p:txBody>
        </p:sp>
        <p:sp>
          <p:nvSpPr>
            <p:cNvPr id="112" name="TextBox 111">
              <a:extLst>
                <a:ext uri="{FF2B5EF4-FFF2-40B4-BE49-F238E27FC236}">
                  <a16:creationId xmlns:a16="http://schemas.microsoft.com/office/drawing/2014/main" id="{2446CB18-264C-4C7D-99B2-7CE374F7F41D}"/>
                </a:ext>
              </a:extLst>
            </p:cNvPr>
            <p:cNvSpPr txBox="1"/>
            <p:nvPr/>
          </p:nvSpPr>
          <p:spPr>
            <a:xfrm>
              <a:off x="7469675" y="4141747"/>
              <a:ext cx="532518" cy="338554"/>
            </a:xfrm>
            <a:prstGeom prst="rect">
              <a:avLst/>
            </a:prstGeom>
            <a:noFill/>
          </p:spPr>
          <p:txBody>
            <a:bodyPr wrap="none" rtlCol="0">
              <a:spAutoFit/>
            </a:bodyPr>
            <a:lstStyle/>
            <a:p>
              <a:r>
                <a:rPr lang="en-US" sz="1600" b="1" dirty="0">
                  <a:solidFill>
                    <a:schemeClr val="accent1">
                      <a:lumMod val="75000"/>
                    </a:schemeClr>
                  </a:solidFill>
                </a:rPr>
                <a:t>C[1]</a:t>
              </a:r>
            </a:p>
          </p:txBody>
        </p:sp>
        <p:sp>
          <p:nvSpPr>
            <p:cNvPr id="113" name="TextBox 112">
              <a:extLst>
                <a:ext uri="{FF2B5EF4-FFF2-40B4-BE49-F238E27FC236}">
                  <a16:creationId xmlns:a16="http://schemas.microsoft.com/office/drawing/2014/main" id="{FD7A9DFE-56FE-41D4-8452-4E473CF4204D}"/>
                </a:ext>
              </a:extLst>
            </p:cNvPr>
            <p:cNvSpPr txBox="1"/>
            <p:nvPr/>
          </p:nvSpPr>
          <p:spPr>
            <a:xfrm>
              <a:off x="5900274" y="4142130"/>
              <a:ext cx="532518" cy="338554"/>
            </a:xfrm>
            <a:prstGeom prst="rect">
              <a:avLst/>
            </a:prstGeom>
            <a:noFill/>
          </p:spPr>
          <p:txBody>
            <a:bodyPr wrap="none" rtlCol="0">
              <a:spAutoFit/>
            </a:bodyPr>
            <a:lstStyle/>
            <a:p>
              <a:r>
                <a:rPr lang="en-US" sz="1600" b="1" dirty="0">
                  <a:solidFill>
                    <a:schemeClr val="accent1">
                      <a:lumMod val="75000"/>
                    </a:schemeClr>
                  </a:solidFill>
                </a:rPr>
                <a:t>C[2]</a:t>
              </a:r>
            </a:p>
          </p:txBody>
        </p:sp>
        <p:sp>
          <p:nvSpPr>
            <p:cNvPr id="114" name="TextBox 113">
              <a:extLst>
                <a:ext uri="{FF2B5EF4-FFF2-40B4-BE49-F238E27FC236}">
                  <a16:creationId xmlns:a16="http://schemas.microsoft.com/office/drawing/2014/main" id="{DBAAC9E8-070B-4F5A-990E-CFD4A7D380D9}"/>
                </a:ext>
              </a:extLst>
            </p:cNvPr>
            <p:cNvSpPr txBox="1"/>
            <p:nvPr/>
          </p:nvSpPr>
          <p:spPr>
            <a:xfrm>
              <a:off x="4266448" y="4153806"/>
              <a:ext cx="532518" cy="338554"/>
            </a:xfrm>
            <a:prstGeom prst="rect">
              <a:avLst/>
            </a:prstGeom>
            <a:noFill/>
          </p:spPr>
          <p:txBody>
            <a:bodyPr wrap="none" rtlCol="0">
              <a:spAutoFit/>
            </a:bodyPr>
            <a:lstStyle/>
            <a:p>
              <a:r>
                <a:rPr lang="en-US" sz="1600" b="1" dirty="0">
                  <a:solidFill>
                    <a:schemeClr val="accent1">
                      <a:lumMod val="75000"/>
                    </a:schemeClr>
                  </a:solidFill>
                </a:rPr>
                <a:t>C[3]</a:t>
              </a:r>
            </a:p>
          </p:txBody>
        </p:sp>
        <p:sp>
          <p:nvSpPr>
            <p:cNvPr id="115" name="Rectangle 114">
              <a:extLst>
                <a:ext uri="{FF2B5EF4-FFF2-40B4-BE49-F238E27FC236}">
                  <a16:creationId xmlns:a16="http://schemas.microsoft.com/office/drawing/2014/main" id="{D31C2DAC-5732-47F7-9146-F4CF760D8C80}"/>
                </a:ext>
              </a:extLst>
            </p:cNvPr>
            <p:cNvSpPr/>
            <p:nvPr/>
          </p:nvSpPr>
          <p:spPr>
            <a:xfrm>
              <a:off x="3213762" y="5791652"/>
              <a:ext cx="5822631" cy="564698"/>
            </a:xfrm>
            <a:prstGeom prst="rect">
              <a:avLst/>
            </a:prstGeom>
            <a:solidFill>
              <a:schemeClr val="bg1">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Carry Lookahead Logic (generate and propagate carry)</a:t>
              </a:r>
            </a:p>
          </p:txBody>
        </p:sp>
        <p:sp>
          <p:nvSpPr>
            <p:cNvPr id="116" name="TextBox 115">
              <a:extLst>
                <a:ext uri="{FF2B5EF4-FFF2-40B4-BE49-F238E27FC236}">
                  <a16:creationId xmlns:a16="http://schemas.microsoft.com/office/drawing/2014/main" id="{1551D274-B757-40E5-9E60-2167A8AACEAF}"/>
                </a:ext>
              </a:extLst>
            </p:cNvPr>
            <p:cNvSpPr txBox="1"/>
            <p:nvPr/>
          </p:nvSpPr>
          <p:spPr>
            <a:xfrm>
              <a:off x="7662667" y="6538733"/>
              <a:ext cx="548548" cy="338554"/>
            </a:xfrm>
            <a:prstGeom prst="rect">
              <a:avLst/>
            </a:prstGeom>
            <a:noFill/>
          </p:spPr>
          <p:txBody>
            <a:bodyPr wrap="none" rtlCol="0">
              <a:spAutoFit/>
            </a:bodyPr>
            <a:lstStyle/>
            <a:p>
              <a:r>
                <a:rPr lang="en-US" sz="1600" b="1" dirty="0">
                  <a:solidFill>
                    <a:schemeClr val="accent1">
                      <a:lumMod val="75000"/>
                    </a:schemeClr>
                  </a:solidFill>
                </a:rPr>
                <a:t>A[0]</a:t>
              </a:r>
            </a:p>
          </p:txBody>
        </p:sp>
        <p:sp>
          <p:nvSpPr>
            <p:cNvPr id="117" name="TextBox 116">
              <a:extLst>
                <a:ext uri="{FF2B5EF4-FFF2-40B4-BE49-F238E27FC236}">
                  <a16:creationId xmlns:a16="http://schemas.microsoft.com/office/drawing/2014/main" id="{9ECE51EC-1577-4B15-947A-3CDCF4E85463}"/>
                </a:ext>
              </a:extLst>
            </p:cNvPr>
            <p:cNvSpPr txBox="1"/>
            <p:nvPr/>
          </p:nvSpPr>
          <p:spPr>
            <a:xfrm>
              <a:off x="8075517" y="6528966"/>
              <a:ext cx="538930" cy="338554"/>
            </a:xfrm>
            <a:prstGeom prst="rect">
              <a:avLst/>
            </a:prstGeom>
            <a:noFill/>
          </p:spPr>
          <p:txBody>
            <a:bodyPr wrap="none" rtlCol="0">
              <a:spAutoFit/>
            </a:bodyPr>
            <a:lstStyle/>
            <a:p>
              <a:r>
                <a:rPr lang="en-US" sz="1600" b="1" dirty="0">
                  <a:solidFill>
                    <a:schemeClr val="accent1">
                      <a:lumMod val="75000"/>
                    </a:schemeClr>
                  </a:solidFill>
                </a:rPr>
                <a:t>B[0]</a:t>
              </a:r>
            </a:p>
          </p:txBody>
        </p:sp>
        <p:cxnSp>
          <p:nvCxnSpPr>
            <p:cNvPr id="118" name="Straight Arrow Connector 117">
              <a:extLst>
                <a:ext uri="{FF2B5EF4-FFF2-40B4-BE49-F238E27FC236}">
                  <a16:creationId xmlns:a16="http://schemas.microsoft.com/office/drawing/2014/main" id="{1375E653-7167-4218-9487-834913C9E53D}"/>
                </a:ext>
              </a:extLst>
            </p:cNvPr>
            <p:cNvCxnSpPr>
              <a:cxnSpLocks/>
            </p:cNvCxnSpPr>
            <p:nvPr/>
          </p:nvCxnSpPr>
          <p:spPr>
            <a:xfrm flipV="1">
              <a:off x="8276684" y="6356350"/>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A4ED264F-46C3-4FF4-BB11-17B54B65F36E}"/>
                </a:ext>
              </a:extLst>
            </p:cNvPr>
            <p:cNvCxnSpPr>
              <a:cxnSpLocks/>
            </p:cNvCxnSpPr>
            <p:nvPr/>
          </p:nvCxnSpPr>
          <p:spPr>
            <a:xfrm flipV="1">
              <a:off x="7942701" y="6356350"/>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E500BE14-D822-4B9C-8F90-D5088B812B78}"/>
                </a:ext>
              </a:extLst>
            </p:cNvPr>
            <p:cNvSpPr txBox="1"/>
            <p:nvPr/>
          </p:nvSpPr>
          <p:spPr>
            <a:xfrm>
              <a:off x="6425117" y="6549856"/>
              <a:ext cx="548548" cy="338554"/>
            </a:xfrm>
            <a:prstGeom prst="rect">
              <a:avLst/>
            </a:prstGeom>
            <a:noFill/>
          </p:spPr>
          <p:txBody>
            <a:bodyPr wrap="none" rtlCol="0">
              <a:spAutoFit/>
            </a:bodyPr>
            <a:lstStyle/>
            <a:p>
              <a:r>
                <a:rPr lang="en-US" sz="1600" b="1" dirty="0">
                  <a:solidFill>
                    <a:schemeClr val="accent1">
                      <a:lumMod val="75000"/>
                    </a:schemeClr>
                  </a:solidFill>
                </a:rPr>
                <a:t>A[1]</a:t>
              </a:r>
            </a:p>
          </p:txBody>
        </p:sp>
        <p:sp>
          <p:nvSpPr>
            <p:cNvPr id="121" name="TextBox 120">
              <a:extLst>
                <a:ext uri="{FF2B5EF4-FFF2-40B4-BE49-F238E27FC236}">
                  <a16:creationId xmlns:a16="http://schemas.microsoft.com/office/drawing/2014/main" id="{AC8F1D4D-8E5D-45B9-A503-C2552D43A9BF}"/>
                </a:ext>
              </a:extLst>
            </p:cNvPr>
            <p:cNvSpPr txBox="1"/>
            <p:nvPr/>
          </p:nvSpPr>
          <p:spPr>
            <a:xfrm>
              <a:off x="6837967" y="6540089"/>
              <a:ext cx="538930" cy="338554"/>
            </a:xfrm>
            <a:prstGeom prst="rect">
              <a:avLst/>
            </a:prstGeom>
            <a:noFill/>
          </p:spPr>
          <p:txBody>
            <a:bodyPr wrap="none" rtlCol="0">
              <a:spAutoFit/>
            </a:bodyPr>
            <a:lstStyle/>
            <a:p>
              <a:r>
                <a:rPr lang="en-US" sz="1600" b="1" dirty="0">
                  <a:solidFill>
                    <a:schemeClr val="accent1">
                      <a:lumMod val="75000"/>
                    </a:schemeClr>
                  </a:solidFill>
                </a:rPr>
                <a:t>B[1]</a:t>
              </a:r>
            </a:p>
          </p:txBody>
        </p:sp>
        <p:cxnSp>
          <p:nvCxnSpPr>
            <p:cNvPr id="122" name="Straight Arrow Connector 121">
              <a:extLst>
                <a:ext uri="{FF2B5EF4-FFF2-40B4-BE49-F238E27FC236}">
                  <a16:creationId xmlns:a16="http://schemas.microsoft.com/office/drawing/2014/main" id="{7936E5DF-4A5A-4B2C-8EC3-0DF988CA7D22}"/>
                </a:ext>
              </a:extLst>
            </p:cNvPr>
            <p:cNvCxnSpPr>
              <a:cxnSpLocks/>
            </p:cNvCxnSpPr>
            <p:nvPr/>
          </p:nvCxnSpPr>
          <p:spPr>
            <a:xfrm flipV="1">
              <a:off x="7039134" y="6367473"/>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5D2551B2-EDCA-459D-B08F-E2CF7414CCA6}"/>
                </a:ext>
              </a:extLst>
            </p:cNvPr>
            <p:cNvCxnSpPr>
              <a:cxnSpLocks/>
            </p:cNvCxnSpPr>
            <p:nvPr/>
          </p:nvCxnSpPr>
          <p:spPr>
            <a:xfrm flipV="1">
              <a:off x="6705151" y="6367473"/>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21952BF6-4CCE-4F5A-8D0F-7E465C3DE2AD}"/>
                </a:ext>
              </a:extLst>
            </p:cNvPr>
            <p:cNvSpPr txBox="1"/>
            <p:nvPr/>
          </p:nvSpPr>
          <p:spPr>
            <a:xfrm>
              <a:off x="5031851" y="6552365"/>
              <a:ext cx="548548" cy="338554"/>
            </a:xfrm>
            <a:prstGeom prst="rect">
              <a:avLst/>
            </a:prstGeom>
            <a:noFill/>
          </p:spPr>
          <p:txBody>
            <a:bodyPr wrap="none" rtlCol="0">
              <a:spAutoFit/>
            </a:bodyPr>
            <a:lstStyle/>
            <a:p>
              <a:r>
                <a:rPr lang="en-US" sz="1600" b="1" dirty="0">
                  <a:solidFill>
                    <a:schemeClr val="accent1">
                      <a:lumMod val="75000"/>
                    </a:schemeClr>
                  </a:solidFill>
                </a:rPr>
                <a:t>A[2]</a:t>
              </a:r>
            </a:p>
          </p:txBody>
        </p:sp>
        <p:sp>
          <p:nvSpPr>
            <p:cNvPr id="125" name="TextBox 124">
              <a:extLst>
                <a:ext uri="{FF2B5EF4-FFF2-40B4-BE49-F238E27FC236}">
                  <a16:creationId xmlns:a16="http://schemas.microsoft.com/office/drawing/2014/main" id="{35007FCA-836B-45D5-8C71-C18BFE961EBC}"/>
                </a:ext>
              </a:extLst>
            </p:cNvPr>
            <p:cNvSpPr txBox="1"/>
            <p:nvPr/>
          </p:nvSpPr>
          <p:spPr>
            <a:xfrm>
              <a:off x="5444701" y="6542598"/>
              <a:ext cx="538930" cy="338554"/>
            </a:xfrm>
            <a:prstGeom prst="rect">
              <a:avLst/>
            </a:prstGeom>
            <a:noFill/>
          </p:spPr>
          <p:txBody>
            <a:bodyPr wrap="none" rtlCol="0">
              <a:spAutoFit/>
            </a:bodyPr>
            <a:lstStyle/>
            <a:p>
              <a:r>
                <a:rPr lang="en-US" sz="1600" b="1" dirty="0">
                  <a:solidFill>
                    <a:schemeClr val="accent1">
                      <a:lumMod val="75000"/>
                    </a:schemeClr>
                  </a:solidFill>
                </a:rPr>
                <a:t>B[2]</a:t>
              </a:r>
            </a:p>
          </p:txBody>
        </p:sp>
        <p:cxnSp>
          <p:nvCxnSpPr>
            <p:cNvPr id="126" name="Straight Arrow Connector 125">
              <a:extLst>
                <a:ext uri="{FF2B5EF4-FFF2-40B4-BE49-F238E27FC236}">
                  <a16:creationId xmlns:a16="http://schemas.microsoft.com/office/drawing/2014/main" id="{1B176569-D03B-406E-BE2A-91BAC503B0F5}"/>
                </a:ext>
              </a:extLst>
            </p:cNvPr>
            <p:cNvCxnSpPr>
              <a:cxnSpLocks/>
            </p:cNvCxnSpPr>
            <p:nvPr/>
          </p:nvCxnSpPr>
          <p:spPr>
            <a:xfrm flipV="1">
              <a:off x="5645868" y="6369982"/>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16939AFB-9853-4D9B-8313-8E35725D354F}"/>
                </a:ext>
              </a:extLst>
            </p:cNvPr>
            <p:cNvCxnSpPr>
              <a:cxnSpLocks/>
            </p:cNvCxnSpPr>
            <p:nvPr/>
          </p:nvCxnSpPr>
          <p:spPr>
            <a:xfrm flipV="1">
              <a:off x="5311885" y="6369982"/>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346EA467-377F-4689-AA0E-BC7B562A395C}"/>
                </a:ext>
              </a:extLst>
            </p:cNvPr>
            <p:cNvSpPr txBox="1"/>
            <p:nvPr/>
          </p:nvSpPr>
          <p:spPr>
            <a:xfrm>
              <a:off x="3629037" y="6564898"/>
              <a:ext cx="548548" cy="338554"/>
            </a:xfrm>
            <a:prstGeom prst="rect">
              <a:avLst/>
            </a:prstGeom>
            <a:noFill/>
          </p:spPr>
          <p:txBody>
            <a:bodyPr wrap="none" rtlCol="0">
              <a:spAutoFit/>
            </a:bodyPr>
            <a:lstStyle/>
            <a:p>
              <a:r>
                <a:rPr lang="en-US" sz="1600" b="1" dirty="0">
                  <a:solidFill>
                    <a:schemeClr val="accent1">
                      <a:lumMod val="75000"/>
                    </a:schemeClr>
                  </a:solidFill>
                </a:rPr>
                <a:t>A[3]</a:t>
              </a:r>
            </a:p>
          </p:txBody>
        </p:sp>
        <p:sp>
          <p:nvSpPr>
            <p:cNvPr id="129" name="TextBox 128">
              <a:extLst>
                <a:ext uri="{FF2B5EF4-FFF2-40B4-BE49-F238E27FC236}">
                  <a16:creationId xmlns:a16="http://schemas.microsoft.com/office/drawing/2014/main" id="{6EA00180-2F9D-414B-BAEF-FF6F84B11CF9}"/>
                </a:ext>
              </a:extLst>
            </p:cNvPr>
            <p:cNvSpPr txBox="1"/>
            <p:nvPr/>
          </p:nvSpPr>
          <p:spPr>
            <a:xfrm>
              <a:off x="4041887" y="6555131"/>
              <a:ext cx="538930" cy="338554"/>
            </a:xfrm>
            <a:prstGeom prst="rect">
              <a:avLst/>
            </a:prstGeom>
            <a:noFill/>
          </p:spPr>
          <p:txBody>
            <a:bodyPr wrap="none" rtlCol="0">
              <a:spAutoFit/>
            </a:bodyPr>
            <a:lstStyle/>
            <a:p>
              <a:r>
                <a:rPr lang="en-US" sz="1600" b="1" dirty="0">
                  <a:solidFill>
                    <a:schemeClr val="accent1">
                      <a:lumMod val="75000"/>
                    </a:schemeClr>
                  </a:solidFill>
                </a:rPr>
                <a:t>B[3]</a:t>
              </a:r>
            </a:p>
          </p:txBody>
        </p:sp>
        <p:cxnSp>
          <p:nvCxnSpPr>
            <p:cNvPr id="130" name="Straight Arrow Connector 129">
              <a:extLst>
                <a:ext uri="{FF2B5EF4-FFF2-40B4-BE49-F238E27FC236}">
                  <a16:creationId xmlns:a16="http://schemas.microsoft.com/office/drawing/2014/main" id="{B2ABC9D3-78A6-4482-9C84-79F5CCA416D3}"/>
                </a:ext>
              </a:extLst>
            </p:cNvPr>
            <p:cNvCxnSpPr>
              <a:cxnSpLocks/>
            </p:cNvCxnSpPr>
            <p:nvPr/>
          </p:nvCxnSpPr>
          <p:spPr>
            <a:xfrm flipV="1">
              <a:off x="4243054" y="6382515"/>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6622AB69-1CB8-4E1C-9E86-5D088164EFB9}"/>
                </a:ext>
              </a:extLst>
            </p:cNvPr>
            <p:cNvCxnSpPr>
              <a:cxnSpLocks/>
            </p:cNvCxnSpPr>
            <p:nvPr/>
          </p:nvCxnSpPr>
          <p:spPr>
            <a:xfrm flipV="1">
              <a:off x="3909071" y="6382515"/>
              <a:ext cx="0" cy="23763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2EAE9E1C-303D-444B-904D-322812F76B6C}"/>
                </a:ext>
              </a:extLst>
            </p:cNvPr>
            <p:cNvCxnSpPr>
              <a:cxnSpLocks/>
            </p:cNvCxnSpPr>
            <p:nvPr/>
          </p:nvCxnSpPr>
          <p:spPr>
            <a:xfrm flipH="1">
              <a:off x="7752921" y="4506466"/>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7E5C1C92-33A7-446C-92D7-1A221212A1B2}"/>
                </a:ext>
              </a:extLst>
            </p:cNvPr>
            <p:cNvCxnSpPr>
              <a:cxnSpLocks/>
            </p:cNvCxnSpPr>
            <p:nvPr/>
          </p:nvCxnSpPr>
          <p:spPr>
            <a:xfrm flipH="1">
              <a:off x="5894956" y="4517698"/>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4E982713-12BE-45B5-9A0F-C1E12AE8A245}"/>
                </a:ext>
              </a:extLst>
            </p:cNvPr>
            <p:cNvCxnSpPr>
              <a:cxnSpLocks/>
            </p:cNvCxnSpPr>
            <p:nvPr/>
          </p:nvCxnSpPr>
          <p:spPr>
            <a:xfrm flipH="1">
              <a:off x="6159238" y="4512347"/>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97635358-7887-410D-884F-BC26DCA1EA39}"/>
                </a:ext>
              </a:extLst>
            </p:cNvPr>
            <p:cNvCxnSpPr>
              <a:cxnSpLocks/>
            </p:cNvCxnSpPr>
            <p:nvPr/>
          </p:nvCxnSpPr>
          <p:spPr>
            <a:xfrm flipH="1">
              <a:off x="4257361" y="4505331"/>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8386B170-A740-4FFF-989D-D7EFC0453331}"/>
                </a:ext>
              </a:extLst>
            </p:cNvPr>
            <p:cNvCxnSpPr>
              <a:cxnSpLocks/>
            </p:cNvCxnSpPr>
            <p:nvPr/>
          </p:nvCxnSpPr>
          <p:spPr>
            <a:xfrm flipH="1">
              <a:off x="4521643" y="4499980"/>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grpSp>
          <p:nvGrpSpPr>
            <p:cNvPr id="137" name="Group 136">
              <a:extLst>
                <a:ext uri="{FF2B5EF4-FFF2-40B4-BE49-F238E27FC236}">
                  <a16:creationId xmlns:a16="http://schemas.microsoft.com/office/drawing/2014/main" id="{AE373158-4C7C-42CA-8C1B-EFC2269BA2AF}"/>
                </a:ext>
              </a:extLst>
            </p:cNvPr>
            <p:cNvGrpSpPr/>
            <p:nvPr/>
          </p:nvGrpSpPr>
          <p:grpSpPr>
            <a:xfrm rot="10800000" flipH="1">
              <a:off x="9024479" y="4408037"/>
              <a:ext cx="288418" cy="1624520"/>
              <a:chOff x="10296690" y="4639935"/>
              <a:chExt cx="264283" cy="1317614"/>
            </a:xfrm>
          </p:grpSpPr>
          <p:cxnSp>
            <p:nvCxnSpPr>
              <p:cNvPr id="138" name="Straight Arrow Connector 137">
                <a:extLst>
                  <a:ext uri="{FF2B5EF4-FFF2-40B4-BE49-F238E27FC236}">
                    <a16:creationId xmlns:a16="http://schemas.microsoft.com/office/drawing/2014/main" id="{BEA4BEE0-6380-4BE6-856D-CF2BE1E25F75}"/>
                  </a:ext>
                </a:extLst>
              </p:cNvPr>
              <p:cNvCxnSpPr>
                <a:cxnSpLocks/>
              </p:cNvCxnSpPr>
              <p:nvPr/>
            </p:nvCxnSpPr>
            <p:spPr>
              <a:xfrm flipH="1">
                <a:off x="10296690" y="4645286"/>
                <a:ext cx="2642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91FDC985-59A6-402F-928F-0A78BF743B1D}"/>
                  </a:ext>
                </a:extLst>
              </p:cNvPr>
              <p:cNvCxnSpPr>
                <a:cxnSpLocks/>
              </p:cNvCxnSpPr>
              <p:nvPr/>
            </p:nvCxnSpPr>
            <p:spPr>
              <a:xfrm flipH="1">
                <a:off x="10560972" y="4639935"/>
                <a:ext cx="1" cy="131761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638030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295565" y="123825"/>
            <a:ext cx="11720222"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Carry Lookahead Adder Implementation Hint</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202922" y="658331"/>
            <a:ext cx="11938277" cy="3103433"/>
          </a:xfrm>
        </p:spPr>
        <p:txBody>
          <a:bodyPr>
            <a:noAutofit/>
          </a:bodyPr>
          <a:lstStyle/>
          <a:p>
            <a:r>
              <a:rPr lang="en-US" sz="1700" b="1" dirty="0"/>
              <a:t>C[1], C[2], C[3], C[4]</a:t>
            </a:r>
            <a:r>
              <a:rPr lang="en-US" sz="1700" dirty="0"/>
              <a:t> carryout are based on previous A and B inputs. </a:t>
            </a:r>
          </a:p>
          <a:p>
            <a:r>
              <a:rPr lang="en-US" sz="1700" b="1" dirty="0"/>
              <a:t>C[1], C[2], C[3], C[4]</a:t>
            </a:r>
            <a:r>
              <a:rPr lang="en-US" sz="1700" dirty="0"/>
              <a:t> each is created from “</a:t>
            </a:r>
            <a:r>
              <a:rPr lang="en-US" sz="1700" b="1" dirty="0"/>
              <a:t>generate and propagate carry</a:t>
            </a:r>
            <a:r>
              <a:rPr lang="en-US" sz="1700" dirty="0"/>
              <a:t>” logic. </a:t>
            </a:r>
          </a:p>
          <a:p>
            <a:r>
              <a:rPr lang="en-US" sz="1700" dirty="0"/>
              <a:t>This can be implemented by using below mentioned Boolean expression and putting this logic in generate for statement</a:t>
            </a:r>
          </a:p>
          <a:p>
            <a:pPr lvl="1"/>
            <a:r>
              <a:rPr lang="pt-BR" sz="1700" dirty="0"/>
              <a:t>declare logic[N:0] l_carry; // N = 4</a:t>
            </a:r>
          </a:p>
          <a:p>
            <a:pPr lvl="1"/>
            <a:r>
              <a:rPr lang="pt-BR" sz="1700" dirty="0"/>
              <a:t>Using generate for where </a:t>
            </a:r>
            <a:r>
              <a:rPr lang="pt-BR" sz="1700" b="1" dirty="0"/>
              <a:t>i</a:t>
            </a:r>
            <a:r>
              <a:rPr lang="pt-BR" sz="1700" dirty="0"/>
              <a:t> is 0 to 3 create l_carry[1] to l_carry[4] which is same as C[1] to C[4] in diagram on previous page</a:t>
            </a:r>
            <a:endParaRPr lang="en-US" sz="1700" dirty="0"/>
          </a:p>
          <a:p>
            <a:pPr marL="914400" lvl="2" indent="0">
              <a:buNone/>
            </a:pPr>
            <a:r>
              <a:rPr lang="en-US" sz="1700" dirty="0"/>
              <a:t>assign </a:t>
            </a:r>
            <a:r>
              <a:rPr lang="en-US" sz="1700" dirty="0" err="1"/>
              <a:t>l_carry</a:t>
            </a:r>
            <a:r>
              <a:rPr lang="en-US" sz="1700" dirty="0"/>
              <a:t>[i+1] = </a:t>
            </a:r>
            <a:r>
              <a:rPr lang="en-US" sz="1700" b="1" dirty="0">
                <a:solidFill>
                  <a:schemeClr val="accent6">
                    <a:lumMod val="50000"/>
                  </a:schemeClr>
                </a:solidFill>
              </a:rPr>
              <a:t>( (A[</a:t>
            </a:r>
            <a:r>
              <a:rPr lang="en-US" sz="1700" b="1" dirty="0" err="1">
                <a:solidFill>
                  <a:schemeClr val="accent6">
                    <a:lumMod val="50000"/>
                  </a:schemeClr>
                </a:solidFill>
              </a:rPr>
              <a:t>i</a:t>
            </a:r>
            <a:r>
              <a:rPr lang="en-US" sz="1700" b="1" dirty="0">
                <a:solidFill>
                  <a:schemeClr val="accent6">
                    <a:lumMod val="50000"/>
                  </a:schemeClr>
                </a:solidFill>
              </a:rPr>
              <a:t>] | B[</a:t>
            </a:r>
            <a:r>
              <a:rPr lang="en-US" sz="1700" b="1" dirty="0" err="1">
                <a:solidFill>
                  <a:schemeClr val="accent6">
                    <a:lumMod val="50000"/>
                  </a:schemeClr>
                </a:solidFill>
              </a:rPr>
              <a:t>i</a:t>
            </a:r>
            <a:r>
              <a:rPr lang="en-US" sz="1700" b="1" dirty="0">
                <a:solidFill>
                  <a:schemeClr val="accent6">
                    <a:lumMod val="50000"/>
                  </a:schemeClr>
                </a:solidFill>
              </a:rPr>
              <a:t>]) &amp; </a:t>
            </a:r>
            <a:r>
              <a:rPr lang="en-US" sz="1700" b="1" dirty="0" err="1">
                <a:solidFill>
                  <a:schemeClr val="accent6">
                    <a:lumMod val="50000"/>
                  </a:schemeClr>
                </a:solidFill>
              </a:rPr>
              <a:t>Cin</a:t>
            </a:r>
            <a:r>
              <a:rPr lang="en-US" sz="1700" b="1" dirty="0">
                <a:solidFill>
                  <a:schemeClr val="accent6">
                    <a:lumMod val="50000"/>
                  </a:schemeClr>
                </a:solidFill>
              </a:rPr>
              <a:t>[</a:t>
            </a:r>
            <a:r>
              <a:rPr lang="en-US" sz="1700" b="1" dirty="0" err="1">
                <a:solidFill>
                  <a:schemeClr val="accent6">
                    <a:lumMod val="50000"/>
                  </a:schemeClr>
                </a:solidFill>
              </a:rPr>
              <a:t>i</a:t>
            </a:r>
            <a:r>
              <a:rPr lang="en-US" sz="1700" b="1" dirty="0">
                <a:solidFill>
                  <a:schemeClr val="accent6">
                    <a:lumMod val="50000"/>
                  </a:schemeClr>
                </a:solidFill>
              </a:rPr>
              <a:t>] ) |</a:t>
            </a:r>
            <a:r>
              <a:rPr lang="en-US" sz="1700" dirty="0"/>
              <a:t>  </a:t>
            </a:r>
            <a:r>
              <a:rPr lang="en-US" sz="1700" b="1" dirty="0">
                <a:solidFill>
                  <a:schemeClr val="accent5">
                    <a:lumMod val="75000"/>
                  </a:schemeClr>
                </a:solidFill>
              </a:rPr>
              <a:t>( A[</a:t>
            </a:r>
            <a:r>
              <a:rPr lang="en-US" sz="1700" b="1" dirty="0" err="1">
                <a:solidFill>
                  <a:schemeClr val="accent5">
                    <a:lumMod val="75000"/>
                  </a:schemeClr>
                </a:solidFill>
              </a:rPr>
              <a:t>i</a:t>
            </a:r>
            <a:r>
              <a:rPr lang="en-US" sz="1700" b="1" dirty="0">
                <a:solidFill>
                  <a:schemeClr val="accent5">
                    <a:lumMod val="75000"/>
                  </a:schemeClr>
                </a:solidFill>
              </a:rPr>
              <a:t>] &amp; B[</a:t>
            </a:r>
            <a:r>
              <a:rPr lang="en-US" sz="1700" b="1" dirty="0" err="1">
                <a:solidFill>
                  <a:schemeClr val="accent5">
                    <a:lumMod val="75000"/>
                  </a:schemeClr>
                </a:solidFill>
              </a:rPr>
              <a:t>i</a:t>
            </a:r>
            <a:r>
              <a:rPr lang="en-US" sz="1700" b="1" dirty="0">
                <a:solidFill>
                  <a:schemeClr val="accent5">
                    <a:lumMod val="75000"/>
                  </a:schemeClr>
                </a:solidFill>
              </a:rPr>
              <a:t>] )</a:t>
            </a:r>
          </a:p>
          <a:p>
            <a:pPr marL="457200"/>
            <a:r>
              <a:rPr lang="en-US" sz="1700" b="1" dirty="0"/>
              <a:t>First stage full adder </a:t>
            </a:r>
            <a:r>
              <a:rPr lang="en-US" sz="1700" b="1" dirty="0" err="1"/>
              <a:t>Carryin</a:t>
            </a:r>
            <a:r>
              <a:rPr lang="en-US" sz="1700" b="1" dirty="0"/>
              <a:t> C[0] is,  </a:t>
            </a:r>
            <a:r>
              <a:rPr lang="en-US" sz="1700" b="1" dirty="0" err="1"/>
              <a:t>l_carry</a:t>
            </a:r>
            <a:r>
              <a:rPr lang="en-US" sz="1700" b="1" dirty="0"/>
              <a:t>[0] = CIN (CIN is input signal)</a:t>
            </a:r>
          </a:p>
          <a:p>
            <a:pPr marL="457200"/>
            <a:r>
              <a:rPr lang="en-US" sz="1700" b="1" dirty="0"/>
              <a:t>Final out result = {</a:t>
            </a:r>
            <a:r>
              <a:rPr lang="en-US" sz="1700" b="1" dirty="0" err="1"/>
              <a:t>l_carry</a:t>
            </a:r>
            <a:r>
              <a:rPr lang="en-US" sz="1700" b="1" dirty="0"/>
              <a:t>[N], S[3], S[2], S[1], S[0]} // where S[0], S[1], S[2], S[3] is “sum” output from each full adder instance</a:t>
            </a:r>
          </a:p>
          <a:p>
            <a:pPr marL="457200" lvl="1" indent="0">
              <a:buNone/>
            </a:pPr>
            <a:endParaRPr lang="en-US" sz="2200" dirty="0"/>
          </a:p>
          <a:p>
            <a:pPr marL="0" indent="0">
              <a:buNone/>
            </a:pPr>
            <a:endParaRPr lang="en-US" sz="1800"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463357"/>
            <a:ext cx="2743200" cy="365125"/>
          </a:xfrm>
        </p:spPr>
        <p:txBody>
          <a:bodyPr/>
          <a:lstStyle/>
          <a:p>
            <a:fld id="{3A98EE3D-8CD1-4C3F-BD1C-C98C9596463C}" type="slidenum">
              <a:rPr lang="en-US" smtClean="0"/>
              <a:t>12</a:t>
            </a:fld>
            <a:endParaRPr lang="en-US" dirty="0"/>
          </a:p>
        </p:txBody>
      </p:sp>
      <p:sp>
        <p:nvSpPr>
          <p:cNvPr id="77" name="TextBox 76">
            <a:extLst>
              <a:ext uri="{FF2B5EF4-FFF2-40B4-BE49-F238E27FC236}">
                <a16:creationId xmlns:a16="http://schemas.microsoft.com/office/drawing/2014/main" id="{4FE81D14-FB45-4B54-8D35-A95A3E0512DF}"/>
              </a:ext>
            </a:extLst>
          </p:cNvPr>
          <p:cNvSpPr txBox="1"/>
          <p:nvPr/>
        </p:nvSpPr>
        <p:spPr>
          <a:xfrm>
            <a:off x="7020435" y="3459862"/>
            <a:ext cx="4471508" cy="2800767"/>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chemeClr val="accent1">
                    <a:lumMod val="75000"/>
                  </a:schemeClr>
                </a:solidFill>
              </a:rPr>
              <a:t>Remember that in case of Carry Lookahead Adder, each Full Adder instance does addition of its Inputs concurrently. </a:t>
            </a:r>
          </a:p>
          <a:p>
            <a:pPr marL="285750" indent="-285750">
              <a:buFont typeface="Arial" panose="020B0604020202020204" pitchFamily="34" charset="0"/>
              <a:buChar char="•"/>
            </a:pPr>
            <a:endParaRPr lang="en-US" sz="1600" b="1" dirty="0">
              <a:solidFill>
                <a:schemeClr val="accent1">
                  <a:lumMod val="75000"/>
                </a:schemeClr>
              </a:solidFill>
            </a:endParaRPr>
          </a:p>
          <a:p>
            <a:pPr marL="285750" indent="-285750">
              <a:buFont typeface="Arial" panose="020B0604020202020204" pitchFamily="34" charset="0"/>
              <a:buChar char="•"/>
            </a:pPr>
            <a:r>
              <a:rPr lang="en-US" sz="1600" b="1" dirty="0">
                <a:solidFill>
                  <a:schemeClr val="accent1">
                    <a:lumMod val="75000"/>
                  </a:schemeClr>
                </a:solidFill>
              </a:rPr>
              <a:t>Hence </a:t>
            </a:r>
            <a:r>
              <a:rPr lang="en-US" sz="1600" b="1" dirty="0" err="1">
                <a:solidFill>
                  <a:schemeClr val="accent1">
                    <a:lumMod val="75000"/>
                  </a:schemeClr>
                </a:solidFill>
              </a:rPr>
              <a:t>Carryin</a:t>
            </a:r>
            <a:r>
              <a:rPr lang="en-US" sz="1600" b="1" dirty="0">
                <a:solidFill>
                  <a:schemeClr val="accent1">
                    <a:lumMod val="75000"/>
                  </a:schemeClr>
                </a:solidFill>
              </a:rPr>
              <a:t> for each full adder has to be made available without waiting for previous full adder addition operation completion.</a:t>
            </a:r>
          </a:p>
          <a:p>
            <a:pPr marL="285750" indent="-285750">
              <a:buFont typeface="Arial" panose="020B0604020202020204" pitchFamily="34" charset="0"/>
              <a:buChar char="•"/>
            </a:pPr>
            <a:endParaRPr lang="en-US" sz="1600" b="1" dirty="0">
              <a:solidFill>
                <a:schemeClr val="accent1">
                  <a:lumMod val="75000"/>
                </a:schemeClr>
              </a:solidFill>
            </a:endParaRPr>
          </a:p>
          <a:p>
            <a:pPr marL="285750" indent="-285750">
              <a:buFont typeface="Arial" panose="020B0604020202020204" pitchFamily="34" charset="0"/>
              <a:buChar char="•"/>
            </a:pPr>
            <a:r>
              <a:rPr lang="en-US" sz="1600" b="1" dirty="0">
                <a:solidFill>
                  <a:srgbClr val="FF0000"/>
                </a:solidFill>
              </a:rPr>
              <a:t>For each Full Adder Carry input is computed using previous full adder inputs and previous full adder </a:t>
            </a:r>
            <a:r>
              <a:rPr lang="en-US" sz="1600" b="1" dirty="0" err="1">
                <a:solidFill>
                  <a:srgbClr val="FF0000"/>
                </a:solidFill>
              </a:rPr>
              <a:t>carryin</a:t>
            </a:r>
            <a:r>
              <a:rPr lang="en-US" sz="1600" b="1" dirty="0">
                <a:solidFill>
                  <a:srgbClr val="FF0000"/>
                </a:solidFill>
              </a:rPr>
              <a:t> which is always available !</a:t>
            </a:r>
          </a:p>
        </p:txBody>
      </p:sp>
      <p:pic>
        <p:nvPicPr>
          <p:cNvPr id="141" name="Picture 140">
            <a:extLst>
              <a:ext uri="{FF2B5EF4-FFF2-40B4-BE49-F238E27FC236}">
                <a16:creationId xmlns:a16="http://schemas.microsoft.com/office/drawing/2014/main" id="{E368651C-4E25-4016-81A2-601D16473A81}"/>
              </a:ext>
            </a:extLst>
          </p:cNvPr>
          <p:cNvPicPr>
            <a:picLocks noChangeAspect="1"/>
          </p:cNvPicPr>
          <p:nvPr/>
        </p:nvPicPr>
        <p:blipFill>
          <a:blip r:embed="rId2"/>
          <a:stretch>
            <a:fillRect/>
          </a:stretch>
        </p:blipFill>
        <p:spPr>
          <a:xfrm>
            <a:off x="838200" y="3420582"/>
            <a:ext cx="5667375" cy="3105150"/>
          </a:xfrm>
          <a:prstGeom prst="rect">
            <a:avLst/>
          </a:prstGeom>
        </p:spPr>
      </p:pic>
      <p:sp>
        <p:nvSpPr>
          <p:cNvPr id="5" name="Rectangle 4">
            <a:extLst>
              <a:ext uri="{FF2B5EF4-FFF2-40B4-BE49-F238E27FC236}">
                <a16:creationId xmlns:a16="http://schemas.microsoft.com/office/drawing/2014/main" id="{171BD3EA-78C7-4D07-8488-E4C7C4AD4DD2}"/>
              </a:ext>
            </a:extLst>
          </p:cNvPr>
          <p:cNvSpPr/>
          <p:nvPr/>
        </p:nvSpPr>
        <p:spPr>
          <a:xfrm>
            <a:off x="3735143" y="3920172"/>
            <a:ext cx="2813141" cy="738664"/>
          </a:xfrm>
          <a:prstGeom prst="rect">
            <a:avLst/>
          </a:prstGeom>
        </p:spPr>
        <p:txBody>
          <a:bodyPr wrap="square">
            <a:spAutoFit/>
          </a:bodyPr>
          <a:lstStyle/>
          <a:p>
            <a:r>
              <a:rPr lang="en-US" sz="1400" b="1" dirty="0">
                <a:solidFill>
                  <a:schemeClr val="accent1">
                    <a:lumMod val="75000"/>
                  </a:schemeClr>
                </a:solidFill>
              </a:rPr>
              <a:t>// Note : </a:t>
            </a:r>
            <a:r>
              <a:rPr lang="en-US" sz="1400" b="1" dirty="0">
                <a:solidFill>
                  <a:srgbClr val="C00000"/>
                </a:solidFill>
              </a:rPr>
              <a:t>.</a:t>
            </a:r>
            <a:r>
              <a:rPr lang="en-US" sz="1400" b="1" dirty="0">
                <a:solidFill>
                  <a:schemeClr val="accent1">
                    <a:lumMod val="75000"/>
                  </a:schemeClr>
                </a:solidFill>
              </a:rPr>
              <a:t> can be  represented as </a:t>
            </a:r>
            <a:r>
              <a:rPr lang="en-US" sz="1400" b="1" dirty="0">
                <a:solidFill>
                  <a:srgbClr val="C00000"/>
                </a:solidFill>
              </a:rPr>
              <a:t>&amp;</a:t>
            </a:r>
          </a:p>
          <a:p>
            <a:r>
              <a:rPr lang="en-US" sz="1400" b="1" dirty="0">
                <a:solidFill>
                  <a:schemeClr val="accent1">
                    <a:lumMod val="75000"/>
                  </a:schemeClr>
                </a:solidFill>
              </a:rPr>
              <a:t>// Note : </a:t>
            </a:r>
            <a:r>
              <a:rPr lang="en-US" sz="1400" b="1" dirty="0">
                <a:solidFill>
                  <a:srgbClr val="C00000"/>
                </a:solidFill>
              </a:rPr>
              <a:t>+</a:t>
            </a:r>
            <a:r>
              <a:rPr lang="en-US" sz="1400" b="1" dirty="0">
                <a:solidFill>
                  <a:schemeClr val="accent1">
                    <a:lumMod val="75000"/>
                  </a:schemeClr>
                </a:solidFill>
              </a:rPr>
              <a:t> can be represented as </a:t>
            </a:r>
            <a:r>
              <a:rPr lang="en-US" sz="1400" b="1" dirty="0">
                <a:solidFill>
                  <a:srgbClr val="C00000"/>
                </a:solidFill>
              </a:rPr>
              <a:t>|</a:t>
            </a:r>
          </a:p>
          <a:p>
            <a:r>
              <a:rPr lang="en-US" sz="1400" b="1" dirty="0">
                <a:solidFill>
                  <a:srgbClr val="C00000"/>
                </a:solidFill>
              </a:rPr>
              <a:t> </a:t>
            </a:r>
          </a:p>
        </p:txBody>
      </p:sp>
      <p:sp>
        <p:nvSpPr>
          <p:cNvPr id="8" name="Rectangle 7">
            <a:extLst>
              <a:ext uri="{FF2B5EF4-FFF2-40B4-BE49-F238E27FC236}">
                <a16:creationId xmlns:a16="http://schemas.microsoft.com/office/drawing/2014/main" id="{FFD6DAFF-D0B4-472C-AC57-61AA4839A5AB}"/>
              </a:ext>
            </a:extLst>
          </p:cNvPr>
          <p:cNvSpPr/>
          <p:nvPr/>
        </p:nvSpPr>
        <p:spPr>
          <a:xfrm>
            <a:off x="3003623" y="5200332"/>
            <a:ext cx="3698908" cy="523220"/>
          </a:xfrm>
          <a:prstGeom prst="rect">
            <a:avLst/>
          </a:prstGeom>
        </p:spPr>
        <p:txBody>
          <a:bodyPr wrap="square">
            <a:spAutoFit/>
          </a:bodyPr>
          <a:lstStyle/>
          <a:p>
            <a:r>
              <a:rPr lang="en-US" sz="1400" b="1" dirty="0">
                <a:solidFill>
                  <a:schemeClr val="accent1">
                    <a:lumMod val="75000"/>
                  </a:schemeClr>
                </a:solidFill>
              </a:rPr>
              <a:t>Note :  continuous </a:t>
            </a:r>
            <a:r>
              <a:rPr lang="en-US" sz="1400" b="1" dirty="0">
                <a:solidFill>
                  <a:srgbClr val="C00000"/>
                </a:solidFill>
              </a:rPr>
              <a:t>assign</a:t>
            </a:r>
            <a:r>
              <a:rPr lang="en-US" sz="1400" b="1" dirty="0">
                <a:solidFill>
                  <a:schemeClr val="accent1">
                    <a:lumMod val="75000"/>
                  </a:schemeClr>
                </a:solidFill>
              </a:rPr>
              <a:t> statements are allowed within generate-for begin end body</a:t>
            </a:r>
            <a:endParaRPr lang="en-US" sz="1400" b="1" dirty="0">
              <a:solidFill>
                <a:srgbClr val="C00000"/>
              </a:solidFill>
            </a:endParaRPr>
          </a:p>
        </p:txBody>
      </p:sp>
    </p:spTree>
    <p:extLst>
      <p:ext uri="{BB962C8B-B14F-4D97-AF65-F5344CB8AC3E}">
        <p14:creationId xmlns:p14="http://schemas.microsoft.com/office/powerpoint/2010/main" val="2618760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544749" y="123825"/>
            <a:ext cx="11206263"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Homework Assignment</a:t>
            </a:r>
          </a:p>
        </p:txBody>
      </p:sp>
      <p:sp>
        <p:nvSpPr>
          <p:cNvPr id="3" name="Content Placeholder 2">
            <a:extLst>
              <a:ext uri="{FF2B5EF4-FFF2-40B4-BE49-F238E27FC236}">
                <a16:creationId xmlns:a16="http://schemas.microsoft.com/office/drawing/2014/main" id="{8959C2D4-B3D7-48EF-97E7-7D09BDFFCEB5}"/>
              </a:ext>
            </a:extLst>
          </p:cNvPr>
          <p:cNvSpPr>
            <a:spLocks noGrp="1"/>
          </p:cNvSpPr>
          <p:nvPr>
            <p:ph idx="1"/>
          </p:nvPr>
        </p:nvSpPr>
        <p:spPr>
          <a:xfrm>
            <a:off x="838200" y="670717"/>
            <a:ext cx="10698804" cy="6050758"/>
          </a:xfrm>
        </p:spPr>
        <p:txBody>
          <a:bodyPr>
            <a:noAutofit/>
          </a:bodyPr>
          <a:lstStyle/>
          <a:p>
            <a:r>
              <a:rPr lang="en-US" sz="2000" b="1" dirty="0"/>
              <a:t>Develop </a:t>
            </a:r>
            <a:r>
              <a:rPr lang="en-US" sz="2000" b="1" dirty="0" err="1"/>
              <a:t>SystemVerilog</a:t>
            </a:r>
            <a:r>
              <a:rPr lang="en-US" sz="2000" b="1" dirty="0"/>
              <a:t> RTL model for N-bit Carry Look Ahead Adder</a:t>
            </a:r>
          </a:p>
          <a:p>
            <a:pPr lvl="1"/>
            <a:r>
              <a:rPr lang="en-US" sz="1800" smtClean="0"/>
              <a:t>R</a:t>
            </a:r>
            <a:r>
              <a:rPr lang="en-US" sz="1800" smtClean="0"/>
              <a:t>un </a:t>
            </a:r>
            <a:r>
              <a:rPr lang="en-US" sz="1800" dirty="0"/>
              <a:t>simulation using testbench provided </a:t>
            </a:r>
            <a:r>
              <a:rPr lang="en-US" sz="1800"/>
              <a:t>with </a:t>
            </a:r>
            <a:r>
              <a:rPr lang="en-US" sz="1800" smtClean="0"/>
              <a:t>N=32</a:t>
            </a:r>
            <a:endParaRPr lang="en-US" sz="1800" dirty="0"/>
          </a:p>
          <a:p>
            <a:pPr lvl="1"/>
            <a:r>
              <a:rPr lang="en-US" sz="1800"/>
              <a:t>Synthesize carry look ahead adder </a:t>
            </a:r>
            <a:r>
              <a:rPr lang="en-US" sz="1800"/>
              <a:t>design </a:t>
            </a:r>
            <a:r>
              <a:rPr lang="en-US" sz="1800" smtClean="0"/>
              <a:t>for N=4 and N=32 </a:t>
            </a:r>
            <a:endParaRPr lang="en-US" sz="1800"/>
          </a:p>
          <a:p>
            <a:pPr lvl="1"/>
            <a:r>
              <a:rPr lang="en-US" sz="1800" smtClean="0"/>
              <a:t>Review </a:t>
            </a:r>
            <a:r>
              <a:rPr lang="en-US" sz="1800" dirty="0"/>
              <a:t>synthesis results (resource usage and RTL netlist/schematic)</a:t>
            </a:r>
          </a:p>
          <a:p>
            <a:pPr lvl="1"/>
            <a:r>
              <a:rPr lang="en-US" sz="1800" dirty="0"/>
              <a:t>Review input and output signals in simulation waveform.</a:t>
            </a:r>
          </a:p>
          <a:p>
            <a:pPr lvl="1"/>
            <a:r>
              <a:rPr lang="en-US" sz="1800" dirty="0"/>
              <a:t>Assume below mentioned primary port names and </a:t>
            </a:r>
            <a:r>
              <a:rPr lang="en-US" sz="1800" dirty="0" err="1"/>
              <a:t>SystemVerilog</a:t>
            </a:r>
            <a:r>
              <a:rPr lang="en-US" sz="1800" dirty="0"/>
              <a:t> RTL module name </a:t>
            </a:r>
            <a:r>
              <a:rPr lang="en-US" sz="1800" b="1" dirty="0" err="1"/>
              <a:t>carry_lookahead_adder</a:t>
            </a:r>
            <a:r>
              <a:rPr lang="en-US" sz="1800" b="1" dirty="0"/>
              <a:t>.</a:t>
            </a:r>
          </a:p>
          <a:p>
            <a:pPr marL="457200" lvl="1" indent="0">
              <a:buNone/>
            </a:pPr>
            <a:endParaRPr lang="en-US" sz="1800" b="1" dirty="0"/>
          </a:p>
          <a:p>
            <a:r>
              <a:rPr lang="en-US" sz="2000" b="1" dirty="0"/>
              <a:t>Primary Ports for </a:t>
            </a:r>
            <a:r>
              <a:rPr lang="en-US" sz="2000" b="1" dirty="0" err="1"/>
              <a:t>carry_lookahead_adder</a:t>
            </a:r>
            <a:r>
              <a:rPr lang="en-US" sz="2000" b="1" dirty="0"/>
              <a:t> module</a:t>
            </a:r>
          </a:p>
          <a:p>
            <a:pPr lvl="1"/>
            <a:r>
              <a:rPr lang="en-US" sz="1800" dirty="0"/>
              <a:t>Input [N-1:0] A, B </a:t>
            </a:r>
          </a:p>
          <a:p>
            <a:pPr lvl="1"/>
            <a:r>
              <a:rPr lang="en-US" sz="1800" dirty="0"/>
              <a:t>Input CIN (</a:t>
            </a:r>
            <a:r>
              <a:rPr lang="en-US" sz="1800" dirty="0" err="1"/>
              <a:t>carryin</a:t>
            </a:r>
            <a:r>
              <a:rPr lang="en-US" sz="1800" dirty="0"/>
              <a:t> to first stage Full Adder Instance)</a:t>
            </a:r>
          </a:p>
          <a:p>
            <a:pPr lvl="1"/>
            <a:r>
              <a:rPr lang="en-US" sz="1800" dirty="0"/>
              <a:t>Output  result (final output addition result and final stage carryout)</a:t>
            </a:r>
            <a:endParaRPr lang="en-US" sz="1600" b="1" dirty="0"/>
          </a:p>
          <a:p>
            <a:pPr lvl="1"/>
            <a:endParaRPr lang="en-US" sz="1600" dirty="0"/>
          </a:p>
          <a:p>
            <a:r>
              <a:rPr lang="en-US" sz="2200" b="1" dirty="0"/>
              <a:t>Report should include :</a:t>
            </a:r>
          </a:p>
          <a:p>
            <a:pPr lvl="1"/>
            <a:r>
              <a:rPr lang="en-US" sz="2000" dirty="0" err="1"/>
              <a:t>SystemVerilog</a:t>
            </a:r>
            <a:r>
              <a:rPr lang="en-US" sz="2000" dirty="0"/>
              <a:t> design and testbench code</a:t>
            </a:r>
          </a:p>
          <a:p>
            <a:pPr lvl="1"/>
            <a:r>
              <a:rPr lang="en-US" sz="2000" dirty="0"/>
              <a:t>Synthesis resource usage and schematic generated from RTL netlist viewer</a:t>
            </a:r>
          </a:p>
          <a:p>
            <a:pPr lvl="1"/>
            <a:r>
              <a:rPr lang="en-US" sz="2000" dirty="0"/>
              <a:t>Simulation snapshot and explain simulation result to confirm RTL model developed works as carry lookahead adder</a:t>
            </a:r>
            <a:endParaRPr lang="en-US" sz="2200" dirty="0"/>
          </a:p>
          <a:p>
            <a:pPr lvl="1"/>
            <a:endParaRPr lang="en-US" sz="2200" dirty="0"/>
          </a:p>
          <a:p>
            <a:pPr lvl="1"/>
            <a:endParaRPr lang="en-US" sz="2200" dirty="0"/>
          </a:p>
          <a:p>
            <a:endParaRPr lang="en-US" sz="2200" dirty="0"/>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p:txBody>
          <a:bodyPr/>
          <a:lstStyle/>
          <a:p>
            <a:fld id="{3A98EE3D-8CD1-4C3F-BD1C-C98C9596463C}" type="slidenum">
              <a:rPr lang="en-US" smtClean="0"/>
              <a:t>13</a:t>
            </a:fld>
            <a:endParaRPr lang="en-US" dirty="0"/>
          </a:p>
        </p:txBody>
      </p:sp>
      <p:grpSp>
        <p:nvGrpSpPr>
          <p:cNvPr id="13" name="Group 12">
            <a:extLst>
              <a:ext uri="{FF2B5EF4-FFF2-40B4-BE49-F238E27FC236}">
                <a16:creationId xmlns:a16="http://schemas.microsoft.com/office/drawing/2014/main" id="{488CFFCF-F08B-4689-B805-7D97D4D06602}"/>
              </a:ext>
            </a:extLst>
          </p:cNvPr>
          <p:cNvGrpSpPr/>
          <p:nvPr/>
        </p:nvGrpSpPr>
        <p:grpSpPr>
          <a:xfrm>
            <a:off x="7177619" y="3022107"/>
            <a:ext cx="4768997" cy="995020"/>
            <a:chOff x="3791758" y="5189267"/>
            <a:chExt cx="4621474" cy="1053766"/>
          </a:xfrm>
        </p:grpSpPr>
        <p:sp>
          <p:nvSpPr>
            <p:cNvPr id="14" name="Rectangle 13">
              <a:extLst>
                <a:ext uri="{FF2B5EF4-FFF2-40B4-BE49-F238E27FC236}">
                  <a16:creationId xmlns:a16="http://schemas.microsoft.com/office/drawing/2014/main" id="{A98E85B8-5430-4711-9272-C833630828EB}"/>
                </a:ext>
              </a:extLst>
            </p:cNvPr>
            <p:cNvSpPr/>
            <p:nvPr/>
          </p:nvSpPr>
          <p:spPr>
            <a:xfrm>
              <a:off x="5389299" y="5248218"/>
              <a:ext cx="1127688" cy="9948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carry_lookahead_adder</a:t>
              </a:r>
              <a:endParaRPr lang="en-US" sz="1400" dirty="0"/>
            </a:p>
          </p:txBody>
        </p:sp>
        <p:cxnSp>
          <p:nvCxnSpPr>
            <p:cNvPr id="15" name="Straight Arrow Connector 14">
              <a:extLst>
                <a:ext uri="{FF2B5EF4-FFF2-40B4-BE49-F238E27FC236}">
                  <a16:creationId xmlns:a16="http://schemas.microsoft.com/office/drawing/2014/main" id="{A781D946-7E03-4D4D-863E-881BB69969A1}"/>
                </a:ext>
              </a:extLst>
            </p:cNvPr>
            <p:cNvCxnSpPr/>
            <p:nvPr/>
          </p:nvCxnSpPr>
          <p:spPr>
            <a:xfrm>
              <a:off x="4975396" y="5380255"/>
              <a:ext cx="40277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EBDDB9E-55EC-4527-891C-6F4F2B2F0164}"/>
                </a:ext>
              </a:extLst>
            </p:cNvPr>
            <p:cNvCxnSpPr/>
            <p:nvPr/>
          </p:nvCxnSpPr>
          <p:spPr>
            <a:xfrm>
              <a:off x="4972151" y="5698029"/>
              <a:ext cx="40277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CD73DB1-BAB9-4D5C-BD63-9C215B84FED6}"/>
                </a:ext>
              </a:extLst>
            </p:cNvPr>
            <p:cNvCxnSpPr/>
            <p:nvPr/>
          </p:nvCxnSpPr>
          <p:spPr>
            <a:xfrm>
              <a:off x="6516987" y="5711715"/>
              <a:ext cx="40277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204D3F-901C-4DD7-B9F1-BB3C979ABE00}"/>
                </a:ext>
              </a:extLst>
            </p:cNvPr>
            <p:cNvSpPr txBox="1"/>
            <p:nvPr/>
          </p:nvSpPr>
          <p:spPr>
            <a:xfrm>
              <a:off x="4321459" y="5189267"/>
              <a:ext cx="709930" cy="391137"/>
            </a:xfrm>
            <a:prstGeom prst="rect">
              <a:avLst/>
            </a:prstGeom>
            <a:noFill/>
          </p:spPr>
          <p:txBody>
            <a:bodyPr wrap="square" rtlCol="0">
              <a:spAutoFit/>
            </a:bodyPr>
            <a:lstStyle/>
            <a:p>
              <a:pPr algn="r"/>
              <a:r>
                <a:rPr lang="en-US" b="1" dirty="0"/>
                <a:t>A</a:t>
              </a:r>
            </a:p>
          </p:txBody>
        </p:sp>
        <p:sp>
          <p:nvSpPr>
            <p:cNvPr id="22" name="TextBox 21">
              <a:extLst>
                <a:ext uri="{FF2B5EF4-FFF2-40B4-BE49-F238E27FC236}">
                  <a16:creationId xmlns:a16="http://schemas.microsoft.com/office/drawing/2014/main" id="{9858A8F3-9426-425B-88E6-E80190959151}"/>
                </a:ext>
              </a:extLst>
            </p:cNvPr>
            <p:cNvSpPr txBox="1"/>
            <p:nvPr/>
          </p:nvSpPr>
          <p:spPr>
            <a:xfrm>
              <a:off x="4318817" y="5497621"/>
              <a:ext cx="709930" cy="391137"/>
            </a:xfrm>
            <a:prstGeom prst="rect">
              <a:avLst/>
            </a:prstGeom>
            <a:noFill/>
          </p:spPr>
          <p:txBody>
            <a:bodyPr wrap="square" rtlCol="0">
              <a:spAutoFit/>
            </a:bodyPr>
            <a:lstStyle/>
            <a:p>
              <a:pPr algn="r"/>
              <a:r>
                <a:rPr lang="en-US" b="1" dirty="0"/>
                <a:t>B</a:t>
              </a:r>
            </a:p>
          </p:txBody>
        </p:sp>
        <p:sp>
          <p:nvSpPr>
            <p:cNvPr id="23" name="TextBox 22">
              <a:extLst>
                <a:ext uri="{FF2B5EF4-FFF2-40B4-BE49-F238E27FC236}">
                  <a16:creationId xmlns:a16="http://schemas.microsoft.com/office/drawing/2014/main" id="{6948A259-9AFE-452B-8491-699D599A593D}"/>
                </a:ext>
              </a:extLst>
            </p:cNvPr>
            <p:cNvSpPr txBox="1"/>
            <p:nvPr/>
          </p:nvSpPr>
          <p:spPr>
            <a:xfrm>
              <a:off x="6886026" y="5501270"/>
              <a:ext cx="1527206" cy="391137"/>
            </a:xfrm>
            <a:prstGeom prst="rect">
              <a:avLst/>
            </a:prstGeom>
            <a:noFill/>
          </p:spPr>
          <p:txBody>
            <a:bodyPr wrap="square" rtlCol="0">
              <a:spAutoFit/>
            </a:bodyPr>
            <a:lstStyle/>
            <a:p>
              <a:r>
                <a:rPr lang="en-US" b="1" dirty="0"/>
                <a:t>result[N:0]</a:t>
              </a:r>
            </a:p>
          </p:txBody>
        </p:sp>
        <p:cxnSp>
          <p:nvCxnSpPr>
            <p:cNvPr id="27" name="Straight Arrow Connector 26">
              <a:extLst>
                <a:ext uri="{FF2B5EF4-FFF2-40B4-BE49-F238E27FC236}">
                  <a16:creationId xmlns:a16="http://schemas.microsoft.com/office/drawing/2014/main" id="{4EE1D847-437F-41C0-8C72-3F29655B4EBA}"/>
                </a:ext>
              </a:extLst>
            </p:cNvPr>
            <p:cNvCxnSpPr/>
            <p:nvPr/>
          </p:nvCxnSpPr>
          <p:spPr>
            <a:xfrm>
              <a:off x="4971454" y="5979333"/>
              <a:ext cx="40277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1F387D9-584C-41CC-86F6-43A4FE6D3608}"/>
                </a:ext>
              </a:extLst>
            </p:cNvPr>
            <p:cNvSpPr txBox="1"/>
            <p:nvPr/>
          </p:nvSpPr>
          <p:spPr>
            <a:xfrm>
              <a:off x="3791758" y="5788345"/>
              <a:ext cx="1235689" cy="391137"/>
            </a:xfrm>
            <a:prstGeom prst="rect">
              <a:avLst/>
            </a:prstGeom>
            <a:noFill/>
          </p:spPr>
          <p:txBody>
            <a:bodyPr wrap="square" rtlCol="0">
              <a:spAutoFit/>
            </a:bodyPr>
            <a:lstStyle/>
            <a:p>
              <a:pPr algn="r"/>
              <a:r>
                <a:rPr lang="en-US" b="1" dirty="0"/>
                <a:t>CIN</a:t>
              </a:r>
            </a:p>
          </p:txBody>
        </p:sp>
      </p:grpSp>
    </p:spTree>
    <p:extLst>
      <p:ext uri="{BB962C8B-B14F-4D97-AF65-F5344CB8AC3E}">
        <p14:creationId xmlns:p14="http://schemas.microsoft.com/office/powerpoint/2010/main" val="3601039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B96C-D18B-44B7-AB70-2725402E41A7}"/>
              </a:ext>
            </a:extLst>
          </p:cNvPr>
          <p:cNvSpPr>
            <a:spLocks noGrp="1"/>
          </p:cNvSpPr>
          <p:nvPr>
            <p:ph type="title"/>
          </p:nvPr>
        </p:nvSpPr>
        <p:spPr>
          <a:xfrm>
            <a:off x="641508" y="123825"/>
            <a:ext cx="10924679" cy="504825"/>
          </a:xfrm>
          <a:gradFill flip="none" rotWithShape="0">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tileRect/>
          </a:gradFill>
        </p:spPr>
        <p:txBody>
          <a:bodyPr/>
          <a:lstStyle/>
          <a:p>
            <a:r>
              <a:rPr lang="en-US" dirty="0"/>
              <a:t>Carry Look Ahead Adder Simulation Snapshot</a:t>
            </a:r>
          </a:p>
        </p:txBody>
      </p:sp>
      <p:sp>
        <p:nvSpPr>
          <p:cNvPr id="4" name="Slide Number Placeholder 3">
            <a:extLst>
              <a:ext uri="{FF2B5EF4-FFF2-40B4-BE49-F238E27FC236}">
                <a16:creationId xmlns:a16="http://schemas.microsoft.com/office/drawing/2014/main" id="{0BEFB35E-675D-449D-8195-71677E55AB10}"/>
              </a:ext>
            </a:extLst>
          </p:cNvPr>
          <p:cNvSpPr>
            <a:spLocks noGrp="1"/>
          </p:cNvSpPr>
          <p:nvPr>
            <p:ph type="sldNum" sz="quarter" idx="12"/>
          </p:nvPr>
        </p:nvSpPr>
        <p:spPr>
          <a:xfrm>
            <a:off x="8610600" y="6356350"/>
            <a:ext cx="2743200" cy="365125"/>
          </a:xfrm>
        </p:spPr>
        <p:txBody>
          <a:bodyPr/>
          <a:lstStyle/>
          <a:p>
            <a:fld id="{3A98EE3D-8CD1-4C3F-BD1C-C98C9596463C}" type="slidenum">
              <a:rPr lang="en-US" smtClean="0"/>
              <a:t>14</a:t>
            </a:fld>
            <a:endParaRPr lang="en-US" dirty="0"/>
          </a:p>
        </p:txBody>
      </p:sp>
      <p:pic>
        <p:nvPicPr>
          <p:cNvPr id="5" name="Picture 4">
            <a:extLst>
              <a:ext uri="{FF2B5EF4-FFF2-40B4-BE49-F238E27FC236}">
                <a16:creationId xmlns:a16="http://schemas.microsoft.com/office/drawing/2014/main" id="{D4247258-FD33-41D0-8231-7A84F3724CB3}"/>
              </a:ext>
            </a:extLst>
          </p:cNvPr>
          <p:cNvPicPr>
            <a:picLocks noChangeAspect="1"/>
          </p:cNvPicPr>
          <p:nvPr/>
        </p:nvPicPr>
        <p:blipFill>
          <a:blip r:embed="rId2"/>
          <a:stretch>
            <a:fillRect/>
          </a:stretch>
        </p:blipFill>
        <p:spPr>
          <a:xfrm>
            <a:off x="2586139" y="1520884"/>
            <a:ext cx="7396061" cy="2705876"/>
          </a:xfrm>
          <a:prstGeom prst="rect">
            <a:avLst/>
          </a:prstGeom>
        </p:spPr>
      </p:pic>
    </p:spTree>
    <p:extLst>
      <p:ext uri="{BB962C8B-B14F-4D97-AF65-F5344CB8AC3E}">
        <p14:creationId xmlns:p14="http://schemas.microsoft.com/office/powerpoint/2010/main" val="3398713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43411</TotalTime>
  <Words>2002</Words>
  <Application>Microsoft Office PowerPoint</Application>
  <PresentationFormat>Widescreen</PresentationFormat>
  <Paragraphs>294</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Courier New</vt:lpstr>
      <vt:lpstr>Wingdings</vt:lpstr>
      <vt:lpstr>Office Theme</vt:lpstr>
      <vt:lpstr>Carry Look Ahead Adder</vt:lpstr>
      <vt:lpstr>Let’s understand First Ripple Carry Adder !</vt:lpstr>
      <vt:lpstr>How to develop Ripple Carry Adder using Generate</vt:lpstr>
      <vt:lpstr>Ripple Carry Adder Post Synthesis Netlist</vt:lpstr>
      <vt:lpstr>Ripple Carry Adder Simulation Snapshot</vt:lpstr>
      <vt:lpstr>Carry Lookahead Adder</vt:lpstr>
      <vt:lpstr>Carry Lookahead Adder Hint (Carry Out Boolean Expression)</vt:lpstr>
      <vt:lpstr>Carry Kill, Anyone?</vt:lpstr>
      <vt:lpstr>Carry Lookahead Adder Hint (Carry Out Boolean Expression)</vt:lpstr>
      <vt:lpstr>Carry Lookahead Adder Hint (Carry Out Boolean Expression)</vt:lpstr>
      <vt:lpstr>Carry Lookahead Adder Implementation Hint</vt:lpstr>
      <vt:lpstr>Carry Lookahead Adder Implementation Hint</vt:lpstr>
      <vt:lpstr>Homework Assignment</vt:lpstr>
      <vt:lpstr>Carry Look Ahead Adder Simulation Snapshot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Carry Look Ahead Adder</dc:title>
  <dc:creator>vishal karna</dc:creator>
  <cp:lastModifiedBy>John Eldon</cp:lastModifiedBy>
  <cp:revision>2580</cp:revision>
  <dcterms:created xsi:type="dcterms:W3CDTF">2019-09-04T04:51:35Z</dcterms:created>
  <dcterms:modified xsi:type="dcterms:W3CDTF">2025-05-04T03:46:29Z</dcterms:modified>
</cp:coreProperties>
</file>