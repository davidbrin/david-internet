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6" r:id="rId1"/>
  </p:sldMasterIdLst>
  <p:notesMasterIdLst>
    <p:notesMasterId r:id="rId15"/>
  </p:notesMasterIdLst>
  <p:sldIdLst>
    <p:sldId id="256" r:id="rId2"/>
    <p:sldId id="665" r:id="rId3"/>
    <p:sldId id="663" r:id="rId4"/>
    <p:sldId id="656" r:id="rId5"/>
    <p:sldId id="662" r:id="rId6"/>
    <p:sldId id="627" r:id="rId7"/>
    <p:sldId id="628" r:id="rId8"/>
    <p:sldId id="638" r:id="rId9"/>
    <p:sldId id="643" r:id="rId10"/>
    <p:sldId id="661" r:id="rId11"/>
    <p:sldId id="659" r:id="rId12"/>
    <p:sldId id="645" r:id="rId13"/>
    <p:sldId id="65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8ED0"/>
    <a:srgbClr val="9F4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79" autoAdjust="0"/>
    <p:restoredTop sz="95232" autoAdjust="0"/>
  </p:normalViewPr>
  <p:slideViewPr>
    <p:cSldViewPr snapToGrid="0">
      <p:cViewPr varScale="1">
        <p:scale>
          <a:sx n="85" d="100"/>
          <a:sy n="85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92497-252D-4444-B643-FB7D3D78C6DC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3227D-CC65-49B6-AB35-CD33DCE9A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8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C8BE-AC17-4F00-9406-6B34BC49E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0DF51-E44D-465B-A95A-C453709D0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6C451-8B4B-4E80-95CC-2579537CDA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C20EB-EB59-4776-A7D9-526685CD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61BA8-9A6F-4939-A8AE-F711BDEF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1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1FFA-1718-485D-B910-216DA6C0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23825"/>
            <a:ext cx="10515600" cy="504825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4269E-97E7-4E33-B4AA-8CB01AA75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chemeClr val="tx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668A-475D-4387-BA12-27FD33E3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95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6C7D-9B5C-4CC1-BF73-4D5F348E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B6392-F2E6-44CD-AA96-F80E60143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046FF-6B05-4A61-8E56-E35262D1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C658-2206-4D5B-A2EF-C80D1BAD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5AB01-06AB-41C2-8BDA-844FD364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47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1DB2-EA2A-4DEE-9E99-DD6D334F4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CE33-DBF4-44B9-90C3-4860999EE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92DAD-F440-424F-BB04-CDD2DB6DD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69D21-FB82-443B-BE53-FD4D0797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AFD1C-8372-4DAD-AC89-6A9F46A9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D9DFB-FC65-493A-9201-3A8F91D1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24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5CC9-978D-4929-ADCE-C522E9EF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4CBC8-5CF4-4667-B540-FEE94D826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AC117-DBEC-47BE-BAF1-389C99901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0B088-92C7-43F4-9123-11CD33FE3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C41A8-274C-404F-9712-99FFDA10F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7426D-EC43-4046-9F25-1F737D16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7DD8D-054F-40A8-A2AE-231006E1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E83A5-4CDA-4719-A89A-29551149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84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F2E1-6795-402A-A4CF-A35D8F15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80E75-57D4-4D0A-A4C2-9116D72A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26FB0-3E7B-4D63-8FC0-F5452B8F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C4877-A829-425D-80C1-859F0531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817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11781-E902-4014-A618-73407B2A1D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42CBD-C246-4DCF-820F-78FF8428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13534-B622-4D92-9EE2-D02B0AD4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89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1E3B-F087-47E7-A916-0ED2F7BD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3C063-5107-4ABF-9A48-B42B00E88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9138C-547A-48C0-9CD7-83C6F5E87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D7578-4303-4E3C-895F-29C5FB99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BA864-07E7-448E-BA66-CAA92F7C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9841A-0A0F-4E48-82ED-1BB7E320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9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E793-FC52-43ED-A491-E834C8F5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805A6-A9A0-41EE-972C-9378E78E7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18CD0-02CE-47F8-B650-92EA07A03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94EB-496B-46E1-B141-580AD666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95C35-25C0-4030-A83F-D8796BD3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359BA-A737-4717-B813-38D8D8DE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7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0F29-846B-46C4-9156-8B3E9C7B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45524-6729-45F3-8772-82A8EC3C3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0874A-6EF7-4CEF-A183-483A542A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FE67B-903C-4DC1-A494-8EB4E8BD0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52730-2CD8-4351-A9A6-86E21CF2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D61A6-4429-43C1-8AD1-4162B8332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77112-968E-467E-9C23-0EE682EA6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DD795-D8AF-43F8-BC71-9EB5F5D3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2C4C6-11B4-4BD5-80FA-9B6F357F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6EE95-A259-4916-B9DE-AEED9829E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5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C891A-0085-42C4-9A8F-F62E278B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104775"/>
            <a:ext cx="10515600" cy="5048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89440-A414-49C2-A66E-BD72937C5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78668"/>
            <a:ext cx="10515600" cy="5300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86718-453A-4160-9B94-DC0D04159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6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20.png"/><Relationship Id="rId12" Type="http://schemas.openxmlformats.org/officeDocument/2006/relationships/image" Target="../media/image1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15C88D4-8001-4111-B790-99D9FA871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750" y="4534678"/>
            <a:ext cx="10182225" cy="576163"/>
          </a:xfrm>
        </p:spPr>
        <p:txBody>
          <a:bodyPr>
            <a:noAutofit/>
          </a:bodyPr>
          <a:lstStyle/>
          <a:p>
            <a:r>
              <a:rPr lang="en-US" sz="3600" dirty="0">
                <a:cs typeface="AngsanaUPC" panose="020B0502040204020203" pitchFamily="18" charset="-34"/>
              </a:rPr>
              <a:t>Frequency </a:t>
            </a:r>
            <a:r>
              <a:rPr lang="en-US" sz="3600" b="1" dirty="0">
                <a:latin typeface="+mn-lt"/>
                <a:cs typeface="AngsanaUPC" panose="020B0502040204020203" pitchFamily="18" charset="-34"/>
              </a:rPr>
              <a:t>Divider (Clock Divider)</a:t>
            </a:r>
            <a:endParaRPr lang="en-US" sz="3600" b="1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9DB11489-9985-4FC6-BBAC-D1EF9E59D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2750" y="5214060"/>
            <a:ext cx="6200775" cy="1457327"/>
          </a:xfrm>
        </p:spPr>
        <p:txBody>
          <a:bodyPr>
            <a:noAutofit/>
          </a:bodyPr>
          <a:lstStyle/>
          <a:p>
            <a:r>
              <a:rPr lang="en-US" sz="2800" b="1" dirty="0"/>
              <a:t>ECE-111 Advanced Digital </a:t>
            </a:r>
            <a:r>
              <a:rPr lang="en-US" sz="2800" b="1"/>
              <a:t>Design Project</a:t>
            </a:r>
            <a:endParaRPr lang="en-US" sz="2800" b="1" dirty="0"/>
          </a:p>
        </p:txBody>
      </p:sp>
      <p:pic>
        <p:nvPicPr>
          <p:cNvPr id="38" name="Picture 2" descr="C:\Users\Owner\Desktop\logo-ucsdjsoeece-bluegold.jpg">
            <a:extLst>
              <a:ext uri="{FF2B5EF4-FFF2-40B4-BE49-F238E27FC236}">
                <a16:creationId xmlns:a16="http://schemas.microsoft.com/office/drawing/2014/main" id="{46AEC06D-6D6F-4EF7-B714-663296A68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040" y="6036123"/>
            <a:ext cx="226695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close up of a map&#10;&#10;Description automatically generated">
            <a:extLst>
              <a:ext uri="{FF2B5EF4-FFF2-40B4-BE49-F238E27FC236}">
                <a16:creationId xmlns:a16="http://schemas.microsoft.com/office/drawing/2014/main" id="{BE950A68-BF47-453C-9713-FA256F71F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"/>
            <a:ext cx="12192000" cy="414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1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123825"/>
            <a:ext cx="10974296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C2D4-B3D7-48EF-97E7-7D09BDFF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70" y="651864"/>
            <a:ext cx="10810829" cy="3281095"/>
          </a:xfrm>
        </p:spPr>
        <p:txBody>
          <a:bodyPr>
            <a:noAutofit/>
          </a:bodyPr>
          <a:lstStyle/>
          <a:p>
            <a:r>
              <a:rPr lang="en-US" sz="1800" b="1" dirty="0"/>
              <a:t>Clock is a signal which is repetitive in nature after some period of time</a:t>
            </a:r>
          </a:p>
          <a:p>
            <a:pPr lvl="1"/>
            <a:r>
              <a:rPr lang="en-US" sz="1800" dirty="0"/>
              <a:t>In digital circuits, clock is a smallest unit of time when processing happens and sometimes it is also called as a “cycle”</a:t>
            </a:r>
          </a:p>
          <a:p>
            <a:r>
              <a:rPr lang="en-US" sz="1800" b="1" dirty="0"/>
              <a:t>Modern digital systems have multiple clocks where each of the core clock vibrates at a specific frequency</a:t>
            </a:r>
          </a:p>
          <a:p>
            <a:pPr lvl="1"/>
            <a:r>
              <a:rPr lang="en-US" sz="1800" dirty="0"/>
              <a:t>Clock frequency is typically measured in MHz or GHz</a:t>
            </a:r>
          </a:p>
          <a:p>
            <a:r>
              <a:rPr lang="en-US" sz="1800" b="1" dirty="0"/>
              <a:t>Typically, in digital systems multiple clocks with desired frequency are generated using frequency divider from a single reference clock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5567BD-7A39-4937-AFF9-F01E1436004A}"/>
              </a:ext>
            </a:extLst>
          </p:cNvPr>
          <p:cNvGrpSpPr/>
          <p:nvPr/>
        </p:nvGrpSpPr>
        <p:grpSpPr>
          <a:xfrm>
            <a:off x="500218" y="3302375"/>
            <a:ext cx="8919290" cy="3205245"/>
            <a:chOff x="500218" y="3302375"/>
            <a:chExt cx="8919290" cy="320524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24508A2-73D7-4C97-9F15-D0EA9C9E5AA5}"/>
                </a:ext>
              </a:extLst>
            </p:cNvPr>
            <p:cNvGrpSpPr/>
            <p:nvPr/>
          </p:nvGrpSpPr>
          <p:grpSpPr>
            <a:xfrm>
              <a:off x="500218" y="3302375"/>
              <a:ext cx="8919290" cy="3205245"/>
              <a:chOff x="189322" y="3257218"/>
              <a:chExt cx="8919290" cy="3205245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9A7101F-A11C-4729-9393-F4E8B528EAA0}"/>
                  </a:ext>
                </a:extLst>
              </p:cNvPr>
              <p:cNvGrpSpPr/>
              <p:nvPr/>
            </p:nvGrpSpPr>
            <p:grpSpPr>
              <a:xfrm>
                <a:off x="1088562" y="3257218"/>
                <a:ext cx="8020050" cy="3205245"/>
                <a:chOff x="822198" y="2988996"/>
                <a:chExt cx="8020050" cy="3205245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1B5B5661-9FE8-49A5-9523-651907FD5D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22198" y="2988996"/>
                  <a:ext cx="8020050" cy="3205245"/>
                </a:xfrm>
                <a:prstGeom prst="rect">
                  <a:avLst/>
                </a:prstGeom>
              </p:spPr>
            </p:pic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130CE806-B97D-4608-97CC-120A21A18987}"/>
                    </a:ext>
                  </a:extLst>
                </p:cNvPr>
                <p:cNvSpPr/>
                <p:nvPr/>
              </p:nvSpPr>
              <p:spPr>
                <a:xfrm>
                  <a:off x="4044528" y="3761100"/>
                  <a:ext cx="725849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FF0000"/>
                      </a:solidFill>
                    </a:rPr>
                    <a:t> Core1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3D07F8F-628A-44A7-94D0-E41D713B84F3}"/>
                    </a:ext>
                  </a:extLst>
                </p:cNvPr>
                <p:cNvSpPr/>
                <p:nvPr/>
              </p:nvSpPr>
              <p:spPr>
                <a:xfrm>
                  <a:off x="5746829" y="3766878"/>
                  <a:ext cx="725849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FF0000"/>
                      </a:solidFill>
                    </a:rPr>
                    <a:t> Core2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E366AEE-EB15-4ED7-8E94-916804E5569B}"/>
                    </a:ext>
                  </a:extLst>
                </p:cNvPr>
                <p:cNvSpPr/>
                <p:nvPr/>
              </p:nvSpPr>
              <p:spPr>
                <a:xfrm>
                  <a:off x="4116661" y="4972930"/>
                  <a:ext cx="725849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FF0000"/>
                      </a:solidFill>
                    </a:rPr>
                    <a:t> Core3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9B38384-BD8B-4AF3-A7E1-5C0F2D8710FF}"/>
                    </a:ext>
                  </a:extLst>
                </p:cNvPr>
                <p:cNvSpPr/>
                <p:nvPr/>
              </p:nvSpPr>
              <p:spPr>
                <a:xfrm>
                  <a:off x="5737400" y="4965931"/>
                  <a:ext cx="725849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FF0000"/>
                      </a:solidFill>
                    </a:rPr>
                    <a:t> Core4</a:t>
                  </a:r>
                </a:p>
              </p:txBody>
            </p:sp>
          </p:grp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C43252D-7DD8-4D0E-A87C-CDA30DE7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69" y="3658106"/>
                <a:ext cx="1448027" cy="82861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FAB6337-5977-4435-BF1F-D382E99D6D5B}"/>
                      </a:ext>
                    </a:extLst>
                  </p:cNvPr>
                  <p:cNvSpPr/>
                  <p:nvPr/>
                </p:nvSpPr>
                <p:spPr>
                  <a:xfrm>
                    <a:off x="1702779" y="3970053"/>
                    <a:ext cx="725849" cy="49445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a:t>Clock Divider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𝒇𝒊𝒏</m:t>
                          </m:r>
                          <m:r>
                            <a:rPr lang="en-US" sz="1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⋰</m:t>
                          </m:r>
                          <m:r>
                            <a:rPr lang="en-US" sz="1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oMath>
                      </m:oMathPara>
                    </a14:m>
                    <a:endParaRPr lang="en-US" sz="1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FAB6337-5977-4435-BF1F-D382E99D6D5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2779" y="3970053"/>
                    <a:ext cx="725849" cy="49445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3614" b="-60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8AAD68A-AC4E-4025-9BCF-EC00CB0B22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68798" y="4263517"/>
                <a:ext cx="298704" cy="5462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F545900-237F-4CE2-85DC-240512FCCF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322" y="4887610"/>
                <a:ext cx="1448027" cy="82861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571F046-3620-493D-9E6E-EA26876E7088}"/>
                      </a:ext>
                    </a:extLst>
                  </p:cNvPr>
                  <p:cNvSpPr/>
                  <p:nvPr/>
                </p:nvSpPr>
                <p:spPr>
                  <a:xfrm>
                    <a:off x="1657632" y="5199557"/>
                    <a:ext cx="725849" cy="494452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a:t>Clock Divider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𝒇𝒊𝒏</m:t>
                          </m:r>
                          <m:r>
                            <a:rPr lang="en-US" sz="1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⋰</m:t>
                          </m:r>
                          <m:r>
                            <a:rPr lang="en-US" sz="1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oMath>
                      </m:oMathPara>
                    </a14:m>
                    <a:endParaRPr lang="en-US" sz="1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571F046-3620-493D-9E6E-EA26876E70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7632" y="5199557"/>
                    <a:ext cx="725849" cy="49445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2410" b="-60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32F4D8F-C760-48C7-B3CE-A677E430B6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23651" y="5493021"/>
                <a:ext cx="298704" cy="5462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876B2F5-225E-4F96-8023-9F83C2A31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67582" y="4363446"/>
              <a:ext cx="538478" cy="29243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99A8ED0-DACA-4EE2-A4CF-B46C0ED1E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28451" y="5584604"/>
              <a:ext cx="619268" cy="292431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9E9F345F-BFB0-4124-A4CA-3087FB7E9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7928" y="3842647"/>
            <a:ext cx="2867216" cy="20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4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123825"/>
            <a:ext cx="10974296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 Parameter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C2D4-B3D7-48EF-97E7-7D09BDFF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71" y="651864"/>
            <a:ext cx="10698804" cy="3281095"/>
          </a:xfrm>
        </p:spPr>
        <p:txBody>
          <a:bodyPr>
            <a:noAutofit/>
          </a:bodyPr>
          <a:lstStyle/>
          <a:p>
            <a:r>
              <a:rPr lang="en-US" sz="1800" b="1" dirty="0"/>
              <a:t>Positive edge = </a:t>
            </a:r>
            <a:r>
              <a:rPr lang="en-US" sz="1800" dirty="0"/>
              <a:t>0 to 1 transition (also know as </a:t>
            </a:r>
            <a:r>
              <a:rPr lang="en-US" sz="1800" b="1" dirty="0" err="1"/>
              <a:t>Posedge</a:t>
            </a:r>
            <a:r>
              <a:rPr lang="en-US" sz="1800" b="1" dirty="0"/>
              <a:t> or Rising Edge</a:t>
            </a:r>
            <a:r>
              <a:rPr lang="en-US" sz="1800" dirty="0"/>
              <a:t>)</a:t>
            </a:r>
          </a:p>
          <a:p>
            <a:r>
              <a:rPr lang="en-US" sz="1800" b="1" dirty="0"/>
              <a:t>Negative edge = </a:t>
            </a:r>
            <a:r>
              <a:rPr lang="en-US" sz="1800" dirty="0"/>
              <a:t>1 to 0 transition (also know as </a:t>
            </a:r>
            <a:r>
              <a:rPr lang="en-US" sz="1800" b="1" dirty="0" err="1"/>
              <a:t>Negedge</a:t>
            </a:r>
            <a:r>
              <a:rPr lang="en-US" sz="1800" b="1" dirty="0"/>
              <a:t> or Falling edge</a:t>
            </a:r>
            <a:r>
              <a:rPr lang="en-US" sz="1800" dirty="0"/>
              <a:t>)</a:t>
            </a:r>
          </a:p>
          <a:p>
            <a:r>
              <a:rPr lang="en-US" sz="1800" b="1" dirty="0"/>
              <a:t>Positive Level = </a:t>
            </a:r>
            <a:r>
              <a:rPr lang="en-US" sz="1800" dirty="0"/>
              <a:t>Positive edge to Negative edge (also know as </a:t>
            </a:r>
            <a:r>
              <a:rPr lang="en-US" sz="1800" b="1" dirty="0"/>
              <a:t>ACTIVE HIGH Level</a:t>
            </a:r>
            <a:r>
              <a:rPr lang="en-US" sz="1800" dirty="0"/>
              <a:t>)</a:t>
            </a:r>
          </a:p>
          <a:p>
            <a:r>
              <a:rPr lang="en-US" sz="1800" b="1" dirty="0"/>
              <a:t>Negative Level = </a:t>
            </a:r>
            <a:r>
              <a:rPr lang="en-US" sz="1800" dirty="0"/>
              <a:t>Negative edge to Positive edge (also know as </a:t>
            </a:r>
            <a:r>
              <a:rPr lang="en-US" sz="1800" b="1" dirty="0"/>
              <a:t>ACTIVE LOW Level</a:t>
            </a:r>
            <a:r>
              <a:rPr lang="en-US" sz="1800" dirty="0"/>
              <a:t>)</a:t>
            </a:r>
          </a:p>
          <a:p>
            <a:r>
              <a:rPr lang="en-US" sz="1800" b="1" dirty="0"/>
              <a:t>1 Clock Time Period (T) = </a:t>
            </a:r>
            <a:r>
              <a:rPr lang="en-US" sz="1800" dirty="0"/>
              <a:t>Time between successive transitions in the same direction</a:t>
            </a:r>
          </a:p>
          <a:p>
            <a:pPr lvl="1"/>
            <a:r>
              <a:rPr lang="en-US" sz="1800" dirty="0"/>
              <a:t>Positive edge to Positive edge  OR  Negative edge to Negative edge</a:t>
            </a:r>
          </a:p>
          <a:p>
            <a:r>
              <a:rPr lang="en-US" sz="1800" b="1" dirty="0"/>
              <a:t>Clock Width (t)</a:t>
            </a:r>
            <a:r>
              <a:rPr lang="en-US" sz="1800" dirty="0"/>
              <a:t>  </a:t>
            </a:r>
            <a:r>
              <a:rPr lang="en-US" sz="1800" b="1" dirty="0"/>
              <a:t>=</a:t>
            </a:r>
            <a:r>
              <a:rPr lang="en-US" sz="1800" dirty="0"/>
              <a:t> Time during which the value of the clock signal is HIGH or LOW</a:t>
            </a:r>
          </a:p>
          <a:p>
            <a:r>
              <a:rPr lang="en-US" sz="1800" b="1" dirty="0"/>
              <a:t>Frequency = </a:t>
            </a:r>
            <a:r>
              <a:rPr lang="en-US" sz="1800" dirty="0"/>
              <a:t>1 / Clock Time Period = </a:t>
            </a:r>
            <a:r>
              <a:rPr lang="en-US" sz="1800" b="1" dirty="0"/>
              <a:t>1 / T</a:t>
            </a:r>
          </a:p>
          <a:p>
            <a:r>
              <a:rPr lang="en-US" sz="1800" b="1" dirty="0"/>
              <a:t>Duty Cycle = </a:t>
            </a:r>
            <a:r>
              <a:rPr lang="en-US" sz="1800" dirty="0"/>
              <a:t>Ratio of clock on time to clock off time (or Ratio of clock width </a:t>
            </a:r>
            <a:r>
              <a:rPr lang="en-US" sz="1800" b="1" dirty="0"/>
              <a:t>‘t’</a:t>
            </a:r>
            <a:r>
              <a:rPr lang="en-US" sz="1800" dirty="0"/>
              <a:t> to clock period </a:t>
            </a:r>
            <a:r>
              <a:rPr lang="en-US" sz="1800" b="1" dirty="0"/>
              <a:t>‘T’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19C922-97E4-4648-B328-3BCFD531D43D}"/>
              </a:ext>
            </a:extLst>
          </p:cNvPr>
          <p:cNvGrpSpPr/>
          <p:nvPr/>
        </p:nvGrpSpPr>
        <p:grpSpPr>
          <a:xfrm>
            <a:off x="5986861" y="3833457"/>
            <a:ext cx="5507471" cy="2960006"/>
            <a:chOff x="5986861" y="3625665"/>
            <a:chExt cx="5507471" cy="30336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5DB384-A2EE-44D6-9520-4A06F1622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86861" y="3625665"/>
              <a:ext cx="5148481" cy="303368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FAFB97D-7BE7-4CDC-83EB-E9CFBD1CE141}"/>
                </a:ext>
              </a:extLst>
            </p:cNvPr>
            <p:cNvSpPr/>
            <p:nvPr/>
          </p:nvSpPr>
          <p:spPr>
            <a:xfrm>
              <a:off x="9588274" y="4961934"/>
              <a:ext cx="19060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  <a:sym typeface="Wingdings" panose="05000000000000000000" pitchFamily="2" charset="2"/>
                </a:rPr>
                <a:t> 50% duty cycle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6790675-A368-4A3C-A5B5-DE5982684FE5}"/>
              </a:ext>
            </a:extLst>
          </p:cNvPr>
          <p:cNvGrpSpPr/>
          <p:nvPr/>
        </p:nvGrpSpPr>
        <p:grpSpPr>
          <a:xfrm>
            <a:off x="485944" y="3940272"/>
            <a:ext cx="5282459" cy="2539224"/>
            <a:chOff x="485944" y="3891504"/>
            <a:chExt cx="5282459" cy="253922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B33EEA3-510E-4740-80E6-7601005D7226}"/>
                </a:ext>
              </a:extLst>
            </p:cNvPr>
            <p:cNvGrpSpPr/>
            <p:nvPr/>
          </p:nvGrpSpPr>
          <p:grpSpPr>
            <a:xfrm>
              <a:off x="485944" y="4060781"/>
              <a:ext cx="5282459" cy="2369947"/>
              <a:chOff x="453877" y="3606611"/>
              <a:chExt cx="5282459" cy="236994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822FB5F-07A5-4901-9430-D7B3BD3A0585}"/>
                  </a:ext>
                </a:extLst>
              </p:cNvPr>
              <p:cNvGrpSpPr/>
              <p:nvPr/>
            </p:nvGrpSpPr>
            <p:grpSpPr>
              <a:xfrm>
                <a:off x="874366" y="3606611"/>
                <a:ext cx="4861970" cy="2369947"/>
                <a:chOff x="2105758" y="3616325"/>
                <a:chExt cx="5905500" cy="3143201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E03BCC38-29B4-4081-BABD-4996D78A98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05758" y="3616325"/>
                  <a:ext cx="5905500" cy="2552700"/>
                </a:xfrm>
                <a:prstGeom prst="rect">
                  <a:avLst/>
                </a:prstGeom>
              </p:spPr>
            </p:pic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0C1E1DBA-45B0-4ACC-9F9D-DB1CB78D23EF}"/>
                    </a:ext>
                  </a:extLst>
                </p:cNvPr>
                <p:cNvCxnSpPr/>
                <p:nvPr/>
              </p:nvCxnSpPr>
              <p:spPr>
                <a:xfrm>
                  <a:off x="3569677" y="6169025"/>
                  <a:ext cx="0" cy="37245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26BB4AF-01BE-43C9-A812-61B665B0EAEE}"/>
                    </a:ext>
                  </a:extLst>
                </p:cNvPr>
                <p:cNvCxnSpPr/>
                <p:nvPr/>
              </p:nvCxnSpPr>
              <p:spPr>
                <a:xfrm>
                  <a:off x="5717931" y="6169025"/>
                  <a:ext cx="0" cy="37245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19470201-ECEF-4869-9368-9C69F93D1D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93123" y="6374179"/>
                  <a:ext cx="2124808" cy="0"/>
                </a:xfrm>
                <a:prstGeom prst="line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50EC5C7-01D8-4405-B823-0E5833FA8F08}"/>
                    </a:ext>
                  </a:extLst>
                </p:cNvPr>
                <p:cNvSpPr/>
                <p:nvPr/>
              </p:nvSpPr>
              <p:spPr>
                <a:xfrm>
                  <a:off x="3497948" y="6420972"/>
                  <a:ext cx="2315157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rgbClr val="FF0000"/>
                      </a:solidFill>
                    </a:rPr>
                    <a:t>T = 1 Clock Time Period</a:t>
                  </a:r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403C0C5-EF4E-484A-A305-68FD9137E1D1}"/>
                  </a:ext>
                </a:extLst>
              </p:cNvPr>
              <p:cNvSpPr/>
              <p:nvPr/>
            </p:nvSpPr>
            <p:spPr>
              <a:xfrm>
                <a:off x="453877" y="4230414"/>
                <a:ext cx="190605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</a:rPr>
                  <a:t>clock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1BA996-49F4-42B6-8057-CC61CA36B5F5}"/>
                </a:ext>
              </a:extLst>
            </p:cNvPr>
            <p:cNvSpPr/>
            <p:nvPr/>
          </p:nvSpPr>
          <p:spPr>
            <a:xfrm>
              <a:off x="1913719" y="3891504"/>
              <a:ext cx="145279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 t=clock width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378F349-535E-478C-A404-E5CD099876D2}"/>
                </a:ext>
              </a:extLst>
            </p:cNvPr>
            <p:cNvCxnSpPr>
              <a:cxnSpLocks/>
            </p:cNvCxnSpPr>
            <p:nvPr/>
          </p:nvCxnSpPr>
          <p:spPr>
            <a:xfrm>
              <a:off x="2160429" y="4177865"/>
              <a:ext cx="0" cy="27400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DFAD86-3906-4F97-8F69-31955195F889}"/>
                </a:ext>
              </a:extLst>
            </p:cNvPr>
            <p:cNvCxnSpPr>
              <a:cxnSpLocks/>
            </p:cNvCxnSpPr>
            <p:nvPr/>
          </p:nvCxnSpPr>
          <p:spPr>
            <a:xfrm>
              <a:off x="3039139" y="4187220"/>
              <a:ext cx="0" cy="27400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72151BF-F3A4-46EE-BC7E-5B423C284B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8225" y="4328794"/>
              <a:ext cx="861272" cy="1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708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544" y="123825"/>
            <a:ext cx="11058144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What is a Frequency Divider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9C2D4-B3D7-48EF-97E7-7D09BDFFCE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2544" y="664620"/>
                <a:ext cx="11058144" cy="2090772"/>
              </a:xfrm>
            </p:spPr>
            <p:txBody>
              <a:bodyPr>
                <a:noAutofit/>
              </a:bodyPr>
              <a:lstStyle/>
              <a:p>
                <a:r>
                  <a:rPr lang="en-US" sz="1800" b="1" dirty="0"/>
                  <a:t>A frequency divider, also called a clock divider, is a circuit that takes an input signal of a frequency (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800" b="1" dirty="0"/>
                  <a:t>), and generates an output signal of a scaled down frequency (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𝒇𝒐𝒖𝒕</m:t>
                    </m:r>
                  </m:oMath>
                </a14:m>
                <a:r>
                  <a:rPr lang="en-US" sz="1800" b="1" dirty="0"/>
                  <a:t>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𝒇𝒐𝒖𝒕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𝒇𝒊𝒏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⋰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𝒘𝒉𝒆𝒓𝒆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𝒂𝒏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𝒊𝒏𝒕𝒆𝒈𝒆𝒓</m:t>
                      </m:r>
                    </m:oMath>
                  </m:oMathPara>
                </a14:m>
                <a:endParaRPr lang="en-US" sz="1800" b="1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800" b="1" dirty="0"/>
                  <a:t>For power of 2 integer division toggle mode flip-flops are used in a chain as a divide by two counter. </a:t>
                </a:r>
              </a:p>
              <a:p>
                <a:pPr lvl="1"/>
                <a:r>
                  <a:rPr lang="en-US" sz="1800" dirty="0"/>
                  <a:t>One flip-flop will divide the clock, </a:t>
                </a:r>
                <a:r>
                  <a:rPr lang="en-US" sz="1800" dirty="0" err="1"/>
                  <a:t>ƒ</a:t>
                </a:r>
                <a:r>
                  <a:rPr lang="en-US" sz="1800" baseline="-25000" dirty="0" err="1"/>
                  <a:t>IN</a:t>
                </a:r>
                <a:r>
                  <a:rPr lang="en-US" sz="1800" dirty="0"/>
                  <a:t> by 2, two flip-flops will divide </a:t>
                </a:r>
                <a:r>
                  <a:rPr lang="en-US" sz="1800" dirty="0" err="1"/>
                  <a:t>ƒ</a:t>
                </a:r>
                <a:r>
                  <a:rPr lang="en-US" sz="1800" baseline="-25000" dirty="0" err="1"/>
                  <a:t>IN</a:t>
                </a:r>
                <a:r>
                  <a:rPr lang="en-US" sz="1800" dirty="0"/>
                  <a:t> by 4 (and so on). </a:t>
                </a:r>
              </a:p>
              <a:p>
                <a:pPr lvl="1"/>
                <a:r>
                  <a:rPr lang="en-US" sz="1800" dirty="0"/>
                  <a:t>This is one of benefit of using toggle flip-flops for frequency division s that the output at any point has an exact 50% duty cycle</a:t>
                </a: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59C2D4-B3D7-48EF-97E7-7D09BDFFC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544" y="664620"/>
                <a:ext cx="11058144" cy="2090772"/>
              </a:xfrm>
              <a:blipFill>
                <a:blip r:embed="rId2"/>
                <a:stretch>
                  <a:fillRect l="-331" t="-2624" b="-3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383740-1469-4CFE-BC7B-1CE32291A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016970"/>
            <a:ext cx="3947160" cy="32739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AB5CC0-B1F7-4F5F-AC93-3701EDA20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43" y="2592052"/>
            <a:ext cx="5468113" cy="4242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14DE27A-671D-49F2-B362-370E750FFAE0}"/>
                  </a:ext>
                </a:extLst>
              </p:cNvPr>
              <p:cNvSpPr/>
              <p:nvPr/>
            </p:nvSpPr>
            <p:spPr>
              <a:xfrm>
                <a:off x="4776216" y="4756685"/>
                <a:ext cx="1213104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200" b="1" dirty="0">
                    <a:solidFill>
                      <a:schemeClr val="accent1">
                        <a:lumMod val="75000"/>
                      </a:schemeClr>
                    </a:solidFill>
                  </a:rPr>
                  <a:t> / 2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14DE27A-671D-49F2-B362-370E750FFA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216" y="4756685"/>
                <a:ext cx="1213104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4AC1E22-7948-416B-A2B0-3A6392C3FBA9}"/>
                  </a:ext>
                </a:extLst>
              </p:cNvPr>
              <p:cNvSpPr/>
              <p:nvPr/>
            </p:nvSpPr>
            <p:spPr>
              <a:xfrm>
                <a:off x="4776216" y="5283070"/>
                <a:ext cx="1213104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200" b="1" dirty="0">
                    <a:solidFill>
                      <a:schemeClr val="accent1">
                        <a:lumMod val="75000"/>
                      </a:schemeClr>
                    </a:solidFill>
                  </a:rPr>
                  <a:t> /4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4AC1E22-7948-416B-A2B0-3A6392C3FB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216" y="5283070"/>
                <a:ext cx="1213104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0AAD266-BB83-4B80-8155-2D6203371A8E}"/>
                  </a:ext>
                </a:extLst>
              </p:cNvPr>
              <p:cNvSpPr/>
              <p:nvPr/>
            </p:nvSpPr>
            <p:spPr>
              <a:xfrm>
                <a:off x="4785361" y="5809455"/>
                <a:ext cx="1213104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200" b="1" dirty="0">
                    <a:solidFill>
                      <a:schemeClr val="accent1">
                        <a:lumMod val="75000"/>
                      </a:schemeClr>
                    </a:solidFill>
                  </a:rPr>
                  <a:t> / 8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0AAD266-BB83-4B80-8155-2D6203371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361" y="5809455"/>
                <a:ext cx="1213104" cy="276999"/>
              </a:xfrm>
              <a:prstGeom prst="rect">
                <a:avLst/>
              </a:prstGeom>
              <a:blipFill>
                <a:blip r:embed="rId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09E3BB1-F62A-4E95-9B62-0542C264A1BB}"/>
                  </a:ext>
                </a:extLst>
              </p:cNvPr>
              <p:cNvSpPr/>
              <p:nvPr/>
            </p:nvSpPr>
            <p:spPr>
              <a:xfrm>
                <a:off x="4776216" y="6335840"/>
                <a:ext cx="1213104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200" b="1" dirty="0">
                    <a:solidFill>
                      <a:schemeClr val="accent1">
                        <a:lumMod val="75000"/>
                      </a:schemeClr>
                    </a:solidFill>
                  </a:rPr>
                  <a:t> / 16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09E3BB1-F62A-4E95-9B62-0542C264A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216" y="6335840"/>
                <a:ext cx="1213104" cy="276999"/>
              </a:xfrm>
              <a:prstGeom prst="rect">
                <a:avLst/>
              </a:prstGeom>
              <a:blipFill>
                <a:blip r:embed="rId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F7E9C5A-4134-4F24-BA6D-317457658E35}"/>
                  </a:ext>
                </a:extLst>
              </p:cNvPr>
              <p:cNvSpPr/>
              <p:nvPr/>
            </p:nvSpPr>
            <p:spPr>
              <a:xfrm>
                <a:off x="6422136" y="2632281"/>
                <a:ext cx="1213104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000" b="1" dirty="0">
                    <a:solidFill>
                      <a:schemeClr val="accent1">
                        <a:lumMod val="75000"/>
                      </a:schemeClr>
                    </a:solidFill>
                  </a:rPr>
                  <a:t> / 2</a:t>
                </a: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F7E9C5A-4134-4F24-BA6D-317457658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136" y="2632281"/>
                <a:ext cx="1213104" cy="246221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1A0AA8-1304-4FB2-8D85-E53DC416B32E}"/>
                  </a:ext>
                </a:extLst>
              </p:cNvPr>
              <p:cNvSpPr/>
              <p:nvPr/>
            </p:nvSpPr>
            <p:spPr>
              <a:xfrm>
                <a:off x="7348729" y="2626185"/>
                <a:ext cx="1213104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000" b="1" dirty="0">
                    <a:solidFill>
                      <a:schemeClr val="accent1">
                        <a:lumMod val="75000"/>
                      </a:schemeClr>
                    </a:solidFill>
                  </a:rPr>
                  <a:t> / 4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1A0AA8-1304-4FB2-8D85-E53DC416B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729" y="2626185"/>
                <a:ext cx="1213104" cy="246221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41C1ABF-8EEF-4BA9-9BFF-B3D90E5B83D0}"/>
                  </a:ext>
                </a:extLst>
              </p:cNvPr>
              <p:cNvSpPr/>
              <p:nvPr/>
            </p:nvSpPr>
            <p:spPr>
              <a:xfrm>
                <a:off x="8214360" y="2623138"/>
                <a:ext cx="1213104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000" b="1" dirty="0">
                    <a:solidFill>
                      <a:schemeClr val="accent1">
                        <a:lumMod val="75000"/>
                      </a:schemeClr>
                    </a:solidFill>
                  </a:rPr>
                  <a:t> / 8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41C1ABF-8EEF-4BA9-9BFF-B3D90E5B8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60" y="2623138"/>
                <a:ext cx="1213104" cy="246221"/>
              </a:xfrm>
              <a:prstGeom prst="rect">
                <a:avLst/>
              </a:prstGeom>
              <a:blipFill>
                <a:blip r:embed="rId11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B50AB9D-F758-4F92-9EC4-EFE2EB358DAF}"/>
                  </a:ext>
                </a:extLst>
              </p:cNvPr>
              <p:cNvSpPr/>
              <p:nvPr/>
            </p:nvSpPr>
            <p:spPr>
              <a:xfrm>
                <a:off x="9073895" y="2632283"/>
                <a:ext cx="1213104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𝒇𝒊𝒏</m:t>
                    </m:r>
                  </m:oMath>
                </a14:m>
                <a:r>
                  <a:rPr lang="en-US" sz="1000" b="1" dirty="0">
                    <a:solidFill>
                      <a:schemeClr val="accent1">
                        <a:lumMod val="75000"/>
                      </a:schemeClr>
                    </a:solidFill>
                  </a:rPr>
                  <a:t> / 16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B50AB9D-F758-4F92-9EC4-EFE2EB358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895" y="2632283"/>
                <a:ext cx="1213104" cy="246221"/>
              </a:xfrm>
              <a:prstGeom prst="rect">
                <a:avLst/>
              </a:prstGeom>
              <a:blipFill>
                <a:blip r:embed="rId1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D0CDFC-2608-43C9-95E4-444ABA001B9F}"/>
              </a:ext>
            </a:extLst>
          </p:cNvPr>
          <p:cNvCxnSpPr>
            <a:cxnSpLocks/>
          </p:cNvCxnSpPr>
          <p:nvPr/>
        </p:nvCxnSpPr>
        <p:spPr>
          <a:xfrm flipV="1">
            <a:off x="2816352" y="3273552"/>
            <a:ext cx="4053840" cy="1255776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38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544" y="123825"/>
            <a:ext cx="11045952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 err="1"/>
              <a:t>CLock</a:t>
            </a:r>
            <a:r>
              <a:rPr lang="en-US" dirty="0"/>
              <a:t> Divide by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C2D4-B3D7-48EF-97E7-7D09BDFF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544" y="670717"/>
            <a:ext cx="10698804" cy="1325124"/>
          </a:xfrm>
        </p:spPr>
        <p:txBody>
          <a:bodyPr>
            <a:noAutofit/>
          </a:bodyPr>
          <a:lstStyle/>
          <a:p>
            <a:r>
              <a:rPr lang="en-US" sz="2000" b="1" dirty="0"/>
              <a:t>Clock divide by 2 can be developed using single D-</a:t>
            </a:r>
            <a:r>
              <a:rPr lang="en-US" sz="2000" b="1" dirty="0" err="1"/>
              <a:t>FlipFlop</a:t>
            </a:r>
            <a:r>
              <a:rPr lang="en-US" sz="2000" b="1" dirty="0"/>
              <a:t> with inverted output of </a:t>
            </a:r>
            <a:r>
              <a:rPr lang="en-US" sz="2000" b="1" dirty="0" err="1"/>
              <a:t>flipfop</a:t>
            </a:r>
            <a:r>
              <a:rPr lang="en-US" sz="2000" b="1" dirty="0"/>
              <a:t> connected to input ‘D’ of flipflop</a:t>
            </a:r>
          </a:p>
          <a:p>
            <a:pPr lvl="1"/>
            <a:r>
              <a:rPr lang="en-US" sz="1800" dirty="0"/>
              <a:t>Reference clock (CLK_IN) is connected to flipflop clock pin</a:t>
            </a:r>
          </a:p>
          <a:p>
            <a:pPr lvl="1"/>
            <a:r>
              <a:rPr lang="en-US" sz="1800" dirty="0"/>
              <a:t>Flipflop output Q produces derived clock (CLK_OUT) which is 1/2 time of CLK_IN time period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942223-8B84-4C2B-9394-2C70911DE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69" y="2203473"/>
            <a:ext cx="4064405" cy="2451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E091EA-2070-4981-84C9-9202171B2646}"/>
              </a:ext>
            </a:extLst>
          </p:cNvPr>
          <p:cNvSpPr txBox="1"/>
          <p:nvPr/>
        </p:nvSpPr>
        <p:spPr>
          <a:xfrm>
            <a:off x="6334557" y="2586297"/>
            <a:ext cx="4064405" cy="24006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dbl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b="1" dirty="0"/>
              <a:t>module</a:t>
            </a:r>
            <a:r>
              <a:rPr lang="en-US" sz="1500" dirty="0"/>
              <a:t> clock_divide_by_2( </a:t>
            </a:r>
          </a:p>
          <a:p>
            <a:r>
              <a:rPr lang="en-US" sz="1500" b="1" dirty="0"/>
              <a:t>  </a:t>
            </a:r>
            <a:r>
              <a:rPr lang="en-US" sz="1500" b="1"/>
              <a:t>input  </a:t>
            </a:r>
            <a:r>
              <a:rPr lang="en-US" sz="1500" b="1" smtClean="0"/>
              <a:t> </a:t>
            </a:r>
            <a:r>
              <a:rPr lang="en-US" sz="1500" dirty="0"/>
              <a:t>CLK_IN, reset,</a:t>
            </a:r>
          </a:p>
          <a:p>
            <a:r>
              <a:rPr lang="en-US" sz="1500" b="1" dirty="0"/>
              <a:t>  output logic </a:t>
            </a:r>
            <a:r>
              <a:rPr lang="en-US" sz="1500" dirty="0"/>
              <a:t>CLK_OUT);</a:t>
            </a:r>
          </a:p>
          <a:p>
            <a:endParaRPr lang="en-US" sz="1500" b="1" dirty="0"/>
          </a:p>
          <a:p>
            <a:r>
              <a:rPr lang="en-US" sz="1500" b="1" dirty="0" err="1"/>
              <a:t>always_ff</a:t>
            </a:r>
            <a:r>
              <a:rPr lang="en-US" sz="1500" b="1" dirty="0"/>
              <a:t>@(</a:t>
            </a:r>
            <a:r>
              <a:rPr lang="en-US" sz="1500" b="1"/>
              <a:t>posedge </a:t>
            </a:r>
            <a:r>
              <a:rPr lang="en-US" sz="1500" smtClean="0"/>
              <a:t>CLK_IN</a:t>
            </a:r>
            <a:r>
              <a:rPr lang="en-US" sz="1500" b="1" smtClean="0"/>
              <a:t>, </a:t>
            </a:r>
            <a:r>
              <a:rPr lang="en-US" sz="1500" b="1" dirty="0" err="1"/>
              <a:t>posedge</a:t>
            </a:r>
            <a:r>
              <a:rPr lang="en-US" sz="1500" b="1" dirty="0"/>
              <a:t> </a:t>
            </a:r>
            <a:r>
              <a:rPr lang="en-US" sz="1500" dirty="0"/>
              <a:t>reset</a:t>
            </a:r>
            <a:r>
              <a:rPr lang="en-US" sz="1500" b="1" dirty="0"/>
              <a:t>) </a:t>
            </a:r>
          </a:p>
          <a:p>
            <a:r>
              <a:rPr lang="en-US" sz="1500" b="1" smtClean="0"/>
              <a:t>if </a:t>
            </a:r>
            <a:r>
              <a:rPr lang="en-US" sz="1500" b="1"/>
              <a:t>(</a:t>
            </a:r>
            <a:r>
              <a:rPr lang="en-US" sz="1500" b="1" smtClean="0"/>
              <a:t>reset)</a:t>
            </a:r>
            <a:endParaRPr lang="en-US" sz="1500" b="1" dirty="0"/>
          </a:p>
          <a:p>
            <a:r>
              <a:rPr lang="en-US" sz="1500" b="1" dirty="0"/>
              <a:t>     </a:t>
            </a:r>
            <a:r>
              <a:rPr lang="en-US" sz="1500" dirty="0"/>
              <a:t> </a:t>
            </a:r>
            <a:r>
              <a:rPr lang="en-US" sz="1400" dirty="0"/>
              <a:t> CLK_OUT </a:t>
            </a:r>
            <a:r>
              <a:rPr lang="en-US" sz="1400" b="1" dirty="0"/>
              <a:t>&lt;= </a:t>
            </a:r>
            <a:r>
              <a:rPr lang="en-US" sz="1400" dirty="0"/>
              <a:t>0;</a:t>
            </a:r>
          </a:p>
          <a:p>
            <a:r>
              <a:rPr lang="en-US" sz="1500" b="1" smtClean="0"/>
              <a:t>   else</a:t>
            </a:r>
            <a:endParaRPr lang="en-US" sz="1500" b="1" dirty="0"/>
          </a:p>
          <a:p>
            <a:r>
              <a:rPr lang="en-US" sz="1500" b="1" dirty="0"/>
              <a:t>     </a:t>
            </a:r>
            <a:r>
              <a:rPr lang="en-US" sz="1400" b="1" dirty="0"/>
              <a:t>  </a:t>
            </a:r>
            <a:r>
              <a:rPr lang="en-US" sz="1400" dirty="0"/>
              <a:t>CLK_OUT </a:t>
            </a:r>
            <a:r>
              <a:rPr lang="en-US" sz="1400" b="1" dirty="0"/>
              <a:t>&lt;= ~</a:t>
            </a:r>
            <a:r>
              <a:rPr lang="en-US" sz="1400" dirty="0"/>
              <a:t>CLK_OUT;</a:t>
            </a:r>
          </a:p>
          <a:p>
            <a:r>
              <a:rPr lang="en-US" sz="1500" b="1" smtClean="0"/>
              <a:t>endmodule</a:t>
            </a:r>
            <a:r>
              <a:rPr lang="en-US" sz="1500" dirty="0"/>
              <a:t>: clock_divide_by_4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CB4511-B193-4151-B859-22A6F0BB7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76" y="4678910"/>
            <a:ext cx="4064405" cy="20988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0A89E0F-2ED8-4BB7-9D25-8D701699C09B}"/>
              </a:ext>
            </a:extLst>
          </p:cNvPr>
          <p:cNvSpPr/>
          <p:nvPr/>
        </p:nvSpPr>
        <p:spPr>
          <a:xfrm>
            <a:off x="298704" y="5910284"/>
            <a:ext cx="12131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CLK_OUT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77128E-04D8-47AC-9956-4435E83CFE0C}"/>
              </a:ext>
            </a:extLst>
          </p:cNvPr>
          <p:cNvSpPr/>
          <p:nvPr/>
        </p:nvSpPr>
        <p:spPr>
          <a:xfrm>
            <a:off x="298704" y="5250461"/>
            <a:ext cx="12131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CLK_IN</a:t>
            </a:r>
          </a:p>
        </p:txBody>
      </p:sp>
    </p:spTree>
    <p:extLst>
      <p:ext uri="{BB962C8B-B14F-4D97-AF65-F5344CB8AC3E}">
        <p14:creationId xmlns:p14="http://schemas.microsoft.com/office/powerpoint/2010/main" val="425774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80" y="123825"/>
            <a:ext cx="11643360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 Divide by 4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B5D65F-5A81-4F47-BF72-EC020EE4ED59}"/>
              </a:ext>
            </a:extLst>
          </p:cNvPr>
          <p:cNvSpPr txBox="1"/>
          <p:nvPr/>
        </p:nvSpPr>
        <p:spPr>
          <a:xfrm>
            <a:off x="458183" y="894557"/>
            <a:ext cx="4064405" cy="44781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dbl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b="1" dirty="0"/>
              <a:t>module</a:t>
            </a:r>
            <a:r>
              <a:rPr lang="en-US" sz="1500" dirty="0"/>
              <a:t> clock_divide_by_4 </a:t>
            </a:r>
            <a:r>
              <a:rPr lang="en-US" sz="1500" b="1" dirty="0"/>
              <a:t>#</a:t>
            </a:r>
            <a:r>
              <a:rPr lang="en-US" sz="1500" dirty="0"/>
              <a:t>(</a:t>
            </a:r>
            <a:r>
              <a:rPr lang="en-US" sz="1500" b="1" dirty="0"/>
              <a:t>parameter</a:t>
            </a:r>
            <a:r>
              <a:rPr lang="en-US" sz="1500" dirty="0"/>
              <a:t> N = 4)( </a:t>
            </a:r>
          </a:p>
          <a:p>
            <a:r>
              <a:rPr lang="en-US" sz="1500" b="1" dirty="0"/>
              <a:t>  </a:t>
            </a:r>
            <a:r>
              <a:rPr lang="en-US" sz="1500" b="1"/>
              <a:t>input  </a:t>
            </a:r>
            <a:r>
              <a:rPr lang="en-US" sz="1500" b="1" smtClean="0"/>
              <a:t> </a:t>
            </a:r>
            <a:r>
              <a:rPr lang="en-US" sz="1500" dirty="0" err="1"/>
              <a:t>clkin</a:t>
            </a:r>
            <a:r>
              <a:rPr lang="en-US" sz="1500" dirty="0"/>
              <a:t>, reset,</a:t>
            </a:r>
          </a:p>
          <a:p>
            <a:r>
              <a:rPr lang="en-US" sz="1500" b="1" dirty="0"/>
              <a:t>  output logic </a:t>
            </a:r>
            <a:r>
              <a:rPr lang="en-US" sz="1500" dirty="0" err="1"/>
              <a:t>clkout</a:t>
            </a:r>
            <a:r>
              <a:rPr lang="en-US" sz="1500" dirty="0"/>
              <a:t>);</a:t>
            </a:r>
          </a:p>
          <a:p>
            <a:endParaRPr lang="en-US" sz="1500" b="1" dirty="0"/>
          </a:p>
          <a:p>
            <a:r>
              <a:rPr lang="en-US" sz="1500" b="1" dirty="0"/>
              <a:t> logic </a:t>
            </a:r>
            <a:r>
              <a:rPr lang="en-US" sz="1500" dirty="0"/>
              <a:t>[</a:t>
            </a:r>
            <a:r>
              <a:rPr lang="en-US" sz="1500" b="1" dirty="0"/>
              <a:t>$clog2</a:t>
            </a:r>
            <a:r>
              <a:rPr lang="en-US" sz="1500" dirty="0"/>
              <a:t>(N)-1:0]</a:t>
            </a:r>
            <a:r>
              <a:rPr lang="en-US" sz="1500" b="1" dirty="0"/>
              <a:t> </a:t>
            </a:r>
            <a:r>
              <a:rPr lang="en-US" sz="1500" b="1" dirty="0" err="1"/>
              <a:t>cnt_value</a:t>
            </a:r>
            <a:r>
              <a:rPr lang="en-US" sz="1500" b="1" dirty="0"/>
              <a:t>;</a:t>
            </a:r>
          </a:p>
          <a:p>
            <a:r>
              <a:rPr lang="en-US" sz="1500" b="1" dirty="0"/>
              <a:t> </a:t>
            </a:r>
            <a:r>
              <a:rPr lang="en-US" sz="1500" b="1" dirty="0" err="1"/>
              <a:t>always_ff</a:t>
            </a:r>
            <a:r>
              <a:rPr lang="en-US" sz="1500" b="1" dirty="0"/>
              <a:t>@(</a:t>
            </a:r>
            <a:r>
              <a:rPr lang="en-US" sz="1500" b="1" err="1"/>
              <a:t>posedge</a:t>
            </a:r>
            <a:r>
              <a:rPr lang="en-US" sz="1500" b="1"/>
              <a:t> </a:t>
            </a:r>
            <a:r>
              <a:rPr lang="en-US" sz="1500" smtClean="0"/>
              <a:t>clkin,</a:t>
            </a:r>
            <a:r>
              <a:rPr lang="en-US" sz="1500" b="1" smtClean="0"/>
              <a:t> </a:t>
            </a:r>
            <a:r>
              <a:rPr lang="en-US" sz="1500" b="1" dirty="0" err="1"/>
              <a:t>posedge</a:t>
            </a:r>
            <a:r>
              <a:rPr lang="en-US" sz="1500" b="1" dirty="0"/>
              <a:t> </a:t>
            </a:r>
            <a:r>
              <a:rPr lang="en-US" sz="1500" dirty="0"/>
              <a:t>reset</a:t>
            </a:r>
            <a:r>
              <a:rPr lang="en-US" sz="1500" b="1" dirty="0"/>
              <a:t>) </a:t>
            </a:r>
          </a:p>
          <a:p>
            <a:r>
              <a:rPr lang="en-US" sz="1500" b="1" dirty="0"/>
              <a:t>   begin</a:t>
            </a:r>
          </a:p>
          <a:p>
            <a:r>
              <a:rPr lang="en-US" sz="1500" b="1" dirty="0"/>
              <a:t>     if </a:t>
            </a:r>
            <a:r>
              <a:rPr lang="en-US" sz="1500" b="1"/>
              <a:t>(</a:t>
            </a:r>
            <a:r>
              <a:rPr lang="en-US" sz="1500" b="1" smtClean="0"/>
              <a:t>reset) </a:t>
            </a:r>
            <a:r>
              <a:rPr lang="en-US" sz="1500" b="1" dirty="0"/>
              <a:t>begin</a:t>
            </a:r>
          </a:p>
          <a:p>
            <a:r>
              <a:rPr lang="en-US" sz="1500" b="1" dirty="0"/>
              <a:t>     </a:t>
            </a:r>
            <a:r>
              <a:rPr lang="en-US" sz="1500" dirty="0"/>
              <a:t>  </a:t>
            </a:r>
            <a:r>
              <a:rPr lang="en-US" sz="1500" dirty="0" err="1"/>
              <a:t>cnt_value</a:t>
            </a:r>
            <a:r>
              <a:rPr lang="en-US" sz="1500" dirty="0"/>
              <a:t> &lt;= 0;</a:t>
            </a:r>
          </a:p>
          <a:p>
            <a:r>
              <a:rPr lang="en-US" sz="1500" dirty="0"/>
              <a:t>       </a:t>
            </a:r>
            <a:r>
              <a:rPr lang="en-US" sz="1500" dirty="0" err="1"/>
              <a:t>clkout</a:t>
            </a:r>
            <a:r>
              <a:rPr lang="en-US" sz="1500" dirty="0"/>
              <a:t> &lt;= 0; </a:t>
            </a:r>
          </a:p>
          <a:p>
            <a:r>
              <a:rPr lang="en-US" sz="1500" b="1" dirty="0"/>
              <a:t>     end</a:t>
            </a:r>
          </a:p>
          <a:p>
            <a:r>
              <a:rPr lang="en-US" sz="1500" b="1" dirty="0"/>
              <a:t>     else if</a:t>
            </a:r>
            <a:r>
              <a:rPr lang="en-US" sz="1500" dirty="0"/>
              <a:t>(</a:t>
            </a:r>
            <a:r>
              <a:rPr lang="en-US" sz="1500" dirty="0" err="1"/>
              <a:t>cnt_value</a:t>
            </a:r>
            <a:r>
              <a:rPr lang="en-US" sz="1500" dirty="0"/>
              <a:t> ==</a:t>
            </a:r>
            <a:r>
              <a:rPr lang="en-US" sz="1500" b="1" dirty="0"/>
              <a:t> $clog2</a:t>
            </a:r>
            <a:r>
              <a:rPr lang="en-US" sz="1500" dirty="0"/>
              <a:t>(N)-1)</a:t>
            </a:r>
            <a:r>
              <a:rPr lang="en-US" sz="1500" b="1" dirty="0"/>
              <a:t> begin</a:t>
            </a:r>
          </a:p>
          <a:p>
            <a:r>
              <a:rPr lang="en-US" sz="1500" b="1" dirty="0"/>
              <a:t>       </a:t>
            </a:r>
            <a:r>
              <a:rPr lang="en-US" sz="1500" dirty="0" err="1"/>
              <a:t>cnt_value</a:t>
            </a:r>
            <a:r>
              <a:rPr lang="en-US" sz="1500" dirty="0"/>
              <a:t> &lt;= 0;</a:t>
            </a:r>
          </a:p>
          <a:p>
            <a:r>
              <a:rPr lang="en-US" sz="1500" dirty="0"/>
              <a:t>       </a:t>
            </a:r>
            <a:r>
              <a:rPr lang="en-US" sz="1500" dirty="0" err="1"/>
              <a:t>clkout</a:t>
            </a:r>
            <a:r>
              <a:rPr lang="en-US" sz="1500" dirty="0"/>
              <a:t> &lt;= ~</a:t>
            </a:r>
            <a:r>
              <a:rPr lang="en-US" sz="1500" dirty="0" err="1"/>
              <a:t>clkout</a:t>
            </a:r>
            <a:r>
              <a:rPr lang="en-US" sz="1500" dirty="0"/>
              <a:t>;</a:t>
            </a:r>
          </a:p>
          <a:p>
            <a:r>
              <a:rPr lang="en-US" sz="1500" b="1" dirty="0"/>
              <a:t>     end	 </a:t>
            </a:r>
          </a:p>
          <a:p>
            <a:r>
              <a:rPr lang="en-US" sz="1500" b="1" dirty="0"/>
              <a:t>     else </a:t>
            </a:r>
          </a:p>
          <a:p>
            <a:r>
              <a:rPr lang="en-US" sz="1500" b="1" dirty="0"/>
              <a:t>       </a:t>
            </a:r>
            <a:r>
              <a:rPr lang="en-US" sz="1500" dirty="0" err="1"/>
              <a:t>cnt_value</a:t>
            </a:r>
            <a:r>
              <a:rPr lang="en-US" sz="1500" dirty="0"/>
              <a:t> &lt;= </a:t>
            </a:r>
            <a:r>
              <a:rPr lang="en-US" sz="1500" dirty="0" err="1"/>
              <a:t>cnt_value</a:t>
            </a:r>
            <a:r>
              <a:rPr lang="en-US" sz="1500" dirty="0"/>
              <a:t> + 1;</a:t>
            </a:r>
          </a:p>
          <a:p>
            <a:r>
              <a:rPr lang="en-US" sz="1500" b="1" dirty="0"/>
              <a:t>   end</a:t>
            </a:r>
          </a:p>
          <a:p>
            <a:r>
              <a:rPr lang="en-US" sz="1500" b="1" dirty="0" err="1"/>
              <a:t>endmodule</a:t>
            </a:r>
            <a:r>
              <a:rPr lang="en-US" sz="1500" dirty="0"/>
              <a:t>: clock_divide_by_4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C1436A-E8D5-4CAE-A257-04085991ED31}"/>
              </a:ext>
            </a:extLst>
          </p:cNvPr>
          <p:cNvSpPr/>
          <p:nvPr/>
        </p:nvSpPr>
        <p:spPr>
          <a:xfrm>
            <a:off x="4882532" y="980519"/>
            <a:ext cx="51758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$clog2 function returns the ceiling of the logarithm to the base 2.</a:t>
            </a:r>
          </a:p>
          <a:p>
            <a:r>
              <a:rPr lang="en-US" sz="1600" dirty="0">
                <a:solidFill>
                  <a:srgbClr val="FF0000"/>
                </a:solidFill>
              </a:rPr>
              <a:t>Example :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for N=4, $clog2(4) will return 2</a:t>
            </a:r>
          </a:p>
          <a:p>
            <a:r>
              <a:rPr lang="en-US" sz="1600" dirty="0">
                <a:solidFill>
                  <a:srgbClr val="FF0000"/>
                </a:solidFill>
              </a:rPr>
              <a:t>for N=6, $clog2(6) will return 3</a:t>
            </a:r>
          </a:p>
          <a:p>
            <a:r>
              <a:rPr lang="en-US" sz="1600" dirty="0">
                <a:solidFill>
                  <a:srgbClr val="FF0000"/>
                </a:solidFill>
              </a:rPr>
              <a:t>For N=8, </a:t>
            </a:r>
            <a:r>
              <a:rPr lang="en-US" sz="1600">
                <a:solidFill>
                  <a:srgbClr val="FF0000"/>
                </a:solidFill>
              </a:rPr>
              <a:t>$clog2(8) </a:t>
            </a:r>
            <a:r>
              <a:rPr lang="en-US" sz="1600" dirty="0">
                <a:solidFill>
                  <a:srgbClr val="FF0000"/>
                </a:solidFill>
              </a:rPr>
              <a:t>will return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66FA99-90D9-4BD8-BF48-BD098A061FC0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2664244" y="1765349"/>
            <a:ext cx="2218288" cy="171310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E631203-4E9D-42F5-B24E-EF43E782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309" y="3198213"/>
            <a:ext cx="7630691" cy="2083322"/>
          </a:xfrm>
          <a:prstGeom prst="rect">
            <a:avLst/>
          </a:prstGeom>
        </p:spPr>
      </p:pic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4E5A99C6-B7B1-4502-958D-A9728EF473B1}"/>
              </a:ext>
            </a:extLst>
          </p:cNvPr>
          <p:cNvSpPr/>
          <p:nvPr/>
        </p:nvSpPr>
        <p:spPr>
          <a:xfrm>
            <a:off x="4644508" y="2681511"/>
            <a:ext cx="455812" cy="45212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2AFAF0-1B83-45DA-A473-D6B9DEBB16E1}"/>
              </a:ext>
            </a:extLst>
          </p:cNvPr>
          <p:cNvSpPr/>
          <p:nvPr/>
        </p:nvSpPr>
        <p:spPr>
          <a:xfrm>
            <a:off x="9189389" y="5067008"/>
            <a:ext cx="25444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cnt_value</a:t>
            </a:r>
            <a:r>
              <a:rPr lang="en-US" sz="1600" dirty="0">
                <a:solidFill>
                  <a:srgbClr val="FF0000"/>
                </a:solidFill>
              </a:rPr>
              <a:t> ==</a:t>
            </a:r>
            <a:r>
              <a:rPr lang="en-US" sz="1600" b="1" dirty="0">
                <a:solidFill>
                  <a:srgbClr val="FF0000"/>
                </a:solidFill>
              </a:rPr>
              <a:t> $clog2</a:t>
            </a:r>
            <a:r>
              <a:rPr lang="en-US" sz="1600" dirty="0">
                <a:solidFill>
                  <a:srgbClr val="FF0000"/>
                </a:solidFill>
              </a:rPr>
              <a:t>(N)-1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A91DA7-F114-4090-9B9B-2F6710571361}"/>
              </a:ext>
            </a:extLst>
          </p:cNvPr>
          <p:cNvCxnSpPr>
            <a:cxnSpLocks/>
          </p:cNvCxnSpPr>
          <p:nvPr/>
        </p:nvCxnSpPr>
        <p:spPr>
          <a:xfrm flipV="1">
            <a:off x="9973712" y="4486996"/>
            <a:ext cx="0" cy="59942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BC4264B-E1FD-4572-8044-4528E24708D5}"/>
              </a:ext>
            </a:extLst>
          </p:cNvPr>
          <p:cNvSpPr/>
          <p:nvPr/>
        </p:nvSpPr>
        <p:spPr>
          <a:xfrm>
            <a:off x="5720240" y="2866376"/>
            <a:ext cx="33988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</a:rPr>
              <a:t>cnt_value</a:t>
            </a:r>
            <a:r>
              <a:rPr lang="en-US" sz="1600" dirty="0">
                <a:solidFill>
                  <a:srgbClr val="FF0000"/>
                </a:solidFill>
              </a:rPr>
              <a:t> &lt;= </a:t>
            </a:r>
            <a:r>
              <a:rPr lang="en-US" sz="1600" dirty="0" err="1">
                <a:solidFill>
                  <a:srgbClr val="FF0000"/>
                </a:solidFill>
              </a:rPr>
              <a:t>cnt_value</a:t>
            </a:r>
            <a:r>
              <a:rPr lang="en-US" sz="1600" dirty="0">
                <a:solidFill>
                  <a:srgbClr val="FF0000"/>
                </a:solidFill>
              </a:rPr>
              <a:t> +1;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723CA1BB-A7BE-4605-936F-851DD12D6B12}"/>
              </a:ext>
            </a:extLst>
          </p:cNvPr>
          <p:cNvSpPr/>
          <p:nvPr/>
        </p:nvSpPr>
        <p:spPr>
          <a:xfrm rot="16200000">
            <a:off x="7345999" y="1873490"/>
            <a:ext cx="179983" cy="2968987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A6E936-31EE-475D-B4B4-90DB5A38F34C}"/>
              </a:ext>
            </a:extLst>
          </p:cNvPr>
          <p:cNvSpPr/>
          <p:nvPr/>
        </p:nvSpPr>
        <p:spPr>
          <a:xfrm>
            <a:off x="10058400" y="2791637"/>
            <a:ext cx="20937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</a:rPr>
              <a:t>clkout</a:t>
            </a:r>
            <a:r>
              <a:rPr lang="en-US" sz="1600" dirty="0">
                <a:solidFill>
                  <a:srgbClr val="FF0000"/>
                </a:solidFill>
              </a:rPr>
              <a:t>&lt;= ~</a:t>
            </a:r>
            <a:r>
              <a:rPr lang="en-US" sz="1600" dirty="0" err="1">
                <a:solidFill>
                  <a:srgbClr val="FF0000"/>
                </a:solidFill>
              </a:rPr>
              <a:t>clkout</a:t>
            </a:r>
            <a:r>
              <a:rPr lang="en-US" sz="1600" dirty="0">
                <a:solidFill>
                  <a:srgbClr val="FF0000"/>
                </a:solidFill>
              </a:rPr>
              <a:t>;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3B70AE-6F8F-4EA5-B1E8-C01352E76EB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11105291" y="3130191"/>
            <a:ext cx="0" cy="348264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DD1B4FD-A87F-4F73-BFBE-F2181C35D8AE}"/>
              </a:ext>
            </a:extLst>
          </p:cNvPr>
          <p:cNvSpPr/>
          <p:nvPr/>
        </p:nvSpPr>
        <p:spPr>
          <a:xfrm>
            <a:off x="1934654" y="5683450"/>
            <a:ext cx="51758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Question  :</a:t>
            </a:r>
            <a:r>
              <a:rPr lang="en-US" sz="1600" dirty="0">
                <a:solidFill>
                  <a:srgbClr val="FF0000"/>
                </a:solidFill>
              </a:rPr>
              <a:t> If parameter N value is changed in </a:t>
            </a:r>
            <a:r>
              <a:rPr lang="en-US" sz="1600" dirty="0" err="1">
                <a:solidFill>
                  <a:srgbClr val="FF0000"/>
                </a:solidFill>
              </a:rPr>
              <a:t>SystemVerilog</a:t>
            </a:r>
            <a:r>
              <a:rPr lang="en-US" sz="1600" dirty="0">
                <a:solidFill>
                  <a:srgbClr val="FF0000"/>
                </a:solidFill>
              </a:rPr>
              <a:t> code to value 8, would above mentioned circuit work as divide by 8 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20D7C3-E3A6-4E34-BBEA-E8249378A7BE}"/>
              </a:ext>
            </a:extLst>
          </p:cNvPr>
          <p:cNvSpPr/>
          <p:nvPr/>
        </p:nvSpPr>
        <p:spPr>
          <a:xfrm>
            <a:off x="2578308" y="3649435"/>
            <a:ext cx="20770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For N=2,  after 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cnt_value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 of 0, 1 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clk_out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 value will be flipped from previous value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8C4A3B-7166-444E-8DF4-8BFE993B9E3B}"/>
              </a:ext>
            </a:extLst>
          </p:cNvPr>
          <p:cNvCxnSpPr>
            <a:cxnSpLocks/>
          </p:cNvCxnSpPr>
          <p:nvPr/>
        </p:nvCxnSpPr>
        <p:spPr>
          <a:xfrm flipH="1" flipV="1">
            <a:off x="2234303" y="3978546"/>
            <a:ext cx="344005" cy="147942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72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3" grpId="0" animBg="1"/>
      <p:bldP spid="17" grpId="0"/>
      <p:bldP spid="20" grpId="0"/>
      <p:bldP spid="21" grpId="0" animBg="1"/>
      <p:bldP spid="22" grpId="0"/>
      <p:bldP spid="27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9" y="123825"/>
            <a:ext cx="10643682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 Divide by 4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A9F36-F99F-477E-8A35-874DE0ACF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76" y="1070864"/>
            <a:ext cx="9029700" cy="26479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8139BF3-790B-40CF-8DA2-84CE830E268B}"/>
              </a:ext>
            </a:extLst>
          </p:cNvPr>
          <p:cNvGrpSpPr/>
          <p:nvPr/>
        </p:nvGrpSpPr>
        <p:grpSpPr>
          <a:xfrm>
            <a:off x="4498513" y="2453162"/>
            <a:ext cx="1554593" cy="1850427"/>
            <a:chOff x="4470287" y="2898170"/>
            <a:chExt cx="2293195" cy="185042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C1436A-E8D5-4CAE-A257-04085991ED31}"/>
                </a:ext>
              </a:extLst>
            </p:cNvPr>
            <p:cNvSpPr/>
            <p:nvPr/>
          </p:nvSpPr>
          <p:spPr>
            <a:xfrm>
              <a:off x="4628670" y="4163822"/>
              <a:ext cx="197642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</a:rPr>
                <a:t>clkout</a:t>
              </a:r>
              <a:r>
                <a:rPr lang="en-US" sz="1600" b="1" dirty="0">
                  <a:solidFill>
                    <a:srgbClr val="FF0000"/>
                  </a:solidFill>
                </a:rPr>
                <a:t> is 4 times slower than </a:t>
              </a:r>
              <a:r>
                <a:rPr lang="en-US" sz="1600" b="1" dirty="0" err="1">
                  <a:solidFill>
                    <a:srgbClr val="FF0000"/>
                  </a:solidFill>
                </a:rPr>
                <a:t>clkin</a:t>
              </a:r>
              <a:endParaRPr 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46EC591A-98AA-40A2-AF75-542A1DFA321F}"/>
                </a:ext>
              </a:extLst>
            </p:cNvPr>
            <p:cNvSpPr/>
            <p:nvPr/>
          </p:nvSpPr>
          <p:spPr>
            <a:xfrm rot="5400000">
              <a:off x="5477183" y="2675849"/>
              <a:ext cx="279401" cy="2293192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566FA99-90D9-4BD8-BF48-BD098A061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287" y="2988941"/>
              <a:ext cx="1" cy="1684659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C9366A4-4877-4D07-9851-EEFA3F9135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3481" y="2898170"/>
              <a:ext cx="1" cy="177543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6603CE-CD95-4C69-AEAA-401E600BB19F}"/>
              </a:ext>
            </a:extLst>
          </p:cNvPr>
          <p:cNvGrpSpPr/>
          <p:nvPr/>
        </p:nvGrpSpPr>
        <p:grpSpPr>
          <a:xfrm>
            <a:off x="4242715" y="2054633"/>
            <a:ext cx="1703018" cy="340206"/>
            <a:chOff x="4590064" y="2471111"/>
            <a:chExt cx="1703018" cy="34020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A3D840-0BFC-43D6-8821-384D003681BA}"/>
                </a:ext>
              </a:extLst>
            </p:cNvPr>
            <p:cNvSpPr/>
            <p:nvPr/>
          </p:nvSpPr>
          <p:spPr>
            <a:xfrm>
              <a:off x="4590064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5111DD-3732-43CE-AA54-CC449A18B67A}"/>
                </a:ext>
              </a:extLst>
            </p:cNvPr>
            <p:cNvSpPr/>
            <p:nvPr/>
          </p:nvSpPr>
          <p:spPr>
            <a:xfrm>
              <a:off x="4986299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150207-CF60-4B48-93DB-44F4DEA65903}"/>
                </a:ext>
              </a:extLst>
            </p:cNvPr>
            <p:cNvSpPr/>
            <p:nvPr/>
          </p:nvSpPr>
          <p:spPr>
            <a:xfrm>
              <a:off x="5382534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F8310D-FC69-4E0B-A986-26C04CB4ED79}"/>
                </a:ext>
              </a:extLst>
            </p:cNvPr>
            <p:cNvSpPr/>
            <p:nvPr/>
          </p:nvSpPr>
          <p:spPr>
            <a:xfrm>
              <a:off x="5719837" y="2471111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2DC72BC-7926-4593-8EB4-6FA9245AF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372" y="4011201"/>
            <a:ext cx="4056952" cy="26358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F92CD06-BC26-493B-83D0-7673738067A7}"/>
              </a:ext>
            </a:extLst>
          </p:cNvPr>
          <p:cNvSpPr/>
          <p:nvPr/>
        </p:nvSpPr>
        <p:spPr>
          <a:xfrm>
            <a:off x="5793359" y="5563262"/>
            <a:ext cx="12131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clkout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61265F-8BA1-42D8-8358-9CAF2FBB07DB}"/>
              </a:ext>
            </a:extLst>
          </p:cNvPr>
          <p:cNvSpPr/>
          <p:nvPr/>
        </p:nvSpPr>
        <p:spPr>
          <a:xfrm>
            <a:off x="5793359" y="4903439"/>
            <a:ext cx="12131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clkin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89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123825"/>
            <a:ext cx="11166230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sz="3000" dirty="0"/>
              <a:t>Let’s Design Clock Divide by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099" t="53739" r="2616" b="8290"/>
          <a:stretch/>
        </p:blipFill>
        <p:spPr>
          <a:xfrm>
            <a:off x="982133" y="1343377"/>
            <a:ext cx="8827912" cy="16030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78756" y="3397956"/>
            <a:ext cx="742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Over a count of 6, we have three full clock cycles and one full out cycle.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9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45" y="123825"/>
            <a:ext cx="10849261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 Frequency Divide by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C2D4-B3D7-48EF-97E7-7D09BDFF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95" y="665891"/>
            <a:ext cx="10894883" cy="504826"/>
          </a:xfrm>
        </p:spPr>
        <p:txBody>
          <a:bodyPr>
            <a:noAutofit/>
          </a:bodyPr>
          <a:lstStyle/>
          <a:p>
            <a:r>
              <a:rPr lang="en-US" sz="2200" b="1" dirty="0"/>
              <a:t>Can clock divide by 4 implementation code re-used to create clock divide by 3 logic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273138-DFDF-44F8-87B1-5B94CE932A96}"/>
              </a:ext>
            </a:extLst>
          </p:cNvPr>
          <p:cNvSpPr txBox="1"/>
          <p:nvPr/>
        </p:nvSpPr>
        <p:spPr>
          <a:xfrm>
            <a:off x="812336" y="1055468"/>
            <a:ext cx="4064405" cy="3970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dbl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module</a:t>
            </a:r>
            <a:r>
              <a:rPr lang="en-US" sz="1400" dirty="0"/>
              <a:t> clock_divide_by_3( </a:t>
            </a:r>
          </a:p>
          <a:p>
            <a:r>
              <a:rPr lang="en-US" sz="1400" b="1" dirty="0"/>
              <a:t>  input  logic </a:t>
            </a:r>
            <a:r>
              <a:rPr lang="en-US" sz="1400" dirty="0" err="1"/>
              <a:t>clkin</a:t>
            </a:r>
            <a:r>
              <a:rPr lang="en-US" sz="1400" dirty="0"/>
              <a:t>, reset,</a:t>
            </a:r>
          </a:p>
          <a:p>
            <a:r>
              <a:rPr lang="en-US" sz="1400" b="1" dirty="0"/>
              <a:t>  output logic </a:t>
            </a:r>
            <a:r>
              <a:rPr lang="en-US" sz="1400" dirty="0" err="1"/>
              <a:t>clkout</a:t>
            </a:r>
            <a:r>
              <a:rPr lang="en-US" sz="1400" dirty="0"/>
              <a:t>);</a:t>
            </a:r>
          </a:p>
          <a:p>
            <a:r>
              <a:rPr lang="en-US" sz="1400" b="1" dirty="0"/>
              <a:t> logic </a:t>
            </a:r>
            <a:r>
              <a:rPr lang="en-US" sz="1400" dirty="0"/>
              <a:t>[1:0]</a:t>
            </a:r>
            <a:r>
              <a:rPr lang="en-US" sz="1400" b="1" dirty="0"/>
              <a:t> </a:t>
            </a:r>
            <a:r>
              <a:rPr lang="en-US" sz="1400" b="1" dirty="0" err="1"/>
              <a:t>cnt_value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 </a:t>
            </a:r>
            <a:r>
              <a:rPr lang="en-US" sz="1400" b="1" dirty="0" err="1"/>
              <a:t>always_ff</a:t>
            </a:r>
            <a:r>
              <a:rPr lang="en-US" sz="1400" b="1" dirty="0"/>
              <a:t>@(</a:t>
            </a:r>
            <a:r>
              <a:rPr lang="en-US" sz="1400" b="1" dirty="0" err="1"/>
              <a:t>posedge</a:t>
            </a:r>
            <a:r>
              <a:rPr lang="en-US" sz="1400" b="1" dirty="0"/>
              <a:t> </a:t>
            </a:r>
            <a:r>
              <a:rPr lang="en-US" sz="1400" dirty="0" err="1"/>
              <a:t>clkin</a:t>
            </a:r>
            <a:r>
              <a:rPr lang="en-US" sz="1400" b="1" dirty="0"/>
              <a:t> or </a:t>
            </a:r>
            <a:r>
              <a:rPr lang="en-US" sz="1400" b="1" dirty="0" err="1"/>
              <a:t>posedge</a:t>
            </a:r>
            <a:r>
              <a:rPr lang="en-US" sz="1400" b="1" dirty="0"/>
              <a:t> </a:t>
            </a:r>
            <a:r>
              <a:rPr lang="en-US" sz="1400" dirty="0"/>
              <a:t>reset</a:t>
            </a:r>
            <a:r>
              <a:rPr lang="en-US" sz="1400" b="1" dirty="0"/>
              <a:t>) </a:t>
            </a:r>
          </a:p>
          <a:p>
            <a:r>
              <a:rPr lang="en-US" sz="1400" b="1" dirty="0"/>
              <a:t>   begin</a:t>
            </a:r>
          </a:p>
          <a:p>
            <a:r>
              <a:rPr lang="en-US" sz="1400" b="1" dirty="0"/>
              <a:t>     if (reset == 1) begin</a:t>
            </a:r>
          </a:p>
          <a:p>
            <a:r>
              <a:rPr lang="en-US" sz="1400" b="1" dirty="0"/>
              <a:t>     </a:t>
            </a:r>
            <a:r>
              <a:rPr lang="en-US" sz="1400" dirty="0"/>
              <a:t>  </a:t>
            </a:r>
            <a:r>
              <a:rPr lang="en-US" sz="1400" dirty="0" err="1"/>
              <a:t>cnt_value</a:t>
            </a:r>
            <a:r>
              <a:rPr lang="en-US" sz="1400" dirty="0"/>
              <a:t> &lt;= 0;</a:t>
            </a:r>
          </a:p>
          <a:p>
            <a:r>
              <a:rPr lang="en-US" sz="1400" dirty="0"/>
              <a:t>       </a:t>
            </a:r>
            <a:r>
              <a:rPr lang="en-US" sz="1400" dirty="0" err="1"/>
              <a:t>clkout</a:t>
            </a:r>
            <a:r>
              <a:rPr lang="en-US" sz="1400" dirty="0"/>
              <a:t> &lt;= 0; </a:t>
            </a:r>
          </a:p>
          <a:p>
            <a:r>
              <a:rPr lang="en-US" sz="1400" b="1" dirty="0"/>
              <a:t>     end</a:t>
            </a:r>
          </a:p>
          <a:p>
            <a:r>
              <a:rPr lang="en-US" sz="1400" b="1" dirty="0"/>
              <a:t>     else if</a:t>
            </a:r>
            <a:r>
              <a:rPr lang="en-US" sz="1400" dirty="0"/>
              <a:t>(</a:t>
            </a:r>
            <a:r>
              <a:rPr lang="en-US" sz="1400" dirty="0" err="1"/>
              <a:t>cnt_value</a:t>
            </a:r>
            <a:r>
              <a:rPr lang="en-US" sz="1400" dirty="0"/>
              <a:t> ==</a:t>
            </a:r>
            <a:r>
              <a:rPr lang="en-US" sz="1400" b="1" dirty="0"/>
              <a:t> </a:t>
            </a:r>
            <a:r>
              <a:rPr lang="en-US" sz="1400" b="1" dirty="0">
                <a:highlight>
                  <a:srgbClr val="FFFF00"/>
                </a:highlight>
              </a:rPr>
              <a:t>2</a:t>
            </a:r>
            <a:r>
              <a:rPr lang="en-US" sz="1400" dirty="0"/>
              <a:t>)</a:t>
            </a:r>
            <a:r>
              <a:rPr lang="en-US" sz="1400" b="1" dirty="0"/>
              <a:t> begin</a:t>
            </a:r>
          </a:p>
          <a:p>
            <a:r>
              <a:rPr lang="en-US" sz="1400" b="1" dirty="0"/>
              <a:t>       </a:t>
            </a:r>
            <a:r>
              <a:rPr lang="en-US" sz="1400" dirty="0" err="1"/>
              <a:t>cnt_value</a:t>
            </a:r>
            <a:r>
              <a:rPr lang="en-US" sz="1400" dirty="0"/>
              <a:t> &lt;= 0;</a:t>
            </a:r>
          </a:p>
          <a:p>
            <a:r>
              <a:rPr lang="en-US" sz="1400" dirty="0"/>
              <a:t>       </a:t>
            </a:r>
            <a:r>
              <a:rPr lang="en-US" sz="1400" dirty="0" err="1"/>
              <a:t>clkout</a:t>
            </a:r>
            <a:r>
              <a:rPr lang="en-US" sz="1400" dirty="0"/>
              <a:t> &lt;= ~</a:t>
            </a:r>
            <a:r>
              <a:rPr lang="en-US" sz="1400" dirty="0" err="1"/>
              <a:t>clkout</a:t>
            </a:r>
            <a:r>
              <a:rPr lang="en-US" sz="1400" dirty="0"/>
              <a:t>;</a:t>
            </a:r>
          </a:p>
          <a:p>
            <a:r>
              <a:rPr lang="en-US" sz="1400" b="1" dirty="0"/>
              <a:t>     end	 </a:t>
            </a:r>
          </a:p>
          <a:p>
            <a:r>
              <a:rPr lang="en-US" sz="1400" b="1" dirty="0"/>
              <a:t>     else </a:t>
            </a:r>
          </a:p>
          <a:p>
            <a:r>
              <a:rPr lang="en-US" sz="1400" b="1" dirty="0"/>
              <a:t>       </a:t>
            </a:r>
            <a:r>
              <a:rPr lang="en-US" sz="1400" dirty="0" err="1"/>
              <a:t>cnt_value</a:t>
            </a:r>
            <a:r>
              <a:rPr lang="en-US" sz="1400" dirty="0"/>
              <a:t> &lt;= </a:t>
            </a:r>
            <a:r>
              <a:rPr lang="en-US" sz="1400" dirty="0" err="1"/>
              <a:t>cnt_value</a:t>
            </a:r>
            <a:r>
              <a:rPr lang="en-US" sz="1400" dirty="0"/>
              <a:t> + 1;</a:t>
            </a:r>
          </a:p>
          <a:p>
            <a:r>
              <a:rPr lang="en-US" sz="1400" b="1" dirty="0"/>
              <a:t>   end</a:t>
            </a:r>
          </a:p>
          <a:p>
            <a:r>
              <a:rPr lang="en-US" sz="1400" b="1" dirty="0" err="1"/>
              <a:t>endmodule</a:t>
            </a:r>
            <a:r>
              <a:rPr lang="en-US" sz="1400" dirty="0"/>
              <a:t>: clock_divide_by_3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5EEA93-81D6-4976-A226-61D85D4DE5A8}"/>
              </a:ext>
            </a:extLst>
          </p:cNvPr>
          <p:cNvSpPr/>
          <p:nvPr/>
        </p:nvSpPr>
        <p:spPr>
          <a:xfrm>
            <a:off x="5632340" y="1736423"/>
            <a:ext cx="517586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Would changing </a:t>
            </a:r>
            <a:r>
              <a:rPr lang="en-US" sz="1600" dirty="0" err="1">
                <a:solidFill>
                  <a:srgbClr val="FF0000"/>
                </a:solidFill>
              </a:rPr>
              <a:t>cnt_value</a:t>
            </a:r>
            <a:r>
              <a:rPr lang="en-US" sz="1600" dirty="0">
                <a:solidFill>
                  <a:srgbClr val="FF0000"/>
                </a:solidFill>
              </a:rPr>
              <a:t> == 2 (i.e. counting 0,1,2) result in clock divide by 3 ?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Answer : No !</a:t>
            </a:r>
          </a:p>
          <a:p>
            <a:r>
              <a:rPr lang="en-US" sz="1600" dirty="0">
                <a:solidFill>
                  <a:srgbClr val="FF0000"/>
                </a:solidFill>
              </a:rPr>
              <a:t>It will behave as clock divide by 6 instead of 3 since </a:t>
            </a:r>
            <a:r>
              <a:rPr lang="en-US" sz="1600" dirty="0" err="1">
                <a:solidFill>
                  <a:srgbClr val="FF0000"/>
                </a:solidFill>
              </a:rPr>
              <a:t>cnt_value</a:t>
            </a:r>
            <a:r>
              <a:rPr lang="en-US" sz="1600" dirty="0">
                <a:solidFill>
                  <a:srgbClr val="FF0000"/>
                </a:solidFill>
              </a:rPr>
              <a:t> is incremented at every </a:t>
            </a:r>
            <a:r>
              <a:rPr lang="en-US" sz="1600" dirty="0" err="1">
                <a:solidFill>
                  <a:srgbClr val="FF0000"/>
                </a:solidFill>
              </a:rPr>
              <a:t>posedge</a:t>
            </a:r>
            <a:r>
              <a:rPr lang="en-US" sz="1600" dirty="0">
                <a:solidFill>
                  <a:srgbClr val="FF0000"/>
                </a:solidFill>
              </a:rPr>
              <a:t> of </a:t>
            </a:r>
            <a:r>
              <a:rPr lang="en-US" sz="1600" dirty="0" err="1">
                <a:solidFill>
                  <a:srgbClr val="FF0000"/>
                </a:solidFill>
              </a:rPr>
              <a:t>clkin</a:t>
            </a:r>
            <a:r>
              <a:rPr lang="en-US" sz="1600" dirty="0">
                <a:solidFill>
                  <a:srgbClr val="FF0000"/>
                </a:solidFill>
              </a:rPr>
              <a:t>, so </a:t>
            </a:r>
            <a:r>
              <a:rPr lang="en-US" sz="1600" dirty="0" err="1">
                <a:solidFill>
                  <a:srgbClr val="FF0000"/>
                </a:solidFill>
              </a:rPr>
              <a:t>clkout</a:t>
            </a:r>
            <a:r>
              <a:rPr lang="en-US" sz="1600" dirty="0">
                <a:solidFill>
                  <a:srgbClr val="FF0000"/>
                </a:solidFill>
              </a:rPr>
              <a:t> will be ‘1’ for 3 </a:t>
            </a:r>
            <a:r>
              <a:rPr lang="en-US" sz="1600" dirty="0" err="1">
                <a:solidFill>
                  <a:srgbClr val="FF0000"/>
                </a:solidFill>
              </a:rPr>
              <a:t>clkin</a:t>
            </a:r>
            <a:r>
              <a:rPr lang="en-US" sz="1600" dirty="0">
                <a:solidFill>
                  <a:srgbClr val="FF0000"/>
                </a:solidFill>
              </a:rPr>
              <a:t> cycles and ‘0’ for 3 </a:t>
            </a:r>
            <a:r>
              <a:rPr lang="en-US" sz="1600" dirty="0" err="1">
                <a:solidFill>
                  <a:srgbClr val="FF0000"/>
                </a:solidFill>
              </a:rPr>
              <a:t>clkin</a:t>
            </a:r>
            <a:r>
              <a:rPr lang="en-US" sz="1600" dirty="0">
                <a:solidFill>
                  <a:srgbClr val="FF0000"/>
                </a:solidFill>
              </a:rPr>
              <a:t> cycles.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So 1 </a:t>
            </a:r>
            <a:r>
              <a:rPr lang="en-US" sz="1600" dirty="0" err="1">
                <a:solidFill>
                  <a:srgbClr val="FF0000"/>
                </a:solidFill>
              </a:rPr>
              <a:t>clkout</a:t>
            </a:r>
            <a:r>
              <a:rPr lang="en-US" sz="1600" dirty="0">
                <a:solidFill>
                  <a:srgbClr val="FF0000"/>
                </a:solidFill>
              </a:rPr>
              <a:t>  == 6 </a:t>
            </a:r>
            <a:r>
              <a:rPr lang="en-US" sz="1600" dirty="0" err="1">
                <a:solidFill>
                  <a:srgbClr val="FF0000"/>
                </a:solidFill>
              </a:rPr>
              <a:t>clkin</a:t>
            </a:r>
            <a:r>
              <a:rPr lang="en-US" sz="1600" dirty="0">
                <a:solidFill>
                  <a:srgbClr val="FF0000"/>
                </a:solidFill>
              </a:rPr>
              <a:t>. See below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69F39A-F488-402C-8218-566436542571}"/>
              </a:ext>
            </a:extLst>
          </p:cNvPr>
          <p:cNvCxnSpPr>
            <a:cxnSpLocks/>
          </p:cNvCxnSpPr>
          <p:nvPr/>
        </p:nvCxnSpPr>
        <p:spPr>
          <a:xfrm flipH="1">
            <a:off x="2655277" y="1954468"/>
            <a:ext cx="2977063" cy="135144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5C90FA48-F4C2-4812-928A-433FB362E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81" y="5138005"/>
            <a:ext cx="10258425" cy="158115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113BC9E-E0CE-4D99-BF7A-CC33DB4E03E7}"/>
              </a:ext>
            </a:extLst>
          </p:cNvPr>
          <p:cNvGrpSpPr/>
          <p:nvPr/>
        </p:nvGrpSpPr>
        <p:grpSpPr>
          <a:xfrm>
            <a:off x="5191640" y="3900715"/>
            <a:ext cx="2054394" cy="1775430"/>
            <a:chOff x="4470287" y="2898170"/>
            <a:chExt cx="2293195" cy="177543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B373DDC-5A81-4490-83A3-42EDD4EA7DB7}"/>
                </a:ext>
              </a:extLst>
            </p:cNvPr>
            <p:cNvSpPr/>
            <p:nvPr/>
          </p:nvSpPr>
          <p:spPr>
            <a:xfrm>
              <a:off x="4639596" y="2899521"/>
              <a:ext cx="197642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</a:rPr>
                <a:t>clkout</a:t>
              </a:r>
              <a:r>
                <a:rPr lang="en-US" sz="1600" b="1" dirty="0">
                  <a:solidFill>
                    <a:srgbClr val="FF0000"/>
                  </a:solidFill>
                </a:rPr>
                <a:t> time period is 6 times than </a:t>
              </a:r>
              <a:r>
                <a:rPr lang="en-US" sz="1600" b="1" dirty="0" err="1">
                  <a:solidFill>
                    <a:srgbClr val="FF0000"/>
                  </a:solidFill>
                </a:rPr>
                <a:t>clkin</a:t>
              </a:r>
              <a:r>
                <a:rPr lang="en-US" sz="1600" b="1" dirty="0">
                  <a:solidFill>
                    <a:srgbClr val="FF0000"/>
                  </a:solidFill>
                </a:rPr>
                <a:t> time period</a:t>
              </a:r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4B5EDB1D-2860-433C-8C59-6B7831E56A81}"/>
                </a:ext>
              </a:extLst>
            </p:cNvPr>
            <p:cNvSpPr/>
            <p:nvPr/>
          </p:nvSpPr>
          <p:spPr>
            <a:xfrm rot="16200000">
              <a:off x="5477183" y="2825813"/>
              <a:ext cx="279401" cy="2293192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313EC36-C15A-4F9D-8339-E562F3BA87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287" y="2988941"/>
              <a:ext cx="1" cy="1684659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8EEFB29-84A5-4F63-88B8-E025686091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3481" y="2898170"/>
              <a:ext cx="1" cy="177543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3A554B-09B4-45A7-AF2A-DD4D3C100121}"/>
              </a:ext>
            </a:extLst>
          </p:cNvPr>
          <p:cNvGrpSpPr/>
          <p:nvPr/>
        </p:nvGrpSpPr>
        <p:grpSpPr>
          <a:xfrm>
            <a:off x="4989929" y="5353523"/>
            <a:ext cx="1475137" cy="340206"/>
            <a:chOff x="4590064" y="2471111"/>
            <a:chExt cx="1703018" cy="34020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FD2CBA-6D49-4A33-8F11-55FC747AA197}"/>
                </a:ext>
              </a:extLst>
            </p:cNvPr>
            <p:cNvSpPr/>
            <p:nvPr/>
          </p:nvSpPr>
          <p:spPr>
            <a:xfrm>
              <a:off x="4590064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0258A78-D120-41E6-8465-21350219CE49}"/>
                </a:ext>
              </a:extLst>
            </p:cNvPr>
            <p:cNvSpPr/>
            <p:nvPr/>
          </p:nvSpPr>
          <p:spPr>
            <a:xfrm>
              <a:off x="4986299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0885A20-A857-4FB1-8AF9-F63AF6B520E3}"/>
                </a:ext>
              </a:extLst>
            </p:cNvPr>
            <p:cNvSpPr/>
            <p:nvPr/>
          </p:nvSpPr>
          <p:spPr>
            <a:xfrm>
              <a:off x="5382534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DB5CF5C-2A8D-4E8A-9C23-8066F74C09BD}"/>
                </a:ext>
              </a:extLst>
            </p:cNvPr>
            <p:cNvSpPr/>
            <p:nvPr/>
          </p:nvSpPr>
          <p:spPr>
            <a:xfrm>
              <a:off x="5719837" y="2471111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5A2578-5D44-417A-BBDD-B965E91B8FAC}"/>
              </a:ext>
            </a:extLst>
          </p:cNvPr>
          <p:cNvGrpSpPr/>
          <p:nvPr/>
        </p:nvGrpSpPr>
        <p:grpSpPr>
          <a:xfrm>
            <a:off x="6364475" y="5347615"/>
            <a:ext cx="1475137" cy="340206"/>
            <a:chOff x="4590064" y="2471111"/>
            <a:chExt cx="1703018" cy="34020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E9BCBEA-E92E-4EC5-BA14-5EC62FA037DC}"/>
                </a:ext>
              </a:extLst>
            </p:cNvPr>
            <p:cNvSpPr/>
            <p:nvPr/>
          </p:nvSpPr>
          <p:spPr>
            <a:xfrm>
              <a:off x="4590064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7D70BE-D610-46CA-9609-D80160F54E16}"/>
                </a:ext>
              </a:extLst>
            </p:cNvPr>
            <p:cNvSpPr/>
            <p:nvPr/>
          </p:nvSpPr>
          <p:spPr>
            <a:xfrm>
              <a:off x="4986299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96B0E4-1A14-41A1-AE19-0B987CC267FC}"/>
                </a:ext>
              </a:extLst>
            </p:cNvPr>
            <p:cNvSpPr/>
            <p:nvPr/>
          </p:nvSpPr>
          <p:spPr>
            <a:xfrm>
              <a:off x="5382534" y="2472763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171B318-10D1-44A4-AAF9-2C8FD64518EE}"/>
                </a:ext>
              </a:extLst>
            </p:cNvPr>
            <p:cNvSpPr/>
            <p:nvPr/>
          </p:nvSpPr>
          <p:spPr>
            <a:xfrm>
              <a:off x="5719837" y="2471111"/>
              <a:ext cx="573245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sz="16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772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45" y="123825"/>
            <a:ext cx="10849261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 Divide by 3 (F/3) – Implementation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C2D4-B3D7-48EF-97E7-7D09BDFF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87" y="672557"/>
            <a:ext cx="10894883" cy="561328"/>
          </a:xfrm>
        </p:spPr>
        <p:txBody>
          <a:bodyPr>
            <a:noAutofit/>
          </a:bodyPr>
          <a:lstStyle/>
          <a:p>
            <a:r>
              <a:rPr lang="en-US" b="1" dirty="0"/>
              <a:t>Clock Frequency divide by 3 using Modulo-3 counter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662359-74F3-4B98-8669-17C134F260DA}"/>
              </a:ext>
            </a:extLst>
          </p:cNvPr>
          <p:cNvGrpSpPr/>
          <p:nvPr/>
        </p:nvGrpSpPr>
        <p:grpSpPr>
          <a:xfrm>
            <a:off x="220032" y="1343503"/>
            <a:ext cx="9288965" cy="4903228"/>
            <a:chOff x="-11616" y="1453122"/>
            <a:chExt cx="9288965" cy="490322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38BBEF0-B7F3-4DCF-A008-A63A4572129A}"/>
                </a:ext>
              </a:extLst>
            </p:cNvPr>
            <p:cNvGrpSpPr/>
            <p:nvPr/>
          </p:nvGrpSpPr>
          <p:grpSpPr>
            <a:xfrm>
              <a:off x="1745273" y="1453122"/>
              <a:ext cx="7532076" cy="4903228"/>
              <a:chOff x="1745273" y="1453122"/>
              <a:chExt cx="7532076" cy="490322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617D725-603F-4022-BEB0-233CC0A8A101}"/>
                  </a:ext>
                </a:extLst>
              </p:cNvPr>
              <p:cNvGrpSpPr/>
              <p:nvPr/>
            </p:nvGrpSpPr>
            <p:grpSpPr>
              <a:xfrm>
                <a:off x="1745273" y="1453122"/>
                <a:ext cx="7532076" cy="4903228"/>
                <a:chOff x="1745273" y="1453122"/>
                <a:chExt cx="7532076" cy="490322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D00A9C7D-61AC-4BF5-9598-1AE7134A6D08}"/>
                    </a:ext>
                  </a:extLst>
                </p:cNvPr>
                <p:cNvGrpSpPr/>
                <p:nvPr/>
              </p:nvGrpSpPr>
              <p:grpSpPr>
                <a:xfrm>
                  <a:off x="1771649" y="1453122"/>
                  <a:ext cx="7505700" cy="4903228"/>
                  <a:chOff x="1833196" y="1343201"/>
                  <a:chExt cx="7505700" cy="4903228"/>
                </a:xfrm>
              </p:grpSpPr>
              <p:pic>
                <p:nvPicPr>
                  <p:cNvPr id="26" name="Picture 25">
                    <a:extLst>
                      <a:ext uri="{FF2B5EF4-FFF2-40B4-BE49-F238E27FC236}">
                        <a16:creationId xmlns:a16="http://schemas.microsoft.com/office/drawing/2014/main" id="{9513C206-2B5E-4313-BFC7-84A57111FA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833196" y="1655379"/>
                    <a:ext cx="7505700" cy="4591050"/>
                  </a:xfrm>
                  <a:prstGeom prst="rect">
                    <a:avLst/>
                  </a:prstGeom>
                </p:spPr>
              </p:pic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63F9213C-3167-44C3-9AEE-274D40032D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329729" y="1343201"/>
                    <a:ext cx="1202985" cy="677311"/>
                  </a:xfrm>
                  <a:prstGeom prst="rect">
                    <a:avLst/>
                  </a:prstGeom>
                </p:spPr>
              </p:pic>
              <p:cxnSp>
                <p:nvCxnSpPr>
                  <p:cNvPr id="9" name="Straight Connector 8">
                    <a:extLst>
                      <a:ext uri="{FF2B5EF4-FFF2-40B4-BE49-F238E27FC236}">
                        <a16:creationId xmlns:a16="http://schemas.microsoft.com/office/drawing/2014/main" id="{82353D62-7EFD-402D-89BF-8CF9C61D76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62146" y="1518383"/>
                    <a:ext cx="8792" cy="802787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94D6F14C-B65B-46FA-B122-957CEE660B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62146" y="1519344"/>
                    <a:ext cx="1751861" cy="4495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7F8DA27E-B9F5-4A5E-8689-41A28F4F18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59035" y="1853836"/>
                    <a:ext cx="0" cy="47612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159D5894-FFF4-484E-8393-FA56FC00F778}"/>
                      </a:ext>
                    </a:extLst>
                  </p:cNvPr>
                  <p:cNvSpPr/>
                  <p:nvPr/>
                </p:nvSpPr>
                <p:spPr>
                  <a:xfrm>
                    <a:off x="6999555" y="1343201"/>
                    <a:ext cx="2000742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(Q2 | Q0 )= CLKOUT</a:t>
                    </a:r>
                  </a:p>
                </p:txBody>
              </p: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EB1F2A28-ECF2-416F-B619-2614266996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55958" y="5222631"/>
                    <a:ext cx="0" cy="18463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DE65EB22-0B94-4D09-8401-1DA3E56B66EE}"/>
                    </a:ext>
                  </a:extLst>
                </p:cNvPr>
                <p:cNvSpPr/>
                <p:nvPr/>
              </p:nvSpPr>
              <p:spPr>
                <a:xfrm>
                  <a:off x="1745273" y="2305774"/>
                  <a:ext cx="1103805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POSEDGE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074D1DD-580E-42F2-BCCD-98CE3016B3A8}"/>
                    </a:ext>
                  </a:extLst>
                </p:cNvPr>
                <p:cNvSpPr/>
                <p:nvPr/>
              </p:nvSpPr>
              <p:spPr>
                <a:xfrm>
                  <a:off x="4359518" y="2549460"/>
                  <a:ext cx="1103805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NEGEDGE</a:t>
                  </a: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0D5C830-AEF5-49B4-88C2-AEE7E331A284}"/>
                  </a:ext>
                </a:extLst>
              </p:cNvPr>
              <p:cNvGrpSpPr/>
              <p:nvPr/>
            </p:nvGrpSpPr>
            <p:grpSpPr>
              <a:xfrm>
                <a:off x="3061931" y="3193838"/>
                <a:ext cx="3034058" cy="2020000"/>
                <a:chOff x="3061931" y="3193838"/>
                <a:chExt cx="3034058" cy="2020000"/>
              </a:xfrm>
            </p:grpSpPr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B75C15CC-F2D0-4CCC-8FF9-CC4974531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96292" y="3832532"/>
                  <a:ext cx="0" cy="138130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09659FAA-EA1E-47E9-A574-F93961A73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25300" y="3832532"/>
                  <a:ext cx="0" cy="138130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DEEB982-DBB2-492A-A7F9-2CFB195AAD0B}"/>
                    </a:ext>
                  </a:extLst>
                </p:cNvPr>
                <p:cNvGrpSpPr/>
                <p:nvPr/>
              </p:nvGrpSpPr>
              <p:grpSpPr>
                <a:xfrm>
                  <a:off x="3061931" y="3193838"/>
                  <a:ext cx="3034058" cy="340206"/>
                  <a:chOff x="4487185" y="2471111"/>
                  <a:chExt cx="1805897" cy="340206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B6F82ACA-FF01-4CBB-B3DE-94C984EF8F41}"/>
                      </a:ext>
                    </a:extLst>
                  </p:cNvPr>
                  <p:cNvSpPr/>
                  <p:nvPr/>
                </p:nvSpPr>
                <p:spPr>
                  <a:xfrm>
                    <a:off x="4487185" y="2472261"/>
                    <a:ext cx="573245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solidFill>
                          <a:srgbClr val="FF0000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6DCD6136-09A2-430C-BD2A-F3DEB23E8C39}"/>
                      </a:ext>
                    </a:extLst>
                  </p:cNvPr>
                  <p:cNvSpPr/>
                  <p:nvPr/>
                </p:nvSpPr>
                <p:spPr>
                  <a:xfrm>
                    <a:off x="4970600" y="2472763"/>
                    <a:ext cx="573245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solidFill>
                          <a:srgbClr val="FF0000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02ACD009-801F-46DE-A42F-3229F9B1B5C4}"/>
                      </a:ext>
                    </a:extLst>
                  </p:cNvPr>
                  <p:cNvSpPr/>
                  <p:nvPr/>
                </p:nvSpPr>
                <p:spPr>
                  <a:xfrm>
                    <a:off x="5413932" y="2472763"/>
                    <a:ext cx="573245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 b="1" dirty="0">
                        <a:solidFill>
                          <a:srgbClr val="FF0000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6A796725-8B10-4531-AB07-90A6677DA822}"/>
                      </a:ext>
                    </a:extLst>
                  </p:cNvPr>
                  <p:cNvSpPr/>
                  <p:nvPr/>
                </p:nvSpPr>
                <p:spPr>
                  <a:xfrm>
                    <a:off x="5719837" y="2471111"/>
                    <a:ext cx="573245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endParaRPr lang="en-US" sz="1600" b="1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B46C684-D1B0-491B-80AB-3354288FC231}"/>
                </a:ext>
              </a:extLst>
            </p:cNvPr>
            <p:cNvSpPr/>
            <p:nvPr/>
          </p:nvSpPr>
          <p:spPr>
            <a:xfrm>
              <a:off x="-11616" y="5261690"/>
              <a:ext cx="200074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/>
                <a:t>                   CLKOUT 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458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3" y="123825"/>
            <a:ext cx="11394831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 Divide by 3 (Implementation-1)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9482" y="6369050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273138-DFDF-44F8-87B1-5B94CE932A96}"/>
              </a:ext>
            </a:extLst>
          </p:cNvPr>
          <p:cNvSpPr txBox="1"/>
          <p:nvPr/>
        </p:nvSpPr>
        <p:spPr>
          <a:xfrm>
            <a:off x="485822" y="768320"/>
            <a:ext cx="5175868" cy="56323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dbl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b="1" dirty="0"/>
              <a:t>module</a:t>
            </a:r>
            <a:r>
              <a:rPr lang="en-US" sz="1500" dirty="0"/>
              <a:t> clock_divide_by_3( </a:t>
            </a:r>
          </a:p>
          <a:p>
            <a:r>
              <a:rPr lang="en-US" sz="1500" dirty="0"/>
              <a:t> </a:t>
            </a:r>
            <a:r>
              <a:rPr lang="en-US" sz="1500" b="1" dirty="0"/>
              <a:t> </a:t>
            </a:r>
            <a:r>
              <a:rPr lang="en-US" sz="1500" b="1"/>
              <a:t>input </a:t>
            </a:r>
            <a:r>
              <a:rPr lang="en-US" sz="1500" smtClean="0"/>
              <a:t>clkin</a:t>
            </a:r>
            <a:r>
              <a:rPr lang="en-US" sz="1500" dirty="0"/>
              <a:t>, reset,</a:t>
            </a:r>
          </a:p>
          <a:p>
            <a:r>
              <a:rPr lang="en-US" sz="1500" dirty="0"/>
              <a:t>  </a:t>
            </a:r>
            <a:r>
              <a:rPr lang="en-US" sz="1500" b="1" dirty="0"/>
              <a:t>output</a:t>
            </a:r>
            <a:r>
              <a:rPr lang="en-US" sz="1500" dirty="0"/>
              <a:t> logic </a:t>
            </a:r>
            <a:r>
              <a:rPr lang="en-US" sz="1500" dirty="0" err="1"/>
              <a:t>clkout</a:t>
            </a:r>
            <a:r>
              <a:rPr lang="en-US" sz="1500" dirty="0"/>
              <a:t>);</a:t>
            </a:r>
          </a:p>
          <a:p>
            <a:endParaRPr lang="en-US" sz="1500" dirty="0"/>
          </a:p>
          <a:p>
            <a:r>
              <a:rPr lang="en-US" sz="1500" dirty="0"/>
              <a:t> </a:t>
            </a:r>
            <a:r>
              <a:rPr lang="en-US" sz="1500" b="1" dirty="0"/>
              <a:t>logic</a:t>
            </a:r>
            <a:r>
              <a:rPr lang="en-US" sz="1500" dirty="0"/>
              <a:t> [1:0] </a:t>
            </a:r>
            <a:r>
              <a:rPr lang="en-US" sz="1500" dirty="0" err="1"/>
              <a:t>cnt_value</a:t>
            </a:r>
            <a:r>
              <a:rPr lang="en-US" sz="1500" dirty="0"/>
              <a:t>;</a:t>
            </a:r>
          </a:p>
          <a:p>
            <a:r>
              <a:rPr lang="en-US" sz="1500" dirty="0"/>
              <a:t> </a:t>
            </a:r>
            <a:r>
              <a:rPr lang="en-US" sz="1500" b="1" dirty="0"/>
              <a:t>logic</a:t>
            </a:r>
            <a:r>
              <a:rPr lang="en-US" sz="1500" dirty="0"/>
              <a:t> count3_done, r_count3_done;</a:t>
            </a:r>
          </a:p>
          <a:p>
            <a:endParaRPr lang="en-US" sz="1500" dirty="0"/>
          </a:p>
          <a:p>
            <a:r>
              <a:rPr lang="en-US" sz="1500" dirty="0"/>
              <a:t> </a:t>
            </a:r>
            <a:r>
              <a:rPr lang="en-US" sz="1500" b="1" dirty="0" err="1"/>
              <a:t>always_ff</a:t>
            </a:r>
            <a:r>
              <a:rPr lang="en-US" sz="1500" dirty="0"/>
              <a:t>@(</a:t>
            </a:r>
            <a:r>
              <a:rPr lang="en-US" sz="1500" b="1" dirty="0"/>
              <a:t>posedge</a:t>
            </a:r>
            <a:r>
              <a:rPr lang="en-US" sz="1500" dirty="0"/>
              <a:t> </a:t>
            </a:r>
            <a:r>
              <a:rPr lang="en-US" sz="1500" dirty="0" err="1"/>
              <a:t>clkin</a:t>
            </a:r>
            <a:r>
              <a:rPr lang="en-US" sz="1500" dirty="0"/>
              <a:t>, </a:t>
            </a:r>
            <a:r>
              <a:rPr lang="en-US" sz="1500" b="1" dirty="0" err="1"/>
              <a:t>posedge</a:t>
            </a:r>
            <a:r>
              <a:rPr lang="en-US" sz="1500" dirty="0"/>
              <a:t> reset) begin</a:t>
            </a:r>
          </a:p>
          <a:p>
            <a:r>
              <a:rPr lang="en-US" sz="1500" dirty="0"/>
              <a:t>  </a:t>
            </a:r>
            <a:r>
              <a:rPr lang="en-US" sz="1500" b="1" dirty="0"/>
              <a:t>if </a:t>
            </a:r>
            <a:r>
              <a:rPr lang="en-US" sz="1500"/>
              <a:t>(</a:t>
            </a:r>
            <a:r>
              <a:rPr lang="en-US" sz="1500" smtClean="0"/>
              <a:t>reset) </a:t>
            </a:r>
            <a:r>
              <a:rPr lang="en-US" sz="1500" b="1" dirty="0"/>
              <a:t>begin</a:t>
            </a:r>
          </a:p>
          <a:p>
            <a:r>
              <a:rPr lang="en-US" sz="1500" dirty="0"/>
              <a:t>     </a:t>
            </a:r>
            <a:r>
              <a:rPr lang="en-US" sz="1500" dirty="0" err="1"/>
              <a:t>cnt_value</a:t>
            </a:r>
            <a:r>
              <a:rPr lang="en-US" sz="1500" dirty="0"/>
              <a:t> &lt;= 0;</a:t>
            </a:r>
          </a:p>
          <a:p>
            <a:r>
              <a:rPr lang="en-US" sz="1500" dirty="0"/>
              <a:t>  </a:t>
            </a:r>
            <a:r>
              <a:rPr lang="en-US" sz="1500" b="1" dirty="0"/>
              <a:t>end</a:t>
            </a:r>
          </a:p>
          <a:p>
            <a:r>
              <a:rPr lang="en-US" sz="1500" b="1" dirty="0"/>
              <a:t>  else begin</a:t>
            </a:r>
          </a:p>
          <a:p>
            <a:r>
              <a:rPr lang="en-US" sz="1500" dirty="0"/>
              <a:t>  </a:t>
            </a:r>
            <a:r>
              <a:rPr lang="en-US" sz="1500" b="1" dirty="0"/>
              <a:t> if</a:t>
            </a:r>
            <a:r>
              <a:rPr lang="en-US" sz="1500" dirty="0"/>
              <a:t>(</a:t>
            </a:r>
            <a:r>
              <a:rPr lang="en-US" sz="1500" dirty="0" err="1"/>
              <a:t>cnt_value</a:t>
            </a:r>
            <a:r>
              <a:rPr lang="en-US" sz="1500" dirty="0"/>
              <a:t> == 2) </a:t>
            </a:r>
            <a:r>
              <a:rPr lang="en-US" sz="1500" b="1" dirty="0"/>
              <a:t>begin</a:t>
            </a:r>
          </a:p>
          <a:p>
            <a:r>
              <a:rPr lang="en-US" sz="1500" b="1" dirty="0"/>
              <a:t>        …..</a:t>
            </a:r>
          </a:p>
          <a:p>
            <a:r>
              <a:rPr lang="en-US" sz="1500" b="1" dirty="0"/>
              <a:t>        …..</a:t>
            </a:r>
          </a:p>
          <a:p>
            <a:r>
              <a:rPr lang="en-US" sz="1500" b="1" dirty="0"/>
              <a:t>   end	 </a:t>
            </a:r>
          </a:p>
          <a:p>
            <a:r>
              <a:rPr lang="en-US" sz="1500" b="1" dirty="0"/>
              <a:t>   else begin</a:t>
            </a:r>
          </a:p>
          <a:p>
            <a:r>
              <a:rPr lang="en-US" sz="1500" dirty="0"/>
              <a:t>    </a:t>
            </a:r>
            <a:r>
              <a:rPr lang="en-US" sz="1500" b="1" dirty="0"/>
              <a:t> …..</a:t>
            </a:r>
          </a:p>
          <a:p>
            <a:r>
              <a:rPr lang="en-US" sz="1500" b="1" dirty="0"/>
              <a:t>     …..</a:t>
            </a:r>
            <a:endParaRPr lang="en-US" sz="1500" dirty="0"/>
          </a:p>
          <a:p>
            <a:r>
              <a:rPr lang="en-US" sz="1500" dirty="0"/>
              <a:t>   </a:t>
            </a:r>
            <a:r>
              <a:rPr lang="en-US" sz="1500" b="1" dirty="0"/>
              <a:t>end</a:t>
            </a:r>
          </a:p>
          <a:p>
            <a:r>
              <a:rPr lang="en-US" sz="1500" b="1" dirty="0"/>
              <a:t>  end</a:t>
            </a:r>
          </a:p>
          <a:p>
            <a:r>
              <a:rPr lang="en-US" sz="1500" b="1" dirty="0"/>
              <a:t> end</a:t>
            </a:r>
          </a:p>
          <a:p>
            <a:r>
              <a:rPr lang="en-US" sz="1500" dirty="0"/>
              <a:t>	</a:t>
            </a:r>
          </a:p>
          <a:p>
            <a:r>
              <a:rPr lang="en-US" sz="1500" dirty="0"/>
              <a:t> </a:t>
            </a:r>
            <a:r>
              <a:rPr lang="en-US" sz="1500" b="1" dirty="0"/>
              <a:t>…continued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BBE359-CE6B-4171-A79B-7006263933F5}"/>
              </a:ext>
            </a:extLst>
          </p:cNvPr>
          <p:cNvSpPr txBox="1"/>
          <p:nvPr/>
        </p:nvSpPr>
        <p:spPr>
          <a:xfrm>
            <a:off x="6022666" y="4020948"/>
            <a:ext cx="5303702" cy="24006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dbl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/>
              <a:t> </a:t>
            </a:r>
            <a:r>
              <a:rPr lang="en-US" sz="1500" b="1" dirty="0" err="1"/>
              <a:t>always_ff</a:t>
            </a:r>
            <a:r>
              <a:rPr lang="en-US" sz="1500" b="1" dirty="0"/>
              <a:t>@(&lt;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add sensitivity list, remember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negegde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</a:rPr>
              <a:t>clk</a:t>
            </a:r>
            <a:r>
              <a:rPr lang="en-US" sz="1500" b="1" dirty="0"/>
              <a:t>&gt;</a:t>
            </a:r>
            <a:r>
              <a:rPr lang="en-US" sz="1500" dirty="0"/>
              <a:t>) </a:t>
            </a:r>
            <a:r>
              <a:rPr lang="en-US" sz="1500" b="1" dirty="0"/>
              <a:t>begin</a:t>
            </a:r>
          </a:p>
          <a:p>
            <a:r>
              <a:rPr lang="en-US" sz="1500" dirty="0"/>
              <a:t>   </a:t>
            </a:r>
            <a:r>
              <a:rPr lang="en-US" sz="1500" b="1" dirty="0"/>
              <a:t>if </a:t>
            </a:r>
            <a:r>
              <a:rPr lang="en-US" sz="1500"/>
              <a:t>(</a:t>
            </a:r>
            <a:r>
              <a:rPr lang="en-US" sz="1500" smtClean="0"/>
              <a:t>reset) </a:t>
            </a:r>
            <a:r>
              <a:rPr lang="en-US" sz="1500" b="1" dirty="0"/>
              <a:t>begin</a:t>
            </a:r>
          </a:p>
          <a:p>
            <a:r>
              <a:rPr lang="en-US" sz="1500" dirty="0"/>
              <a:t>     …..</a:t>
            </a:r>
          </a:p>
          <a:p>
            <a:r>
              <a:rPr lang="en-US" sz="1500" b="1" dirty="0"/>
              <a:t>   end</a:t>
            </a:r>
          </a:p>
          <a:p>
            <a:r>
              <a:rPr lang="en-US" sz="1500" b="1" dirty="0"/>
              <a:t>   else begin</a:t>
            </a:r>
          </a:p>
          <a:p>
            <a:r>
              <a:rPr lang="en-US" sz="1500" dirty="0"/>
              <a:t>     …..</a:t>
            </a:r>
          </a:p>
          <a:p>
            <a:r>
              <a:rPr lang="en-US" sz="1500" dirty="0"/>
              <a:t>   </a:t>
            </a:r>
            <a:r>
              <a:rPr lang="en-US" sz="1500" b="1" dirty="0"/>
              <a:t>end</a:t>
            </a:r>
          </a:p>
          <a:p>
            <a:r>
              <a:rPr lang="en-US" sz="1500" b="1" dirty="0"/>
              <a:t> end</a:t>
            </a:r>
          </a:p>
          <a:p>
            <a:r>
              <a:rPr lang="en-US" sz="1500" b="1" dirty="0"/>
              <a:t>  assign </a:t>
            </a:r>
            <a:r>
              <a:rPr lang="en-US" sz="1500" dirty="0" err="1"/>
              <a:t>clkout</a:t>
            </a:r>
            <a:r>
              <a:rPr lang="en-US" sz="1500" dirty="0"/>
              <a:t> = (count3_done | r_count3_done);</a:t>
            </a:r>
          </a:p>
          <a:p>
            <a:r>
              <a:rPr lang="en-US" sz="1500" b="1" dirty="0" err="1"/>
              <a:t>endmodule</a:t>
            </a:r>
            <a:r>
              <a:rPr lang="en-US" sz="1500" b="1" dirty="0"/>
              <a:t>: </a:t>
            </a:r>
            <a:r>
              <a:rPr lang="en-US" sz="1500" dirty="0"/>
              <a:t>clock_divide_by_3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0BACDA-CFD5-440B-8159-470EA062BF9A}"/>
              </a:ext>
            </a:extLst>
          </p:cNvPr>
          <p:cNvGrpSpPr/>
          <p:nvPr/>
        </p:nvGrpSpPr>
        <p:grpSpPr>
          <a:xfrm>
            <a:off x="6022666" y="1078157"/>
            <a:ext cx="5628648" cy="1898595"/>
            <a:chOff x="6022666" y="1078157"/>
            <a:chExt cx="5628648" cy="189859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207771-339B-493B-993B-76DE21087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2666" y="1078157"/>
              <a:ext cx="5183084" cy="1898595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9ECF107-9D53-46FB-B9BA-E1CA493A6249}"/>
                </a:ext>
              </a:extLst>
            </p:cNvPr>
            <p:cNvSpPr/>
            <p:nvPr/>
          </p:nvSpPr>
          <p:spPr>
            <a:xfrm>
              <a:off x="10658897" y="1251954"/>
              <a:ext cx="99241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chemeClr val="accent1">
                      <a:lumMod val="75000"/>
                    </a:schemeClr>
                  </a:solidFill>
                </a:rPr>
                <a:t>clkout</a:t>
              </a:r>
              <a:endParaRPr lang="en-US" sz="1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D2D000E-2AE5-4667-8CB0-7E4B42EC2E52}"/>
                </a:ext>
              </a:extLst>
            </p:cNvPr>
            <p:cNvSpPr/>
            <p:nvPr/>
          </p:nvSpPr>
          <p:spPr>
            <a:xfrm>
              <a:off x="10016890" y="1886126"/>
              <a:ext cx="138883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>
                      <a:lumMod val="75000"/>
                    </a:schemeClr>
                  </a:solidFill>
                </a:rPr>
                <a:t>r_count3_done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3CCBC6-93AD-402C-845A-C5F8EA8F2967}"/>
                </a:ext>
              </a:extLst>
            </p:cNvPr>
            <p:cNvSpPr/>
            <p:nvPr/>
          </p:nvSpPr>
          <p:spPr>
            <a:xfrm>
              <a:off x="8155189" y="1827817"/>
              <a:ext cx="117981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>
                      <a:lumMod val="75000"/>
                    </a:schemeClr>
                  </a:solidFill>
                </a:rPr>
                <a:t>count3_done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8D89F3-5A74-4BBE-A40C-48B30B776A7A}"/>
              </a:ext>
            </a:extLst>
          </p:cNvPr>
          <p:cNvCxnSpPr>
            <a:cxnSpLocks/>
          </p:cNvCxnSpPr>
          <p:nvPr/>
        </p:nvCxnSpPr>
        <p:spPr>
          <a:xfrm flipH="1">
            <a:off x="6705600" y="2757804"/>
            <a:ext cx="2953278" cy="1363092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B565EF-1C16-432A-812E-B152179C3BC7}"/>
              </a:ext>
            </a:extLst>
          </p:cNvPr>
          <p:cNvCxnSpPr>
            <a:cxnSpLocks/>
          </p:cNvCxnSpPr>
          <p:nvPr/>
        </p:nvCxnSpPr>
        <p:spPr>
          <a:xfrm flipH="1">
            <a:off x="3627120" y="2518157"/>
            <a:ext cx="3611194" cy="1502791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E4EB26-3906-4D58-996C-865DF7D33D65}"/>
              </a:ext>
            </a:extLst>
          </p:cNvPr>
          <p:cNvCxnSpPr>
            <a:cxnSpLocks/>
          </p:cNvCxnSpPr>
          <p:nvPr/>
        </p:nvCxnSpPr>
        <p:spPr>
          <a:xfrm flipH="1">
            <a:off x="9204960" y="1613660"/>
            <a:ext cx="1506345" cy="4282684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AF3FF74-61C0-46A0-B627-FB02CF7B04F4}"/>
              </a:ext>
            </a:extLst>
          </p:cNvPr>
          <p:cNvSpPr/>
          <p:nvPr/>
        </p:nvSpPr>
        <p:spPr>
          <a:xfrm>
            <a:off x="2371208" y="3977085"/>
            <a:ext cx="25444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Implement Modulo-3 counter which does binary count of 0,1,2 and once count value reaches 2, then set count3_</a:t>
            </a:r>
            <a:r>
              <a:rPr lang="en-US" sz="1400">
                <a:solidFill>
                  <a:schemeClr val="accent1">
                    <a:lumMod val="75000"/>
                  </a:schemeClr>
                </a:solidFill>
              </a:rPr>
              <a:t>done to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= 1 and count value is reset to ‘0’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887499-11D8-473B-BE21-90E930ECEC57}"/>
              </a:ext>
            </a:extLst>
          </p:cNvPr>
          <p:cNvSpPr/>
          <p:nvPr/>
        </p:nvSpPr>
        <p:spPr>
          <a:xfrm>
            <a:off x="6561791" y="2800895"/>
            <a:ext cx="24054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Implement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negedge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clk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triggered flipflop to register output of modulo-3 counter “count3_done”</a:t>
            </a:r>
          </a:p>
        </p:txBody>
      </p:sp>
    </p:spTree>
    <p:extLst>
      <p:ext uri="{BB962C8B-B14F-4D97-AF65-F5344CB8AC3E}">
        <p14:creationId xmlns:p14="http://schemas.microsoft.com/office/powerpoint/2010/main" val="251485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45" y="123825"/>
            <a:ext cx="10849261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Clock Divide by 3 (Implementation-2)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C2D4-B3D7-48EF-97E7-7D09BDFF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95" y="665890"/>
            <a:ext cx="10894883" cy="964821"/>
          </a:xfrm>
        </p:spPr>
        <p:txBody>
          <a:bodyPr>
            <a:noAutofit/>
          </a:bodyPr>
          <a:lstStyle/>
          <a:p>
            <a:r>
              <a:rPr lang="en-US" sz="2200" b="1" dirty="0"/>
              <a:t>Alternate implementation using two counters ?</a:t>
            </a:r>
          </a:p>
          <a:p>
            <a:pPr lvl="1"/>
            <a:r>
              <a:rPr lang="en-US" sz="1800" dirty="0"/>
              <a:t>One counter for counting </a:t>
            </a:r>
            <a:r>
              <a:rPr lang="en-US" sz="1800" dirty="0" err="1"/>
              <a:t>posedge</a:t>
            </a:r>
            <a:r>
              <a:rPr lang="en-US" sz="1800" dirty="0"/>
              <a:t> of </a:t>
            </a:r>
            <a:r>
              <a:rPr lang="en-US" sz="1800" dirty="0" err="1"/>
              <a:t>clkin</a:t>
            </a:r>
            <a:r>
              <a:rPr lang="en-US" sz="1800" dirty="0"/>
              <a:t> and other counting </a:t>
            </a:r>
            <a:r>
              <a:rPr lang="en-US" sz="1800" dirty="0" err="1"/>
              <a:t>negedge</a:t>
            </a:r>
            <a:r>
              <a:rPr lang="en-US" sz="1800" dirty="0"/>
              <a:t> of </a:t>
            </a:r>
            <a:r>
              <a:rPr lang="en-US" sz="1800" dirty="0" err="1"/>
              <a:t>clkin</a:t>
            </a:r>
            <a:r>
              <a:rPr lang="en-US" sz="1800" dirty="0"/>
              <a:t> </a:t>
            </a:r>
          </a:p>
          <a:p>
            <a:pPr lvl="1"/>
            <a:r>
              <a:rPr lang="en-US" sz="1800" dirty="0"/>
              <a:t>Whenever either counter reaches a count of ‘2’ (i.e. counts 0,1,2 three edges then generate </a:t>
            </a:r>
            <a:r>
              <a:rPr lang="en-US" sz="1800" dirty="0" err="1"/>
              <a:t>clkout</a:t>
            </a:r>
            <a:r>
              <a:rPr lang="en-US" sz="1800" dirty="0"/>
              <a:t>=1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94C94F-D824-41A4-BB0A-265174158964}"/>
              </a:ext>
            </a:extLst>
          </p:cNvPr>
          <p:cNvGrpSpPr/>
          <p:nvPr/>
        </p:nvGrpSpPr>
        <p:grpSpPr>
          <a:xfrm>
            <a:off x="859536" y="1914215"/>
            <a:ext cx="6379464" cy="4832092"/>
            <a:chOff x="2396710" y="1804356"/>
            <a:chExt cx="6704618" cy="483209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273138-DFDF-44F8-87B1-5B94CE932A96}"/>
                </a:ext>
              </a:extLst>
            </p:cNvPr>
            <p:cNvSpPr txBox="1"/>
            <p:nvPr/>
          </p:nvSpPr>
          <p:spPr>
            <a:xfrm>
              <a:off x="2396710" y="1804356"/>
              <a:ext cx="6704618" cy="48320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mpd="dbl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module</a:t>
              </a:r>
              <a:r>
                <a:rPr lang="en-US" sz="1400" dirty="0"/>
                <a:t> clock_divide_by_3 ( </a:t>
              </a:r>
            </a:p>
            <a:p>
              <a:r>
                <a:rPr lang="en-US" sz="1400" b="1" dirty="0"/>
                <a:t>  </a:t>
              </a:r>
              <a:r>
                <a:rPr lang="en-US" sz="1400" b="1"/>
                <a:t>input  </a:t>
              </a:r>
              <a:r>
                <a:rPr lang="en-US" sz="1400" smtClean="0"/>
                <a:t>clkin</a:t>
              </a:r>
              <a:r>
                <a:rPr lang="en-US" sz="1400" dirty="0"/>
                <a:t>, reset,</a:t>
              </a:r>
            </a:p>
            <a:p>
              <a:r>
                <a:rPr lang="en-US" sz="1400" b="1" dirty="0"/>
                <a:t>  output logic </a:t>
              </a:r>
              <a:r>
                <a:rPr lang="en-US" sz="1400" dirty="0" err="1"/>
                <a:t>clkout</a:t>
              </a:r>
              <a:r>
                <a:rPr lang="en-US" sz="1400" dirty="0"/>
                <a:t>);</a:t>
              </a:r>
            </a:p>
            <a:p>
              <a:endParaRPr lang="en-US" sz="1400" b="1" dirty="0"/>
            </a:p>
            <a:p>
              <a:r>
                <a:rPr lang="en-US" sz="1400" b="1" dirty="0"/>
                <a:t> // local counter variable </a:t>
              </a:r>
            </a:p>
            <a:p>
              <a:r>
                <a:rPr lang="en-US" sz="1400" b="1" dirty="0"/>
                <a:t> logic [1:0] </a:t>
              </a:r>
              <a:r>
                <a:rPr lang="en-US" sz="1400" dirty="0" err="1"/>
                <a:t>posedge_count</a:t>
              </a:r>
              <a:r>
                <a:rPr lang="en-US" sz="1400" dirty="0"/>
                <a:t>, </a:t>
              </a:r>
              <a:r>
                <a:rPr lang="en-US" sz="1400" dirty="0" err="1"/>
                <a:t>negedge_count</a:t>
              </a:r>
              <a:r>
                <a:rPr lang="en-US" sz="1400" dirty="0"/>
                <a:t>;</a:t>
              </a:r>
            </a:p>
            <a:p>
              <a:r>
                <a:rPr lang="en-US" sz="1400" b="1" dirty="0"/>
                <a:t> </a:t>
              </a:r>
            </a:p>
            <a:p>
              <a:r>
                <a:rPr lang="en-US" sz="1400" b="1" dirty="0"/>
                <a:t> // </a:t>
              </a:r>
              <a:r>
                <a:rPr lang="en-US" sz="1400" b="1" dirty="0" err="1"/>
                <a:t>posedge</a:t>
              </a:r>
              <a:r>
                <a:rPr lang="en-US" sz="1400" b="1" dirty="0"/>
                <a:t> clock counter</a:t>
              </a:r>
            </a:p>
            <a:p>
              <a:r>
                <a:rPr lang="en-US" sz="1400" b="1" dirty="0"/>
                <a:t> </a:t>
              </a:r>
              <a:r>
                <a:rPr lang="en-US" sz="1400" b="1" dirty="0" err="1"/>
                <a:t>always_ff</a:t>
              </a:r>
              <a:r>
                <a:rPr lang="en-US" sz="1400" b="1" dirty="0"/>
                <a:t>@(posedge </a:t>
              </a:r>
              <a:r>
                <a:rPr lang="en-US" sz="1400" dirty="0" err="1"/>
                <a:t>clkin</a:t>
              </a:r>
              <a:r>
                <a:rPr lang="en-US" sz="1400" b="1" dirty="0"/>
                <a:t>) begin</a:t>
              </a:r>
            </a:p>
            <a:p>
              <a:r>
                <a:rPr lang="en-US" sz="1400" b="1" dirty="0"/>
                <a:t>  …..</a:t>
              </a:r>
            </a:p>
            <a:p>
              <a:r>
                <a:rPr lang="en-US" sz="1400" b="1" dirty="0"/>
                <a:t>  …..</a:t>
              </a:r>
            </a:p>
            <a:p>
              <a:r>
                <a:rPr lang="en-US" sz="1400" b="1" dirty="0"/>
                <a:t>  end</a:t>
              </a:r>
            </a:p>
            <a:p>
              <a:endParaRPr lang="en-US" sz="1400" b="1" dirty="0"/>
            </a:p>
            <a:p>
              <a:r>
                <a:rPr lang="en-US" sz="1400" b="1" dirty="0"/>
                <a:t> // </a:t>
              </a:r>
              <a:r>
                <a:rPr lang="en-US" sz="1400" b="1" dirty="0" err="1"/>
                <a:t>negedge</a:t>
              </a:r>
              <a:r>
                <a:rPr lang="en-US" sz="1400" b="1" dirty="0"/>
                <a:t> clock counter</a:t>
              </a:r>
            </a:p>
            <a:p>
              <a:r>
                <a:rPr lang="en-US" sz="1400" b="1" dirty="0"/>
                <a:t> </a:t>
              </a:r>
              <a:r>
                <a:rPr lang="en-US" sz="1400" b="1" dirty="0" err="1"/>
                <a:t>always_ff</a:t>
              </a:r>
              <a:r>
                <a:rPr lang="en-US" sz="1400" b="1" dirty="0"/>
                <a:t>@(negedge </a:t>
              </a:r>
              <a:r>
                <a:rPr lang="en-US" sz="1400" dirty="0" err="1"/>
                <a:t>clkin</a:t>
              </a:r>
              <a:r>
                <a:rPr lang="en-US" sz="1400" b="1" dirty="0"/>
                <a:t>) begin</a:t>
              </a:r>
            </a:p>
            <a:p>
              <a:r>
                <a:rPr lang="en-US" sz="1400" b="1" dirty="0"/>
                <a:t>  …..</a:t>
              </a:r>
            </a:p>
            <a:p>
              <a:r>
                <a:rPr lang="en-US" sz="1400" b="1" dirty="0"/>
                <a:t>  …..</a:t>
              </a:r>
            </a:p>
            <a:p>
              <a:r>
                <a:rPr lang="en-US" sz="1400" b="1" dirty="0"/>
                <a:t> end</a:t>
              </a:r>
            </a:p>
            <a:p>
              <a:r>
                <a:rPr lang="en-US" sz="1400" b="1" dirty="0"/>
                <a:t> </a:t>
              </a:r>
            </a:p>
            <a:p>
              <a:r>
                <a:rPr lang="en-US" sz="1400" b="1" dirty="0"/>
                <a:t> // generate divide by 3 clock </a:t>
              </a:r>
            </a:p>
            <a:p>
              <a:r>
                <a:rPr lang="en-US" sz="1400" b="1" dirty="0"/>
                <a:t> assign </a:t>
              </a:r>
              <a:r>
                <a:rPr lang="en-US" sz="1400" b="1" dirty="0" err="1"/>
                <a:t>clkout</a:t>
              </a:r>
              <a:r>
                <a:rPr lang="en-US" sz="1400" b="1" dirty="0"/>
                <a:t> = ((</a:t>
              </a:r>
              <a:r>
                <a:rPr lang="en-US" sz="1400" dirty="0" err="1"/>
                <a:t>posedge_count</a:t>
              </a:r>
              <a:r>
                <a:rPr lang="en-US" sz="1400" dirty="0"/>
                <a:t> == </a:t>
              </a:r>
              <a:r>
                <a:rPr lang="en-US" sz="1400" b="1" dirty="0"/>
                <a:t>2) | (</a:t>
              </a:r>
              <a:r>
                <a:rPr lang="en-US" sz="1400" dirty="0" err="1"/>
                <a:t>negedge_count</a:t>
              </a:r>
              <a:r>
                <a:rPr lang="en-US" sz="1400" dirty="0"/>
                <a:t> </a:t>
              </a:r>
              <a:r>
                <a:rPr lang="en-US" sz="1400" b="1" dirty="0"/>
                <a:t>== 2));</a:t>
              </a:r>
            </a:p>
            <a:p>
              <a:r>
                <a:rPr lang="en-US" sz="1400" b="1" dirty="0" err="1"/>
                <a:t>endmodule</a:t>
              </a:r>
              <a:r>
                <a:rPr lang="en-US" sz="1400" b="1" dirty="0"/>
                <a:t>: </a:t>
              </a:r>
              <a:r>
                <a:rPr lang="en-US" sz="1400" dirty="0"/>
                <a:t>clock_divide_by_3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DF6DB46-788C-4BC5-8BD4-E6D00E1D60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3862" y="4080636"/>
              <a:ext cx="2419400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5B2A17-7142-49B3-90BF-563176CDDF50}"/>
                </a:ext>
              </a:extLst>
            </p:cNvPr>
            <p:cNvSpPr/>
            <p:nvPr/>
          </p:nvSpPr>
          <p:spPr>
            <a:xfrm>
              <a:off x="5943044" y="3734546"/>
              <a:ext cx="276747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Add Reset condition</a:t>
              </a:r>
            </a:p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In Non-reset condition increment </a:t>
              </a:r>
              <a:r>
                <a:rPr lang="en-US" sz="1600" dirty="0" err="1">
                  <a:solidFill>
                    <a:schemeClr val="accent1">
                      <a:lumMod val="75000"/>
                    </a:schemeClr>
                  </a:solidFill>
                </a:rPr>
                <a:t>posedge_count</a:t>
              </a: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 ?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EA20AE4-7042-4EBE-A2BB-92A638D023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5777" y="5428790"/>
              <a:ext cx="2419400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83685B-F783-4E40-A4F0-78F819C65D85}"/>
                </a:ext>
              </a:extLst>
            </p:cNvPr>
            <p:cNvSpPr/>
            <p:nvPr/>
          </p:nvSpPr>
          <p:spPr>
            <a:xfrm>
              <a:off x="5734959" y="5082700"/>
              <a:ext cx="276747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Add Reset condition</a:t>
              </a:r>
            </a:p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In Non-reset condition increment </a:t>
              </a:r>
              <a:r>
                <a:rPr lang="en-US" sz="1600" dirty="0" err="1">
                  <a:solidFill>
                    <a:schemeClr val="accent1">
                      <a:lumMod val="75000"/>
                    </a:schemeClr>
                  </a:solidFill>
                </a:rPr>
                <a:t>negedge_count</a:t>
              </a: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 ?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AFD64D-A83A-43B9-B1FB-986563F40CBD}"/>
              </a:ext>
            </a:extLst>
          </p:cNvPr>
          <p:cNvGrpSpPr/>
          <p:nvPr/>
        </p:nvGrpSpPr>
        <p:grpSpPr>
          <a:xfrm>
            <a:off x="7120890" y="2712085"/>
            <a:ext cx="4467606" cy="1761459"/>
            <a:chOff x="7212330" y="2705989"/>
            <a:chExt cx="4467606" cy="176145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62E179-6857-4CA0-AEE0-6FD971017440}"/>
                </a:ext>
              </a:extLst>
            </p:cNvPr>
            <p:cNvSpPr txBox="1"/>
            <p:nvPr/>
          </p:nvSpPr>
          <p:spPr>
            <a:xfrm>
              <a:off x="7212330" y="2902323"/>
              <a:ext cx="835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err="1"/>
                <a:t>clkin</a:t>
              </a:r>
              <a:endParaRPr lang="en-US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7B93898-ADEC-4994-A8D0-D5088AFD122A}"/>
                </a:ext>
              </a:extLst>
            </p:cNvPr>
            <p:cNvSpPr txBox="1"/>
            <p:nvPr/>
          </p:nvSpPr>
          <p:spPr>
            <a:xfrm>
              <a:off x="7212330" y="3870634"/>
              <a:ext cx="835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err="1"/>
                <a:t>clkin</a:t>
              </a:r>
              <a:endParaRPr lang="en-US" b="1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F78342D-1C4B-4E5B-BB3B-8AF72B373B1E}"/>
                </a:ext>
              </a:extLst>
            </p:cNvPr>
            <p:cNvGrpSpPr/>
            <p:nvPr/>
          </p:nvGrpSpPr>
          <p:grpSpPr>
            <a:xfrm>
              <a:off x="7973568" y="2705989"/>
              <a:ext cx="3706368" cy="1761459"/>
              <a:chOff x="7985760" y="2705989"/>
              <a:chExt cx="3706368" cy="176145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E006B6E-BD04-4D66-942E-301955E66FBB}"/>
                  </a:ext>
                </a:extLst>
              </p:cNvPr>
              <p:cNvGrpSpPr/>
              <p:nvPr/>
            </p:nvGrpSpPr>
            <p:grpSpPr>
              <a:xfrm>
                <a:off x="8284464" y="2705989"/>
                <a:ext cx="3011613" cy="1761459"/>
                <a:chOff x="8290560" y="2340864"/>
                <a:chExt cx="3011613" cy="1761459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4F4131E0-8933-448F-AFC4-040A6FE015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025634" y="2715768"/>
                  <a:ext cx="1276539" cy="1075940"/>
                </a:xfrm>
                <a:prstGeom prst="rect">
                  <a:avLst/>
                </a:prstGeom>
              </p:spPr>
            </p:pic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6A51987-F900-4278-81DF-5E15F43DDC8B}"/>
                    </a:ext>
                  </a:extLst>
                </p:cNvPr>
                <p:cNvSpPr/>
                <p:nvPr/>
              </p:nvSpPr>
              <p:spPr>
                <a:xfrm>
                  <a:off x="8290560" y="2340864"/>
                  <a:ext cx="1286256" cy="77419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Positive Edge Clock Counter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5052A217-0164-4F45-896D-9F294D6AF166}"/>
                    </a:ext>
                  </a:extLst>
                </p:cNvPr>
                <p:cNvSpPr/>
                <p:nvPr/>
              </p:nvSpPr>
              <p:spPr>
                <a:xfrm>
                  <a:off x="8290560" y="3328131"/>
                  <a:ext cx="1286256" cy="774192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Negative Edge Clock Counter</a:t>
                  </a:r>
                </a:p>
              </p:txBody>
            </p: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B618399-F9CF-416C-A61E-13D46C7F0525}"/>
                    </a:ext>
                  </a:extLst>
                </p:cNvPr>
                <p:cNvCxnSpPr/>
                <p:nvPr/>
              </p:nvCxnSpPr>
              <p:spPr>
                <a:xfrm>
                  <a:off x="9576816" y="2993136"/>
                  <a:ext cx="59740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69A2201-6E37-43F4-A12E-2F1C685B92BD}"/>
                    </a:ext>
                  </a:extLst>
                </p:cNvPr>
                <p:cNvCxnSpPr/>
                <p:nvPr/>
              </p:nvCxnSpPr>
              <p:spPr>
                <a:xfrm>
                  <a:off x="9576816" y="3474720"/>
                  <a:ext cx="59740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4FAEE2-FDF7-497E-B45A-A9D4DA2E5846}"/>
                  </a:ext>
                </a:extLst>
              </p:cNvPr>
              <p:cNvSpPr txBox="1"/>
              <p:nvPr/>
            </p:nvSpPr>
            <p:spPr>
              <a:xfrm>
                <a:off x="10856976" y="3244334"/>
                <a:ext cx="835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b="1" dirty="0" err="1"/>
                  <a:t>clkout</a:t>
                </a:r>
                <a:endParaRPr lang="en-US" b="1" dirty="0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6DA8D77-5471-405F-AA73-8945D1FC08AF}"/>
                  </a:ext>
                </a:extLst>
              </p:cNvPr>
              <p:cNvCxnSpPr>
                <a:cxnSpLocks/>
                <a:endCxn id="8" idx="1"/>
              </p:cNvCxnSpPr>
              <p:nvPr/>
            </p:nvCxnSpPr>
            <p:spPr>
              <a:xfrm flipV="1">
                <a:off x="7985760" y="3093085"/>
                <a:ext cx="298704" cy="5462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EEFF3F4-6428-4447-8E38-8CC62C5254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85760" y="4061396"/>
                <a:ext cx="298704" cy="5462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6793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B96C-D18B-44B7-AB70-2725402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749" y="123825"/>
            <a:ext cx="11206263" cy="504825"/>
          </a:xfrm>
          <a:gradFill flip="none" rotWithShape="0"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  <a:tileRect/>
          </a:gradFill>
        </p:spPr>
        <p:txBody>
          <a:bodyPr/>
          <a:lstStyle/>
          <a:p>
            <a:r>
              <a:rPr lang="en-US" dirty="0"/>
              <a:t>Homework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9C2D4-B3D7-48EF-97E7-7D09BDFF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0717"/>
            <a:ext cx="10698804" cy="6050758"/>
          </a:xfrm>
        </p:spPr>
        <p:txBody>
          <a:bodyPr>
            <a:noAutofit/>
          </a:bodyPr>
          <a:lstStyle/>
          <a:p>
            <a:r>
              <a:rPr lang="en-US" sz="2000" b="1" dirty="0"/>
              <a:t>Develop </a:t>
            </a:r>
            <a:r>
              <a:rPr lang="en-US" sz="2000" b="1" dirty="0" err="1"/>
              <a:t>SystemVerilog</a:t>
            </a:r>
            <a:r>
              <a:rPr lang="en-US" sz="2000" b="1" dirty="0"/>
              <a:t> RTL model for Clock Divide </a:t>
            </a:r>
            <a:r>
              <a:rPr lang="en-US" sz="2000" b="1"/>
              <a:t>By </a:t>
            </a:r>
            <a:r>
              <a:rPr lang="en-US" sz="2000" b="1" smtClean="0"/>
              <a:t>2N+1 (odd factor)</a:t>
            </a:r>
            <a:endParaRPr lang="en-US" sz="2000" b="1" dirty="0"/>
          </a:p>
          <a:p>
            <a:pPr lvl="1"/>
            <a:r>
              <a:rPr lang="en-US" sz="1800" dirty="0"/>
              <a:t>Synthesize clock divide </a:t>
            </a:r>
            <a:r>
              <a:rPr lang="en-US" sz="1800"/>
              <a:t>by </a:t>
            </a:r>
            <a:r>
              <a:rPr lang="en-US" sz="1800" smtClean="0"/>
              <a:t>7 </a:t>
            </a:r>
            <a:r>
              <a:rPr lang="en-US" sz="1800" dirty="0"/>
              <a:t>design and run simulation using testbench provided </a:t>
            </a:r>
          </a:p>
          <a:p>
            <a:pPr lvl="1"/>
            <a:r>
              <a:rPr lang="en-US" sz="1800" dirty="0"/>
              <a:t>Review synthesis results (resource usage and RTL netlist/schematic)</a:t>
            </a:r>
          </a:p>
          <a:p>
            <a:pPr lvl="1"/>
            <a:r>
              <a:rPr lang="en-US" sz="1800" dirty="0"/>
              <a:t>Review input and output signals in simulation waveform.</a:t>
            </a:r>
          </a:p>
          <a:p>
            <a:pPr lvl="1"/>
            <a:r>
              <a:rPr lang="en-US" sz="1800" dirty="0"/>
              <a:t>Assume below mentioned primary port names and </a:t>
            </a:r>
            <a:r>
              <a:rPr lang="en-US" sz="1800" dirty="0" err="1"/>
              <a:t>SystemVerilog</a:t>
            </a:r>
            <a:r>
              <a:rPr lang="en-US" sz="1800" dirty="0"/>
              <a:t> RTL module name </a:t>
            </a:r>
            <a:r>
              <a:rPr lang="en-US" sz="1800" b="1" dirty="0"/>
              <a:t>clock_divide_by_3.</a:t>
            </a:r>
          </a:p>
          <a:p>
            <a:pPr marL="457200" lvl="1" indent="0">
              <a:buNone/>
            </a:pPr>
            <a:endParaRPr lang="en-US" sz="1800" b="1" dirty="0"/>
          </a:p>
          <a:p>
            <a:r>
              <a:rPr lang="en-US" sz="2000" b="1" dirty="0"/>
              <a:t>Primary Ports for </a:t>
            </a:r>
            <a:r>
              <a:rPr lang="en-US" sz="2000" b="1" dirty="0" err="1"/>
              <a:t>carry_lookahead_adder</a:t>
            </a:r>
            <a:r>
              <a:rPr lang="en-US" sz="2000" b="1" dirty="0"/>
              <a:t> module</a:t>
            </a:r>
          </a:p>
          <a:p>
            <a:pPr lvl="1"/>
            <a:r>
              <a:rPr lang="en-US" sz="1800" dirty="0"/>
              <a:t>Input </a:t>
            </a:r>
            <a:r>
              <a:rPr lang="en-US" sz="1800" dirty="0" err="1"/>
              <a:t>clkin</a:t>
            </a:r>
            <a:r>
              <a:rPr lang="en-US" sz="1800" dirty="0"/>
              <a:t>, reset (Asynchronous active high reset)</a:t>
            </a:r>
          </a:p>
          <a:p>
            <a:pPr lvl="1"/>
            <a:r>
              <a:rPr lang="en-US" sz="1800" dirty="0"/>
              <a:t>Output </a:t>
            </a:r>
            <a:r>
              <a:rPr lang="en-US" sz="1800" dirty="0" err="1"/>
              <a:t>clkout</a:t>
            </a:r>
            <a:endParaRPr lang="en-US" sz="1600" b="1" dirty="0"/>
          </a:p>
          <a:p>
            <a:pPr lvl="1"/>
            <a:endParaRPr lang="en-US" sz="1600" dirty="0"/>
          </a:p>
          <a:p>
            <a:r>
              <a:rPr lang="en-US" sz="2200" b="1" dirty="0"/>
              <a:t>Report should include :</a:t>
            </a:r>
          </a:p>
          <a:p>
            <a:pPr lvl="1"/>
            <a:r>
              <a:rPr lang="en-US" sz="2000" dirty="0" err="1"/>
              <a:t>SystemVerilog</a:t>
            </a:r>
            <a:r>
              <a:rPr lang="en-US" sz="2000" dirty="0"/>
              <a:t> design </a:t>
            </a:r>
          </a:p>
          <a:p>
            <a:pPr lvl="1"/>
            <a:r>
              <a:rPr lang="en-US" sz="2000" dirty="0"/>
              <a:t>Synthesis resource usage and schematic generated from RTL netlist viewer</a:t>
            </a:r>
          </a:p>
          <a:p>
            <a:pPr lvl="1"/>
            <a:r>
              <a:rPr lang="en-US" sz="2000" dirty="0"/>
              <a:t>Simulation snapshot and explain simulation result to confirm RTL model developed works as clock divide </a:t>
            </a:r>
            <a:r>
              <a:rPr lang="en-US" sz="2000"/>
              <a:t>by </a:t>
            </a:r>
            <a:r>
              <a:rPr lang="en-US" sz="2000" smtClean="0"/>
              <a:t>7</a:t>
            </a:r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FB35E-675D-449D-8195-71677E5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8CFFCF-F08B-4689-B805-7D97D4D06602}"/>
              </a:ext>
            </a:extLst>
          </p:cNvPr>
          <p:cNvGrpSpPr/>
          <p:nvPr/>
        </p:nvGrpSpPr>
        <p:grpSpPr>
          <a:xfrm>
            <a:off x="7721503" y="3077776"/>
            <a:ext cx="4225114" cy="939356"/>
            <a:chOff x="4318817" y="5248218"/>
            <a:chExt cx="4094415" cy="99481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8E85B8-5430-4711-9272-C833630828EB}"/>
                </a:ext>
              </a:extLst>
            </p:cNvPr>
            <p:cNvSpPr/>
            <p:nvPr/>
          </p:nvSpPr>
          <p:spPr>
            <a:xfrm>
              <a:off x="5389299" y="5248218"/>
              <a:ext cx="1127688" cy="9948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clock_divide_by_3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81D946-7E03-4D4D-863E-881BB69969A1}"/>
                </a:ext>
              </a:extLst>
            </p:cNvPr>
            <p:cNvCxnSpPr/>
            <p:nvPr/>
          </p:nvCxnSpPr>
          <p:spPr>
            <a:xfrm>
              <a:off x="4975396" y="5561022"/>
              <a:ext cx="402771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EBDDB9E-55EC-4527-891C-6F4F2B2F0164}"/>
                </a:ext>
              </a:extLst>
            </p:cNvPr>
            <p:cNvCxnSpPr/>
            <p:nvPr/>
          </p:nvCxnSpPr>
          <p:spPr>
            <a:xfrm>
              <a:off x="4972151" y="5878794"/>
              <a:ext cx="402771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CD73DB1-BAB9-4D5C-BD63-9C215B84FED6}"/>
                </a:ext>
              </a:extLst>
            </p:cNvPr>
            <p:cNvCxnSpPr/>
            <p:nvPr/>
          </p:nvCxnSpPr>
          <p:spPr>
            <a:xfrm>
              <a:off x="6516987" y="5711715"/>
              <a:ext cx="402771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204D3F-901C-4DD7-B9F1-BB3C979ABE00}"/>
                </a:ext>
              </a:extLst>
            </p:cNvPr>
            <p:cNvSpPr txBox="1"/>
            <p:nvPr/>
          </p:nvSpPr>
          <p:spPr>
            <a:xfrm>
              <a:off x="4321459" y="5370033"/>
              <a:ext cx="709930" cy="391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err="1"/>
                <a:t>clkin</a:t>
              </a:r>
              <a:endParaRPr lang="en-US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858A8F3-9426-425B-88E6-E80190959151}"/>
                </a:ext>
              </a:extLst>
            </p:cNvPr>
            <p:cNvSpPr txBox="1"/>
            <p:nvPr/>
          </p:nvSpPr>
          <p:spPr>
            <a:xfrm>
              <a:off x="4318817" y="5678381"/>
              <a:ext cx="709930" cy="391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reset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48A259-9AFE-452B-8491-699D599A593D}"/>
                </a:ext>
              </a:extLst>
            </p:cNvPr>
            <p:cNvSpPr txBox="1"/>
            <p:nvPr/>
          </p:nvSpPr>
          <p:spPr>
            <a:xfrm>
              <a:off x="6886026" y="5501270"/>
              <a:ext cx="1527206" cy="391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clkout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1039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44394</TotalTime>
  <Words>1332</Words>
  <Application>Microsoft Office PowerPoint</Application>
  <PresentationFormat>Widescreen</PresentationFormat>
  <Paragraphs>248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AngsanaUPC</vt:lpstr>
      <vt:lpstr>Arial</vt:lpstr>
      <vt:lpstr>Calibri</vt:lpstr>
      <vt:lpstr>Cambria Math</vt:lpstr>
      <vt:lpstr>Courier New</vt:lpstr>
      <vt:lpstr>Wingdings</vt:lpstr>
      <vt:lpstr>Office Theme</vt:lpstr>
      <vt:lpstr>Frequency Divider (Clock Divider)</vt:lpstr>
      <vt:lpstr>Clock</vt:lpstr>
      <vt:lpstr>Clock Parameter Definitions</vt:lpstr>
      <vt:lpstr>What is a Frequency Divider ?</vt:lpstr>
      <vt:lpstr>CLock Divide by 2</vt:lpstr>
      <vt:lpstr>Clock Divide by 4 </vt:lpstr>
      <vt:lpstr>Clock Divide by 4 Example</vt:lpstr>
      <vt:lpstr>Let’s Design Clock Divide by 3</vt:lpstr>
      <vt:lpstr>Clock Frequency Divide by 3</vt:lpstr>
      <vt:lpstr>Clock Divide by 3 (F/3) – Implementation 1</vt:lpstr>
      <vt:lpstr>Clock Divide by 3 (Implementation-1)</vt:lpstr>
      <vt:lpstr>Clock Divide by 3 (Implementation-2)</vt:lpstr>
      <vt:lpstr>Homework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Clock Divider (Frequency Divider)</dc:title>
  <dc:creator>vishal karna</dc:creator>
  <cp:lastModifiedBy>Superuser</cp:lastModifiedBy>
  <cp:revision>2646</cp:revision>
  <dcterms:created xsi:type="dcterms:W3CDTF">2019-09-04T04:51:35Z</dcterms:created>
  <dcterms:modified xsi:type="dcterms:W3CDTF">2025-05-14T14:14:39Z</dcterms:modified>
</cp:coreProperties>
</file>