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7" r:id="rId3"/>
    <p:sldId id="264" r:id="rId4"/>
    <p:sldId id="258" r:id="rId5"/>
    <p:sldId id="268" r:id="rId6"/>
    <p:sldId id="263" r:id="rId7"/>
    <p:sldId id="260" r:id="rId8"/>
    <p:sldId id="261" r:id="rId9"/>
    <p:sldId id="269" r:id="rId10"/>
    <p:sldId id="262" r:id="rId11"/>
    <p:sldId id="270" r:id="rId12"/>
    <p:sldId id="266" r:id="rId13"/>
    <p:sldId id="265" r:id="rId14"/>
    <p:sldId id="272" r:id="rId15"/>
    <p:sldId id="271"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58B66E-FBBC-456F-A2EE-1BBB9BD2CBD3}">
          <p14:sldIdLst>
            <p14:sldId id="256"/>
            <p14:sldId id="257"/>
            <p14:sldId id="264"/>
            <p14:sldId id="258"/>
            <p14:sldId id="268"/>
            <p14:sldId id="263"/>
            <p14:sldId id="260"/>
            <p14:sldId id="261"/>
            <p14:sldId id="269"/>
            <p14:sldId id="262"/>
            <p14:sldId id="270"/>
            <p14:sldId id="266"/>
            <p14:sldId id="265"/>
            <p14:sldId id="272"/>
            <p14:sldId id="271"/>
            <p14:sldId id="267"/>
          </p14:sldIdLst>
        </p14:section>
        <p14:section name="Untitled Section" id="{D2B92A5E-2412-4660-8322-E1B6B572A3D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9FB93CD4-1D0D-425B-89B9-D29AEF14C486}" type="datetimeFigureOut">
              <a:rPr lang="en-US" smtClean="0"/>
              <a:t>2026-02-08</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2C5D8E5D-76F3-4CFA-BEB2-83CD94A37405}" type="slidenum">
              <a:rPr lang="en-US" smtClean="0"/>
              <a:t>‹#›</a:t>
            </a:fld>
            <a:endParaRPr lang="en-US"/>
          </a:p>
        </p:txBody>
      </p:sp>
    </p:spTree>
    <p:extLst>
      <p:ext uri="{BB962C8B-B14F-4D97-AF65-F5344CB8AC3E}">
        <p14:creationId xmlns:p14="http://schemas.microsoft.com/office/powerpoint/2010/main" val="3803938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B93CD4-1D0D-425B-89B9-D29AEF14C486}" type="datetimeFigureOut">
              <a:rPr lang="en-US" smtClean="0"/>
              <a:t>2026-02-08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51481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B93CD4-1D0D-425B-89B9-D29AEF14C486}" type="datetimeFigureOut">
              <a:rPr lang="en-US" smtClean="0"/>
              <a:t>2026-02-08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2876168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B93CD4-1D0D-425B-89B9-D29AEF14C486}" type="datetimeFigureOut">
              <a:rPr lang="en-US" smtClean="0"/>
              <a:t>2026-02-08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310346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B93CD4-1D0D-425B-89B9-D29AEF14C486}" type="datetimeFigureOut">
              <a:rPr lang="en-US" smtClean="0"/>
              <a:t>2026-02-08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633935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B93CD4-1D0D-425B-89B9-D29AEF14C486}" type="datetimeFigureOut">
              <a:rPr lang="en-US" smtClean="0"/>
              <a:t>2026-02-08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3391482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B93CD4-1D0D-425B-89B9-D29AEF14C486}" type="datetimeFigureOut">
              <a:rPr lang="en-US" smtClean="0"/>
              <a:t>2026-02-08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2724420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9FB93CD4-1D0D-425B-89B9-D29AEF14C486}" type="datetimeFigureOut">
              <a:rPr lang="en-US" smtClean="0"/>
              <a:t>2026-02-08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2C5D8E5D-76F3-4CFA-BEB2-83CD94A37405}" type="slidenum">
              <a:rPr lang="en-US" smtClean="0"/>
              <a:t>‹#›</a:t>
            </a:fld>
            <a:endParaRPr lang="en-US"/>
          </a:p>
        </p:txBody>
      </p:sp>
    </p:spTree>
    <p:extLst>
      <p:ext uri="{BB962C8B-B14F-4D97-AF65-F5344CB8AC3E}">
        <p14:creationId xmlns:p14="http://schemas.microsoft.com/office/powerpoint/2010/main" val="98742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9FB93CD4-1D0D-425B-89B9-D29AEF14C486}" type="datetimeFigureOut">
              <a:rPr lang="en-US" smtClean="0"/>
              <a:t>2026-02-08</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2C5D8E5D-76F3-4CFA-BEB2-83CD94A37405}" type="slidenum">
              <a:rPr lang="en-US" smtClean="0"/>
              <a:t>‹#›</a:t>
            </a:fld>
            <a:endParaRPr lang="en-US"/>
          </a:p>
        </p:txBody>
      </p:sp>
    </p:spTree>
    <p:extLst>
      <p:ext uri="{BB962C8B-B14F-4D97-AF65-F5344CB8AC3E}">
        <p14:creationId xmlns:p14="http://schemas.microsoft.com/office/powerpoint/2010/main" val="331725444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B93CD4-1D0D-425B-89B9-D29AEF14C486}" type="datetimeFigureOut">
              <a:rPr lang="en-US" smtClean="0"/>
              <a:t>2026-02-08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3142690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B93CD4-1D0D-425B-89B9-D29AEF14C486}" type="datetimeFigureOut">
              <a:rPr lang="en-US" smtClean="0"/>
              <a:t>2026-02-08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5D8E5D-76F3-4CFA-BEB2-83CD94A37405}" type="slidenum">
              <a:rPr lang="en-US" smtClean="0"/>
              <a:t>‹#›</a:t>
            </a:fld>
            <a:endParaRPr lang="en-US"/>
          </a:p>
        </p:txBody>
      </p:sp>
    </p:spTree>
    <p:extLst>
      <p:ext uri="{BB962C8B-B14F-4D97-AF65-F5344CB8AC3E}">
        <p14:creationId xmlns:p14="http://schemas.microsoft.com/office/powerpoint/2010/main" val="424952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9FB93CD4-1D0D-425B-89B9-D29AEF14C486}" type="datetimeFigureOut">
              <a:rPr lang="en-US" smtClean="0"/>
              <a:t>2026-02-08</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2C5D8E5D-76F3-4CFA-BEB2-83CD94A37405}" type="slidenum">
              <a:rPr lang="en-US" smtClean="0"/>
              <a:t>‹#›</a:t>
            </a:fld>
            <a:endParaRPr lang="en-US"/>
          </a:p>
        </p:txBody>
      </p:sp>
    </p:spTree>
    <p:extLst>
      <p:ext uri="{BB962C8B-B14F-4D97-AF65-F5344CB8AC3E}">
        <p14:creationId xmlns:p14="http://schemas.microsoft.com/office/powerpoint/2010/main" val="2116402043"/>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facebook.com/nextinnovaters/photos/a.110428300662377/116821830023024/?paipv=0&amp;eav=AfYuezE7rp8UfgQwyUXv_Y65bCEKGNl4Fp0Rzcx7wp-eLsQjYTGJMfjPUY5tELtfOJ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DD528-C9E7-C72C-6185-6BFEA493AD7A}"/>
              </a:ext>
            </a:extLst>
          </p:cNvPr>
          <p:cNvSpPr>
            <a:spLocks noGrp="1"/>
          </p:cNvSpPr>
          <p:nvPr>
            <p:ph type="ctrTitle"/>
          </p:nvPr>
        </p:nvSpPr>
        <p:spPr/>
        <p:txBody>
          <a:bodyPr/>
          <a:lstStyle/>
          <a:p>
            <a:r>
              <a:rPr lang="en-US" dirty="0"/>
              <a:t>ECE 111 Discussion</a:t>
            </a:r>
            <a:br>
              <a:rPr lang="en-US" dirty="0"/>
            </a:br>
            <a:r>
              <a:rPr lang="en-US" dirty="0"/>
              <a:t>HW 5 (LFSR)</a:t>
            </a:r>
          </a:p>
        </p:txBody>
      </p:sp>
      <p:sp>
        <p:nvSpPr>
          <p:cNvPr id="3" name="Subtitle 2">
            <a:extLst>
              <a:ext uri="{FF2B5EF4-FFF2-40B4-BE49-F238E27FC236}">
                <a16:creationId xmlns:a16="http://schemas.microsoft.com/office/drawing/2014/main" id="{FA2B4A35-48F4-52BC-10FC-06E3055AFC8D}"/>
              </a:ext>
            </a:extLst>
          </p:cNvPr>
          <p:cNvSpPr>
            <a:spLocks noGrp="1"/>
          </p:cNvSpPr>
          <p:nvPr>
            <p:ph type="subTitle" idx="1"/>
          </p:nvPr>
        </p:nvSpPr>
        <p:spPr/>
        <p:txBody>
          <a:bodyPr/>
          <a:lstStyle/>
          <a:p>
            <a:r>
              <a:rPr lang="en-US" dirty="0"/>
              <a:t>By Naman Sehgal</a:t>
            </a:r>
          </a:p>
        </p:txBody>
      </p:sp>
    </p:spTree>
    <p:extLst>
      <p:ext uri="{BB962C8B-B14F-4D97-AF65-F5344CB8AC3E}">
        <p14:creationId xmlns:p14="http://schemas.microsoft.com/office/powerpoint/2010/main" val="1115858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091B9-4100-E782-14B8-D8339295AF52}"/>
              </a:ext>
            </a:extLst>
          </p:cNvPr>
          <p:cNvSpPr>
            <a:spLocks noGrp="1"/>
          </p:cNvSpPr>
          <p:nvPr>
            <p:ph type="title"/>
          </p:nvPr>
        </p:nvSpPr>
        <p:spPr>
          <a:xfrm>
            <a:off x="6400800" y="499533"/>
            <a:ext cx="5142271" cy="1658198"/>
          </a:xfrm>
        </p:spPr>
        <p:txBody>
          <a:bodyPr>
            <a:normAutofit/>
          </a:bodyPr>
          <a:lstStyle/>
          <a:p>
            <a:r>
              <a:rPr lang="en-US"/>
              <a:t>What is LFSR? </a:t>
            </a:r>
          </a:p>
        </p:txBody>
      </p:sp>
      <p:pic>
        <p:nvPicPr>
          <p:cNvPr id="7" name="Picture 6" descr="Graphical user interface, application&#10;&#10;Description automatically generated with medium confidence">
            <a:extLst>
              <a:ext uri="{FF2B5EF4-FFF2-40B4-BE49-F238E27FC236}">
                <a16:creationId xmlns:a16="http://schemas.microsoft.com/office/drawing/2014/main" id="{E33CC9FA-58FF-4D9B-26D3-A4604206BCA9}"/>
              </a:ext>
            </a:extLst>
          </p:cNvPr>
          <p:cNvPicPr>
            <a:picLocks noChangeAspect="1"/>
          </p:cNvPicPr>
          <p:nvPr/>
        </p:nvPicPr>
        <p:blipFill>
          <a:blip r:embed="rId2"/>
          <a:stretch>
            <a:fillRect/>
          </a:stretch>
        </p:blipFill>
        <p:spPr>
          <a:xfrm>
            <a:off x="644373" y="2011577"/>
            <a:ext cx="5451627" cy="2834845"/>
          </a:xfrm>
          <a:prstGeom prst="rect">
            <a:avLst/>
          </a:prstGeom>
        </p:spPr>
      </p:pic>
      <p:sp>
        <p:nvSpPr>
          <p:cNvPr id="3" name="Content Placeholder 2">
            <a:extLst>
              <a:ext uri="{FF2B5EF4-FFF2-40B4-BE49-F238E27FC236}">
                <a16:creationId xmlns:a16="http://schemas.microsoft.com/office/drawing/2014/main" id="{099E4CF3-7F56-4AA0-4C05-753767E8BD4A}"/>
              </a:ext>
            </a:extLst>
          </p:cNvPr>
          <p:cNvSpPr>
            <a:spLocks noGrp="1"/>
          </p:cNvSpPr>
          <p:nvPr>
            <p:ph idx="1"/>
          </p:nvPr>
        </p:nvSpPr>
        <p:spPr>
          <a:xfrm>
            <a:off x="6400800" y="2011680"/>
            <a:ext cx="5142271" cy="4511040"/>
          </a:xfrm>
        </p:spPr>
        <p:txBody>
          <a:bodyPr>
            <a:normAutofit fontScale="85000" lnSpcReduction="20000"/>
          </a:bodyPr>
          <a:lstStyle/>
          <a:p>
            <a:pPr lvl="1">
              <a:buFont typeface="Arial" panose="020B0604020202020204" pitchFamily="34" charset="0"/>
              <a:buChar char="•"/>
            </a:pPr>
            <a:r>
              <a:rPr lang="en-US" dirty="0"/>
              <a:t>LFSR stands for Linear Feedback Shift Register</a:t>
            </a:r>
          </a:p>
          <a:p>
            <a:pPr lvl="1">
              <a:buFont typeface="Arial" panose="020B0604020202020204" pitchFamily="34" charset="0"/>
              <a:buChar char="•"/>
            </a:pPr>
            <a:r>
              <a:rPr lang="en-US" dirty="0"/>
              <a:t>An LFSR is type of a shift register which performs following steps:</a:t>
            </a:r>
          </a:p>
          <a:p>
            <a:pPr marL="640080" lvl="1" indent="-457200">
              <a:buFont typeface="Courier New" panose="02070309020205020404" pitchFamily="49" charset="0"/>
              <a:buChar char="o"/>
            </a:pPr>
            <a:r>
              <a:rPr lang="en-US" dirty="0"/>
              <a:t>Combinational operations:</a:t>
            </a:r>
          </a:p>
          <a:p>
            <a:pPr marL="841248" lvl="2" indent="-457200">
              <a:buFont typeface="+mj-lt"/>
              <a:buAutoNum type="arabicPeriod"/>
            </a:pPr>
            <a:r>
              <a:rPr lang="en-US" dirty="0"/>
              <a:t>Does exclusive-or (</a:t>
            </a:r>
            <a:r>
              <a:rPr lang="en-US" dirty="0" err="1"/>
              <a:t>xor</a:t>
            </a:r>
            <a:r>
              <a:rPr lang="en-US" dirty="0"/>
              <a:t> or </a:t>
            </a:r>
            <a:r>
              <a:rPr lang="en-US" dirty="0" err="1"/>
              <a:t>xnor</a:t>
            </a:r>
            <a:r>
              <a:rPr lang="en-US" dirty="0"/>
              <a:t>) of bits at given tap positions in shift register</a:t>
            </a:r>
          </a:p>
          <a:p>
            <a:pPr marL="640080" lvl="1" indent="-457200">
              <a:buFont typeface="Arial" panose="020B0604020202020204" pitchFamily="34" charset="0"/>
              <a:buChar char="•"/>
            </a:pPr>
            <a:endParaRPr lang="en-US" dirty="0"/>
          </a:p>
          <a:p>
            <a:pPr marL="640080" lvl="1" indent="-457200">
              <a:buFont typeface="Courier New" panose="02070309020205020404" pitchFamily="49" charset="0"/>
              <a:buChar char="o"/>
            </a:pPr>
            <a:r>
              <a:rPr lang="en-US" dirty="0"/>
              <a:t>Sequential operations:</a:t>
            </a:r>
          </a:p>
          <a:p>
            <a:pPr marL="841248" lvl="2" indent="-457200">
              <a:buFont typeface="+mj-lt"/>
              <a:buAutoNum type="arabicPeriod"/>
            </a:pPr>
            <a:r>
              <a:rPr lang="en-US" dirty="0"/>
              <a:t>Shifts the bits one position to the left (MSB discarded)</a:t>
            </a:r>
          </a:p>
          <a:p>
            <a:pPr marL="841248" lvl="2" indent="-457200">
              <a:buFont typeface="+mj-lt"/>
              <a:buAutoNum type="arabicPeriod"/>
            </a:pPr>
            <a:r>
              <a:rPr lang="en-US" dirty="0"/>
              <a:t>LSB is vacated and concurrently replaced with output of exclusive-OR (XOR). The XOR function decided by linear feedback equation (discussed later)</a:t>
            </a:r>
          </a:p>
          <a:p>
            <a:pPr marL="201168" lvl="1" indent="0">
              <a:buNone/>
            </a:pPr>
            <a:endParaRPr lang="en-US" sz="2000" dirty="0"/>
          </a:p>
          <a:p>
            <a:pPr marL="201168" lvl="1" indent="0">
              <a:buNone/>
            </a:pPr>
            <a:r>
              <a:rPr lang="en-US" sz="2000" dirty="0"/>
              <a:t>Note: </a:t>
            </a:r>
          </a:p>
          <a:p>
            <a:pPr marL="201168" lvl="1" indent="0">
              <a:buNone/>
            </a:pPr>
            <a:r>
              <a:rPr lang="en-US" sz="2000" dirty="0"/>
              <a:t>Sequential means update happens on the clock edge. </a:t>
            </a:r>
          </a:p>
          <a:p>
            <a:pPr marL="201168" lvl="1" indent="0">
              <a:buNone/>
            </a:pPr>
            <a:r>
              <a:rPr lang="en-US" sz="2000" dirty="0"/>
              <a:t>Combinational means update happening  all the time</a:t>
            </a:r>
          </a:p>
          <a:p>
            <a:pPr lvl="1"/>
            <a:endParaRPr lang="en-US" b="0" i="0" dirty="0">
              <a:effectLst/>
              <a:latin typeface="Söhne"/>
            </a:endParaRPr>
          </a:p>
        </p:txBody>
      </p:sp>
      <p:sp>
        <p:nvSpPr>
          <p:cNvPr id="8" name="TextBox 7">
            <a:extLst>
              <a:ext uri="{FF2B5EF4-FFF2-40B4-BE49-F238E27FC236}">
                <a16:creationId xmlns:a16="http://schemas.microsoft.com/office/drawing/2014/main" id="{238D19F7-0841-42D8-003C-D28BE8CC5A90}"/>
              </a:ext>
            </a:extLst>
          </p:cNvPr>
          <p:cNvSpPr txBox="1"/>
          <p:nvPr/>
        </p:nvSpPr>
        <p:spPr>
          <a:xfrm>
            <a:off x="1087120" y="4663440"/>
            <a:ext cx="5161280" cy="646331"/>
          </a:xfrm>
          <a:prstGeom prst="rect">
            <a:avLst/>
          </a:prstGeom>
          <a:noFill/>
        </p:spPr>
        <p:txBody>
          <a:bodyPr wrap="square" rtlCol="0">
            <a:spAutoFit/>
          </a:bodyPr>
          <a:lstStyle/>
          <a:p>
            <a:r>
              <a:rPr lang="en-US" sz="1800" dirty="0"/>
              <a:t>Diagram represents a sample LFSR with N=11</a:t>
            </a:r>
          </a:p>
          <a:p>
            <a:endParaRPr lang="en-US" dirty="0"/>
          </a:p>
        </p:txBody>
      </p:sp>
    </p:spTree>
    <p:extLst>
      <p:ext uri="{BB962C8B-B14F-4D97-AF65-F5344CB8AC3E}">
        <p14:creationId xmlns:p14="http://schemas.microsoft.com/office/powerpoint/2010/main" val="1593892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D6EA1A26-163F-4F15-91F4-F2C51AC9C10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65754F-6B19-137F-FB59-C5130DCD3CF8}"/>
              </a:ext>
            </a:extLst>
          </p:cNvPr>
          <p:cNvSpPr>
            <a:spLocks noGrp="1"/>
          </p:cNvSpPr>
          <p:nvPr>
            <p:ph type="title"/>
          </p:nvPr>
        </p:nvSpPr>
        <p:spPr>
          <a:xfrm>
            <a:off x="8173212" y="499533"/>
            <a:ext cx="3401568" cy="1920240"/>
          </a:xfrm>
        </p:spPr>
        <p:txBody>
          <a:bodyPr anchor="b">
            <a:normAutofit/>
          </a:bodyPr>
          <a:lstStyle/>
          <a:p>
            <a:r>
              <a:rPr lang="en-US" sz="4000" dirty="0">
                <a:solidFill>
                  <a:srgbClr val="FFFFFF"/>
                </a:solidFill>
              </a:rPr>
              <a:t>Convention of MSB and LSB (Quick detour)</a:t>
            </a:r>
          </a:p>
        </p:txBody>
      </p:sp>
      <p:sp>
        <p:nvSpPr>
          <p:cNvPr id="2054" name="Content Placeholder 2053">
            <a:extLst>
              <a:ext uri="{FF2B5EF4-FFF2-40B4-BE49-F238E27FC236}">
                <a16:creationId xmlns:a16="http://schemas.microsoft.com/office/drawing/2014/main" id="{FC308662-D2BC-1CF8-A877-0D94A49110EE}"/>
              </a:ext>
            </a:extLst>
          </p:cNvPr>
          <p:cNvSpPr>
            <a:spLocks noGrp="1"/>
          </p:cNvSpPr>
          <p:nvPr>
            <p:ph idx="1"/>
          </p:nvPr>
        </p:nvSpPr>
        <p:spPr>
          <a:xfrm>
            <a:off x="8173212" y="2551853"/>
            <a:ext cx="3401568" cy="3358092"/>
          </a:xfrm>
        </p:spPr>
        <p:txBody>
          <a:bodyPr>
            <a:noAutofit/>
          </a:bodyPr>
          <a:lstStyle/>
          <a:p>
            <a:r>
              <a:rPr lang="en-US" sz="1600" dirty="0">
                <a:solidFill>
                  <a:schemeClr val="bg1"/>
                </a:solidFill>
              </a:rPr>
              <a:t>In the binary notion:</a:t>
            </a:r>
          </a:p>
          <a:p>
            <a:pPr lvl="1">
              <a:buFont typeface="Arial" panose="020B0604020202020204" pitchFamily="34" charset="0"/>
              <a:buChar char="•"/>
            </a:pPr>
            <a:r>
              <a:rPr lang="en-US" sz="1600" dirty="0">
                <a:solidFill>
                  <a:schemeClr val="bg1"/>
                </a:solidFill>
              </a:rPr>
              <a:t>MSB is always on the left most side</a:t>
            </a:r>
          </a:p>
          <a:p>
            <a:pPr lvl="1">
              <a:buFont typeface="Arial" panose="020B0604020202020204" pitchFamily="34" charset="0"/>
              <a:buChar char="•"/>
            </a:pPr>
            <a:r>
              <a:rPr lang="en-US" sz="1600" dirty="0">
                <a:solidFill>
                  <a:schemeClr val="bg1"/>
                </a:solidFill>
              </a:rPr>
              <a:t>LSB is always o the right most side</a:t>
            </a:r>
          </a:p>
          <a:p>
            <a:pPr lvl="1">
              <a:buFont typeface="Arial" panose="020B0604020202020204" pitchFamily="34" charset="0"/>
              <a:buChar char="•"/>
            </a:pPr>
            <a:endParaRPr lang="en-US" sz="1600" dirty="0">
              <a:solidFill>
                <a:schemeClr val="bg1"/>
              </a:solidFill>
            </a:endParaRPr>
          </a:p>
          <a:p>
            <a:pPr lvl="1">
              <a:buFont typeface="Arial" panose="020B0604020202020204" pitchFamily="34" charset="0"/>
              <a:buChar char="•"/>
            </a:pPr>
            <a:r>
              <a:rPr lang="en-US" sz="1600" dirty="0">
                <a:solidFill>
                  <a:schemeClr val="bg1"/>
                </a:solidFill>
              </a:rPr>
              <a:t>MSB has the greatest influence on the overall value of the number</a:t>
            </a:r>
          </a:p>
          <a:p>
            <a:pPr lvl="1">
              <a:buFont typeface="Arial" panose="020B0604020202020204" pitchFamily="34" charset="0"/>
              <a:buChar char="•"/>
            </a:pPr>
            <a:r>
              <a:rPr lang="en-US" sz="1600" b="0" i="0" dirty="0">
                <a:solidFill>
                  <a:schemeClr val="bg1"/>
                </a:solidFill>
                <a:effectLst/>
              </a:rPr>
              <a:t>For example, in an 8-bit binary number, the MSB is the bit in the position 2^7, while the LSB (Least Significant Bit) is the bit in the position 2^0.</a:t>
            </a:r>
          </a:p>
          <a:p>
            <a:pPr lvl="1">
              <a:buFont typeface="Arial" panose="020B0604020202020204" pitchFamily="34" charset="0"/>
              <a:buChar char="•"/>
            </a:pPr>
            <a:endParaRPr lang="en-US" sz="1600" dirty="0">
              <a:solidFill>
                <a:schemeClr val="bg1"/>
              </a:solidFill>
            </a:endParaRPr>
          </a:p>
          <a:p>
            <a:pPr marL="4572" lvl="1" indent="0">
              <a:buNone/>
            </a:pPr>
            <a:r>
              <a:rPr lang="en-US" sz="1600" dirty="0">
                <a:solidFill>
                  <a:schemeClr val="bg1"/>
                </a:solidFill>
              </a:rPr>
              <a:t>Image on left courtesy of </a:t>
            </a:r>
            <a:r>
              <a:rPr lang="en-US" sz="1600" dirty="0">
                <a:hlinkClick r:id="rId2"/>
              </a:rPr>
              <a:t>Next Innovation Facebook page</a:t>
            </a:r>
            <a:endParaRPr lang="en-US" sz="1600" dirty="0">
              <a:solidFill>
                <a:schemeClr val="bg1"/>
              </a:solidFill>
            </a:endParaRPr>
          </a:p>
          <a:p>
            <a:endParaRPr lang="en-US" sz="1600" dirty="0"/>
          </a:p>
        </p:txBody>
      </p:sp>
      <p:pic>
        <p:nvPicPr>
          <p:cNvPr id="2052" name="Picture 4" descr="No photo description available.">
            <a:extLst>
              <a:ext uri="{FF2B5EF4-FFF2-40B4-BE49-F238E27FC236}">
                <a16:creationId xmlns:a16="http://schemas.microsoft.com/office/drawing/2014/main" id="{CDAACCFD-B9F0-BE99-EB9C-BB9BC0D122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70" b="1905"/>
          <a:stretch/>
        </p:blipFill>
        <p:spPr bwMode="auto">
          <a:xfrm>
            <a:off x="0" y="0"/>
            <a:ext cx="755599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93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A2C2-0186-A9EB-8913-1C70B92EC1E8}"/>
              </a:ext>
            </a:extLst>
          </p:cNvPr>
          <p:cNvSpPr>
            <a:spLocks noGrp="1"/>
          </p:cNvSpPr>
          <p:nvPr>
            <p:ph type="title"/>
          </p:nvPr>
        </p:nvSpPr>
        <p:spPr>
          <a:xfrm>
            <a:off x="6400800" y="499533"/>
            <a:ext cx="5142271" cy="1658198"/>
          </a:xfrm>
        </p:spPr>
        <p:txBody>
          <a:bodyPr>
            <a:normAutofit/>
          </a:bodyPr>
          <a:lstStyle/>
          <a:p>
            <a:r>
              <a:rPr lang="en-US" dirty="0"/>
              <a:t>What is LFSR? (</a:t>
            </a:r>
            <a:r>
              <a:rPr lang="en-US" dirty="0" err="1"/>
              <a:t>contd</a:t>
            </a:r>
            <a:r>
              <a:rPr lang="en-US" dirty="0"/>
              <a:t>)</a:t>
            </a:r>
          </a:p>
        </p:txBody>
      </p:sp>
      <p:pic>
        <p:nvPicPr>
          <p:cNvPr id="5" name="Picture 4">
            <a:extLst>
              <a:ext uri="{FF2B5EF4-FFF2-40B4-BE49-F238E27FC236}">
                <a16:creationId xmlns:a16="http://schemas.microsoft.com/office/drawing/2014/main" id="{291D49E1-CA69-A4C3-2E38-99086E2C060B}"/>
              </a:ext>
            </a:extLst>
          </p:cNvPr>
          <p:cNvPicPr>
            <a:picLocks noChangeAspect="1"/>
          </p:cNvPicPr>
          <p:nvPr/>
        </p:nvPicPr>
        <p:blipFill rotWithShape="1">
          <a:blip r:embed="rId2"/>
          <a:srcRect t="5148" b="7920"/>
          <a:stretch/>
        </p:blipFill>
        <p:spPr>
          <a:xfrm>
            <a:off x="643192" y="2036785"/>
            <a:ext cx="5451627" cy="2464388"/>
          </a:xfrm>
          <a:prstGeom prst="rect">
            <a:avLst/>
          </a:prstGeom>
        </p:spPr>
      </p:pic>
      <p:sp>
        <p:nvSpPr>
          <p:cNvPr id="3" name="Content Placeholder 2">
            <a:extLst>
              <a:ext uri="{FF2B5EF4-FFF2-40B4-BE49-F238E27FC236}">
                <a16:creationId xmlns:a16="http://schemas.microsoft.com/office/drawing/2014/main" id="{9BFFC0E0-7288-969E-B4CC-DB1F4CE97A0E}"/>
              </a:ext>
            </a:extLst>
          </p:cNvPr>
          <p:cNvSpPr>
            <a:spLocks noGrp="1"/>
          </p:cNvSpPr>
          <p:nvPr>
            <p:ph idx="1"/>
          </p:nvPr>
        </p:nvSpPr>
        <p:spPr>
          <a:xfrm>
            <a:off x="6400800" y="2011680"/>
            <a:ext cx="5142271" cy="3864732"/>
          </a:xfrm>
        </p:spPr>
        <p:txBody>
          <a:bodyPr>
            <a:normAutofit/>
          </a:bodyPr>
          <a:lstStyle/>
          <a:p>
            <a:pPr marL="201168" lvl="1" indent="0">
              <a:buNone/>
            </a:pPr>
            <a:r>
              <a:rPr lang="en-US" dirty="0"/>
              <a:t>There are three important parameters of LFSR</a:t>
            </a:r>
          </a:p>
          <a:p>
            <a:pPr marL="544068" lvl="1" indent="-342900">
              <a:buFont typeface="+mj-lt"/>
              <a:buAutoNum type="arabicPeriod"/>
            </a:pPr>
            <a:r>
              <a:rPr lang="en-US" sz="2000" i="1" dirty="0"/>
              <a:t>Number of bits (N) </a:t>
            </a:r>
          </a:p>
          <a:p>
            <a:pPr marL="544068" lvl="1" indent="-342900">
              <a:buFont typeface="+mj-lt"/>
              <a:buAutoNum type="arabicPeriod"/>
            </a:pPr>
            <a:r>
              <a:rPr lang="en-US" sz="2000" i="1" dirty="0"/>
              <a:t>Initial Seed (the sequence of bits used to initialize the LFSR)</a:t>
            </a:r>
          </a:p>
          <a:p>
            <a:pPr marL="544068" lvl="1" indent="-342900">
              <a:buFont typeface="+mj-lt"/>
              <a:buAutoNum type="arabicPeriod"/>
            </a:pPr>
            <a:r>
              <a:rPr lang="en-US" sz="2000" i="1" dirty="0"/>
              <a:t>Tap position to perform XOR (Linear feedback equation). </a:t>
            </a:r>
            <a:br>
              <a:rPr lang="en-US" sz="2000" i="1" dirty="0"/>
            </a:br>
            <a:r>
              <a:rPr lang="en-US" sz="2000" i="1" dirty="0"/>
              <a:t>"tapping the position" refers to the process of connecting the output of flip-flop to the feedback logic (</a:t>
            </a:r>
            <a:r>
              <a:rPr lang="en-US" sz="2000" i="1" dirty="0" err="1"/>
              <a:t>ie</a:t>
            </a:r>
            <a:r>
              <a:rPr lang="en-US" sz="2000" i="1" dirty="0"/>
              <a:t> XOR gate)</a:t>
            </a:r>
          </a:p>
          <a:p>
            <a:pPr marL="544068" lvl="1" indent="-342900">
              <a:buFont typeface="+mj-lt"/>
              <a:buAutoNum type="arabicPeriod"/>
            </a:pPr>
            <a:endParaRPr lang="en-US" sz="2000" i="1" dirty="0"/>
          </a:p>
          <a:p>
            <a:pPr marL="201168" lvl="1" indent="0">
              <a:buNone/>
            </a:pPr>
            <a:endParaRPr lang="en-US" sz="2000" i="1" dirty="0"/>
          </a:p>
          <a:p>
            <a:pPr marL="544068" lvl="1" indent="-342900">
              <a:buFont typeface="+mj-lt"/>
              <a:buAutoNum type="arabicPeriod"/>
            </a:pPr>
            <a:endParaRPr lang="en-US" dirty="0"/>
          </a:p>
        </p:txBody>
      </p:sp>
      <p:sp>
        <p:nvSpPr>
          <p:cNvPr id="7" name="TextBox 6">
            <a:extLst>
              <a:ext uri="{FF2B5EF4-FFF2-40B4-BE49-F238E27FC236}">
                <a16:creationId xmlns:a16="http://schemas.microsoft.com/office/drawing/2014/main" id="{F153429B-6A5F-2033-2E33-A5B6F2ED79F8}"/>
              </a:ext>
            </a:extLst>
          </p:cNvPr>
          <p:cNvSpPr txBox="1"/>
          <p:nvPr/>
        </p:nvSpPr>
        <p:spPr>
          <a:xfrm>
            <a:off x="1259840" y="4589195"/>
            <a:ext cx="6096000" cy="646331"/>
          </a:xfrm>
          <a:prstGeom prst="rect">
            <a:avLst/>
          </a:prstGeom>
          <a:noFill/>
        </p:spPr>
        <p:txBody>
          <a:bodyPr wrap="square">
            <a:spAutoFit/>
          </a:bodyPr>
          <a:lstStyle/>
          <a:p>
            <a:r>
              <a:rPr lang="en-US" sz="1800" dirty="0"/>
              <a:t>Diagram represents a sample LFSR with N=11</a:t>
            </a:r>
          </a:p>
          <a:p>
            <a:endParaRPr lang="en-US" dirty="0"/>
          </a:p>
        </p:txBody>
      </p:sp>
    </p:spTree>
    <p:extLst>
      <p:ext uri="{BB962C8B-B14F-4D97-AF65-F5344CB8AC3E}">
        <p14:creationId xmlns:p14="http://schemas.microsoft.com/office/powerpoint/2010/main" val="2831330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642BD-235D-D621-A9C5-533954279551}"/>
              </a:ext>
            </a:extLst>
          </p:cNvPr>
          <p:cNvSpPr>
            <a:spLocks noGrp="1"/>
          </p:cNvSpPr>
          <p:nvPr>
            <p:ph type="title"/>
          </p:nvPr>
        </p:nvSpPr>
        <p:spPr>
          <a:xfrm>
            <a:off x="5786937" y="522706"/>
            <a:ext cx="6405063" cy="1450757"/>
          </a:xfrm>
        </p:spPr>
        <p:txBody>
          <a:bodyPr>
            <a:normAutofit/>
          </a:bodyPr>
          <a:lstStyle/>
          <a:p>
            <a:r>
              <a:rPr lang="en-US" dirty="0"/>
              <a:t>Example of 4-bit LFSR</a:t>
            </a:r>
          </a:p>
        </p:txBody>
      </p:sp>
      <p:sp>
        <p:nvSpPr>
          <p:cNvPr id="3" name="Content Placeholder 2">
            <a:extLst>
              <a:ext uri="{FF2B5EF4-FFF2-40B4-BE49-F238E27FC236}">
                <a16:creationId xmlns:a16="http://schemas.microsoft.com/office/drawing/2014/main" id="{BA491DE0-A8D7-F936-98E0-BE182294F5E2}"/>
              </a:ext>
            </a:extLst>
          </p:cNvPr>
          <p:cNvSpPr>
            <a:spLocks noGrp="1"/>
          </p:cNvSpPr>
          <p:nvPr>
            <p:ph idx="1"/>
          </p:nvPr>
        </p:nvSpPr>
        <p:spPr>
          <a:xfrm>
            <a:off x="5907444" y="2103121"/>
            <a:ext cx="5786009" cy="4677878"/>
          </a:xfrm>
        </p:spPr>
        <p:txBody>
          <a:bodyPr>
            <a:normAutofit fontScale="85000" lnSpcReduction="10000"/>
          </a:bodyPr>
          <a:lstStyle/>
          <a:p>
            <a:pPr lvl="2">
              <a:buFont typeface="Arial" panose="020B0604020202020204" pitchFamily="34" charset="0"/>
              <a:buChar char="•"/>
            </a:pPr>
            <a:r>
              <a:rPr lang="en-US" dirty="0">
                <a:solidFill>
                  <a:schemeClr val="tx1"/>
                </a:solidFill>
              </a:rPr>
              <a:t>To understand the working of the LFSR, let’s take the diagram on top left (corresponds to a 4-bit LFSR). All sequential elements are shown in yellow. </a:t>
            </a:r>
          </a:p>
          <a:p>
            <a:pPr lvl="3">
              <a:buFont typeface="Arial" panose="020B0604020202020204" pitchFamily="34" charset="0"/>
              <a:buChar char="•"/>
            </a:pPr>
            <a:r>
              <a:rPr lang="en-US" dirty="0">
                <a:solidFill>
                  <a:schemeClr val="tx1"/>
                </a:solidFill>
              </a:rPr>
              <a:t>To implement this polynomial, output of FF4 and FF3 are tapped and </a:t>
            </a:r>
            <a:r>
              <a:rPr lang="en-US" dirty="0" err="1">
                <a:solidFill>
                  <a:schemeClr val="tx1"/>
                </a:solidFill>
              </a:rPr>
              <a:t>combinationally</a:t>
            </a:r>
            <a:r>
              <a:rPr lang="en-US" dirty="0">
                <a:solidFill>
                  <a:schemeClr val="tx1"/>
                </a:solidFill>
              </a:rPr>
              <a:t> connected to XOR’s input </a:t>
            </a:r>
          </a:p>
          <a:p>
            <a:pPr lvl="3">
              <a:buFont typeface="Arial" panose="020B0604020202020204" pitchFamily="34" charset="0"/>
              <a:buChar char="•"/>
            </a:pPr>
            <a:r>
              <a:rPr lang="en-US" dirty="0">
                <a:solidFill>
                  <a:schemeClr val="tx1"/>
                </a:solidFill>
              </a:rPr>
              <a:t>Input of flops 4,3 and 2 are connected from the outputs of flops 3,2 and 1 respectively. These data-values transfer sequentially (Sequential Left Shift)</a:t>
            </a:r>
          </a:p>
          <a:p>
            <a:pPr lvl="3">
              <a:buFont typeface="Arial" panose="020B0604020202020204" pitchFamily="34" charset="0"/>
              <a:buChar char="•"/>
            </a:pPr>
            <a:r>
              <a:rPr lang="en-US" dirty="0">
                <a:solidFill>
                  <a:schemeClr val="tx1"/>
                </a:solidFill>
              </a:rPr>
              <a:t>Input of Flop-1 connected to the output of XOR and captures the XOR output value sequentially. </a:t>
            </a:r>
          </a:p>
          <a:p>
            <a:pPr lvl="2">
              <a:buFont typeface="Arial" panose="020B0604020202020204" pitchFamily="34" charset="0"/>
              <a:buChar char="•"/>
            </a:pPr>
            <a:endParaRPr lang="en-US" dirty="0">
              <a:solidFill>
                <a:schemeClr val="tx1"/>
              </a:solidFill>
            </a:endParaRPr>
          </a:p>
          <a:p>
            <a:pPr lvl="2">
              <a:buFont typeface="Arial" panose="020B0604020202020204" pitchFamily="34" charset="0"/>
              <a:buChar char="•"/>
            </a:pPr>
            <a:r>
              <a:rPr lang="en-US" dirty="0">
                <a:solidFill>
                  <a:schemeClr val="tx1"/>
                </a:solidFill>
              </a:rPr>
              <a:t>The table is drawn for seed=4’b1111. </a:t>
            </a:r>
          </a:p>
          <a:p>
            <a:pPr lvl="3">
              <a:buFont typeface="Arial" panose="020B0604020202020204" pitchFamily="34" charset="0"/>
              <a:buChar char="•"/>
            </a:pPr>
            <a:r>
              <a:rPr lang="en-US" dirty="0">
                <a:solidFill>
                  <a:schemeClr val="tx1"/>
                </a:solidFill>
              </a:rPr>
              <a:t>It represents the output of flip-flops (</a:t>
            </a:r>
            <a:r>
              <a:rPr lang="en-US" dirty="0" err="1">
                <a:solidFill>
                  <a:schemeClr val="tx1"/>
                </a:solidFill>
              </a:rPr>
              <a:t>ie</a:t>
            </a:r>
            <a:r>
              <a:rPr lang="en-US" dirty="0">
                <a:solidFill>
                  <a:schemeClr val="tx1"/>
                </a:solidFill>
              </a:rPr>
              <a:t> Q port of each flip-flop) and output of XOR gate</a:t>
            </a:r>
          </a:p>
          <a:p>
            <a:pPr lvl="3">
              <a:buFont typeface="Arial" panose="020B0604020202020204" pitchFamily="34" charset="0"/>
              <a:buChar char="•"/>
            </a:pPr>
            <a:r>
              <a:rPr lang="en-US" dirty="0">
                <a:solidFill>
                  <a:schemeClr val="tx1"/>
                </a:solidFill>
              </a:rPr>
              <a:t>Bubbles of different colors have been drawn to show how data flows left-wards at each clock edge</a:t>
            </a:r>
          </a:p>
          <a:p>
            <a:pPr lvl="2">
              <a:buFont typeface="Arial" panose="020B0604020202020204" pitchFamily="34" charset="0"/>
              <a:buChar char="•"/>
            </a:pPr>
            <a:endParaRPr lang="en-US" dirty="0">
              <a:solidFill>
                <a:schemeClr val="tx1"/>
              </a:solidFill>
            </a:endParaRPr>
          </a:p>
          <a:p>
            <a:pPr lvl="2">
              <a:buFont typeface="Arial" panose="020B0604020202020204" pitchFamily="34" charset="0"/>
              <a:buChar char="•"/>
            </a:pPr>
            <a:r>
              <a:rPr lang="en-US" dirty="0">
                <a:solidFill>
                  <a:schemeClr val="tx1"/>
                </a:solidFill>
              </a:rPr>
              <a:t>Important Note: The flip flops in diagram start from index 1, however the indexes in the flops we define in our Verilog code start from 0. You will need to take care of this while coding. </a:t>
            </a:r>
          </a:p>
          <a:p>
            <a:pPr lvl="2">
              <a:buFont typeface="Arial" panose="020B0604020202020204" pitchFamily="34" charset="0"/>
              <a:buChar char="•"/>
            </a:pPr>
            <a:endParaRPr lang="en-US" dirty="0">
              <a:solidFill>
                <a:schemeClr val="tx1"/>
              </a:solidFill>
            </a:endParaRPr>
          </a:p>
        </p:txBody>
      </p:sp>
      <p:pic>
        <p:nvPicPr>
          <p:cNvPr id="9" name="Picture 8">
            <a:extLst>
              <a:ext uri="{FF2B5EF4-FFF2-40B4-BE49-F238E27FC236}">
                <a16:creationId xmlns:a16="http://schemas.microsoft.com/office/drawing/2014/main" id="{734402A2-ED66-A67A-1CAF-ED8EF13BDD88}"/>
              </a:ext>
            </a:extLst>
          </p:cNvPr>
          <p:cNvPicPr>
            <a:picLocks noChangeAspect="1"/>
          </p:cNvPicPr>
          <p:nvPr/>
        </p:nvPicPr>
        <p:blipFill>
          <a:blip r:embed="rId2"/>
          <a:stretch>
            <a:fillRect/>
          </a:stretch>
        </p:blipFill>
        <p:spPr>
          <a:xfrm>
            <a:off x="178117" y="193675"/>
            <a:ext cx="5495925" cy="2609850"/>
          </a:xfrm>
          <a:prstGeom prst="rect">
            <a:avLst/>
          </a:prstGeom>
        </p:spPr>
      </p:pic>
      <p:pic>
        <p:nvPicPr>
          <p:cNvPr id="14" name="Picture 13">
            <a:extLst>
              <a:ext uri="{FF2B5EF4-FFF2-40B4-BE49-F238E27FC236}">
                <a16:creationId xmlns:a16="http://schemas.microsoft.com/office/drawing/2014/main" id="{D1C38B31-9CCA-E376-3118-FC9BF83A0CA6}"/>
              </a:ext>
            </a:extLst>
          </p:cNvPr>
          <p:cNvPicPr>
            <a:picLocks noChangeAspect="1"/>
          </p:cNvPicPr>
          <p:nvPr/>
        </p:nvPicPr>
        <p:blipFill>
          <a:blip r:embed="rId3"/>
          <a:stretch>
            <a:fillRect/>
          </a:stretch>
        </p:blipFill>
        <p:spPr>
          <a:xfrm>
            <a:off x="350520" y="2940666"/>
            <a:ext cx="4973002" cy="3543868"/>
          </a:xfrm>
          <a:prstGeom prst="rect">
            <a:avLst/>
          </a:prstGeom>
        </p:spPr>
      </p:pic>
      <p:sp>
        <p:nvSpPr>
          <p:cNvPr id="16" name="TextBox 15">
            <a:extLst>
              <a:ext uri="{FF2B5EF4-FFF2-40B4-BE49-F238E27FC236}">
                <a16:creationId xmlns:a16="http://schemas.microsoft.com/office/drawing/2014/main" id="{8311695B-7D80-F3F1-A689-500C702B1F30}"/>
              </a:ext>
            </a:extLst>
          </p:cNvPr>
          <p:cNvSpPr txBox="1"/>
          <p:nvPr/>
        </p:nvSpPr>
        <p:spPr>
          <a:xfrm>
            <a:off x="701040" y="2576771"/>
            <a:ext cx="6096000" cy="523220"/>
          </a:xfrm>
          <a:prstGeom prst="rect">
            <a:avLst/>
          </a:prstGeom>
          <a:noFill/>
        </p:spPr>
        <p:txBody>
          <a:bodyPr wrap="square">
            <a:spAutoFit/>
          </a:bodyPr>
          <a:lstStyle/>
          <a:p>
            <a:r>
              <a:rPr lang="en-US" sz="1400" dirty="0"/>
              <a:t>Fig: Diagram represents a hardware depiction of LFSR with N=4</a:t>
            </a:r>
          </a:p>
          <a:p>
            <a:endParaRPr lang="en-US" sz="1400" dirty="0"/>
          </a:p>
        </p:txBody>
      </p:sp>
      <p:cxnSp>
        <p:nvCxnSpPr>
          <p:cNvPr id="18" name="Straight Connector 17">
            <a:extLst>
              <a:ext uri="{FF2B5EF4-FFF2-40B4-BE49-F238E27FC236}">
                <a16:creationId xmlns:a16="http://schemas.microsoft.com/office/drawing/2014/main" id="{23334325-2C01-46E5-5465-105ACD22A501}"/>
              </a:ext>
            </a:extLst>
          </p:cNvPr>
          <p:cNvCxnSpPr/>
          <p:nvPr/>
        </p:nvCxnSpPr>
        <p:spPr>
          <a:xfrm flipH="1">
            <a:off x="0" y="2872095"/>
            <a:ext cx="567404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494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A2C2-0186-A9EB-8913-1C70B92EC1E8}"/>
              </a:ext>
            </a:extLst>
          </p:cNvPr>
          <p:cNvSpPr>
            <a:spLocks noGrp="1"/>
          </p:cNvSpPr>
          <p:nvPr>
            <p:ph type="title"/>
          </p:nvPr>
        </p:nvSpPr>
        <p:spPr>
          <a:xfrm>
            <a:off x="1066800" y="499533"/>
            <a:ext cx="10476271" cy="1658198"/>
          </a:xfrm>
        </p:spPr>
        <p:txBody>
          <a:bodyPr>
            <a:normAutofit/>
          </a:bodyPr>
          <a:lstStyle/>
          <a:p>
            <a:r>
              <a:rPr lang="en-US" dirty="0"/>
              <a:t>Features of LFSR</a:t>
            </a:r>
          </a:p>
        </p:txBody>
      </p:sp>
      <p:sp>
        <p:nvSpPr>
          <p:cNvPr id="3" name="Content Placeholder 2">
            <a:extLst>
              <a:ext uri="{FF2B5EF4-FFF2-40B4-BE49-F238E27FC236}">
                <a16:creationId xmlns:a16="http://schemas.microsoft.com/office/drawing/2014/main" id="{9BFFC0E0-7288-969E-B4CC-DB1F4CE97A0E}"/>
              </a:ext>
            </a:extLst>
          </p:cNvPr>
          <p:cNvSpPr>
            <a:spLocks noGrp="1"/>
          </p:cNvSpPr>
          <p:nvPr>
            <p:ph idx="1"/>
          </p:nvPr>
        </p:nvSpPr>
        <p:spPr>
          <a:xfrm>
            <a:off x="894080" y="2011680"/>
            <a:ext cx="10648991" cy="3864732"/>
          </a:xfrm>
        </p:spPr>
        <p:txBody>
          <a:bodyPr>
            <a:normAutofit/>
          </a:bodyPr>
          <a:lstStyle/>
          <a:p>
            <a:pPr lvl="1">
              <a:buFont typeface="Arial" panose="020B0604020202020204" pitchFamily="34" charset="0"/>
              <a:buChar char="•"/>
            </a:pPr>
            <a:r>
              <a:rPr lang="en-US" dirty="0"/>
              <a:t>Pseudo-Random numbers from LSFR are generated based on initial values loaded to LFSR (known as a seed value)</a:t>
            </a:r>
          </a:p>
          <a:p>
            <a:pPr lvl="2">
              <a:buFont typeface="Arial" panose="020B0604020202020204" pitchFamily="34" charset="0"/>
              <a:buChar char="•"/>
            </a:pPr>
            <a:r>
              <a:rPr lang="en-US" dirty="0"/>
              <a:t>Pseudo-random because it is seemingly random, although a pattern can be determined if we know the seed value and XOR tap configuration</a:t>
            </a:r>
          </a:p>
          <a:p>
            <a:pPr lvl="1">
              <a:buFont typeface="Arial" panose="020B0604020202020204" pitchFamily="34" charset="0"/>
              <a:buChar char="•"/>
            </a:pPr>
            <a:r>
              <a:rPr lang="en-US" dirty="0"/>
              <a:t>It requires very less hardware:</a:t>
            </a:r>
          </a:p>
          <a:p>
            <a:pPr marL="745236" lvl="2" indent="-342900">
              <a:buFont typeface="Wingdings" panose="05000000000000000000" pitchFamily="2" charset="2"/>
              <a:buChar char="§"/>
            </a:pPr>
            <a:r>
              <a:rPr lang="en-US" dirty="0"/>
              <a:t>Built from simple shift-registers with a small number of </a:t>
            </a:r>
            <a:r>
              <a:rPr lang="en-US" dirty="0" err="1"/>
              <a:t>xor</a:t>
            </a:r>
            <a:r>
              <a:rPr lang="en-US" dirty="0"/>
              <a:t> gates</a:t>
            </a:r>
            <a:endParaRPr lang="en-US" i="1" dirty="0"/>
          </a:p>
          <a:p>
            <a:pPr marL="745236" lvl="2" indent="-342900">
              <a:buFont typeface="Wingdings" panose="05000000000000000000" pitchFamily="2" charset="2"/>
              <a:buChar char="§"/>
            </a:pPr>
            <a:r>
              <a:rPr lang="en-US" dirty="0"/>
              <a:t>N-bit LSFR would require N number of flip-flop</a:t>
            </a:r>
          </a:p>
          <a:p>
            <a:pPr marL="745236" lvl="2" indent="-342900">
              <a:buFont typeface="Wingdings" panose="05000000000000000000" pitchFamily="2" charset="2"/>
              <a:buChar char="§"/>
            </a:pPr>
            <a:r>
              <a:rPr lang="en-US" i="1" dirty="0"/>
              <a:t>N-bit LSFR will generate deterministic 2N-1 data patterns</a:t>
            </a:r>
          </a:p>
          <a:p>
            <a:pPr marL="288036" indent="-342900">
              <a:buFont typeface="Arial" panose="020B0604020202020204" pitchFamily="34" charset="0"/>
              <a:buChar char="•"/>
            </a:pPr>
            <a:r>
              <a:rPr lang="en-US" dirty="0"/>
              <a:t>Can perform really fast</a:t>
            </a:r>
          </a:p>
          <a:p>
            <a:pPr marL="288036" indent="-342900">
              <a:buFont typeface="Arial" panose="020B0604020202020204" pitchFamily="34" charset="0"/>
              <a:buChar char="•"/>
            </a:pPr>
            <a:endParaRPr lang="en-US" dirty="0"/>
          </a:p>
        </p:txBody>
      </p:sp>
    </p:spTree>
    <p:extLst>
      <p:ext uri="{BB962C8B-B14F-4D97-AF65-F5344CB8AC3E}">
        <p14:creationId xmlns:p14="http://schemas.microsoft.com/office/powerpoint/2010/main" val="778914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C233-784B-25BF-E271-D06A7CD27518}"/>
              </a:ext>
            </a:extLst>
          </p:cNvPr>
          <p:cNvSpPr>
            <a:spLocks noGrp="1"/>
          </p:cNvSpPr>
          <p:nvPr>
            <p:ph type="title"/>
          </p:nvPr>
        </p:nvSpPr>
        <p:spPr/>
        <p:txBody>
          <a:bodyPr/>
          <a:lstStyle/>
          <a:p>
            <a:r>
              <a:rPr lang="en-US" dirty="0"/>
              <a:t>Some applications of LFSR (Optional)</a:t>
            </a:r>
          </a:p>
        </p:txBody>
      </p:sp>
      <p:sp>
        <p:nvSpPr>
          <p:cNvPr id="3" name="Content Placeholder 2">
            <a:extLst>
              <a:ext uri="{FF2B5EF4-FFF2-40B4-BE49-F238E27FC236}">
                <a16:creationId xmlns:a16="http://schemas.microsoft.com/office/drawing/2014/main" id="{B74DEACB-8B82-60D0-0D95-6C767C0B1EB0}"/>
              </a:ext>
            </a:extLst>
          </p:cNvPr>
          <p:cNvSpPr>
            <a:spLocks noGrp="1"/>
          </p:cNvSpPr>
          <p:nvPr>
            <p:ph idx="1"/>
          </p:nvPr>
        </p:nvSpPr>
        <p:spPr/>
        <p:txBody>
          <a:bodyPr>
            <a:noAutofit/>
          </a:bodyPr>
          <a:lstStyle/>
          <a:p>
            <a:pPr lvl="1">
              <a:buFont typeface="Arial" panose="020B0604020202020204" pitchFamily="34" charset="0"/>
              <a:buChar char="•"/>
            </a:pPr>
            <a:r>
              <a:rPr lang="en-US" b="1" i="0" dirty="0">
                <a:solidFill>
                  <a:srgbClr val="374151"/>
                </a:solidFill>
                <a:effectLst/>
              </a:rPr>
              <a:t>Pseudo-random number generation</a:t>
            </a:r>
            <a:r>
              <a:rPr lang="en-US" b="0" i="0" dirty="0">
                <a:solidFill>
                  <a:srgbClr val="374151"/>
                </a:solidFill>
                <a:effectLst/>
              </a:rPr>
              <a:t>: </a:t>
            </a:r>
            <a:r>
              <a:rPr lang="en-US" sz="2000" b="0" i="0" dirty="0">
                <a:solidFill>
                  <a:srgbClr val="374151"/>
                </a:solidFill>
                <a:effectLst/>
              </a:rPr>
              <a:t>LFSRs can be used to generate sequences of pseudo-random numbers that can be used in cryptography and simulation applications.</a:t>
            </a:r>
          </a:p>
          <a:p>
            <a:pPr lvl="1">
              <a:buFont typeface="Arial" panose="020B0604020202020204" pitchFamily="34" charset="0"/>
              <a:buChar char="•"/>
            </a:pPr>
            <a:r>
              <a:rPr lang="en-US" b="1" dirty="0"/>
              <a:t>Counters</a:t>
            </a:r>
            <a:r>
              <a:rPr lang="en-US" dirty="0"/>
              <a:t>: </a:t>
            </a:r>
            <a:r>
              <a:rPr lang="en-US" sz="2000" b="0" i="0" dirty="0">
                <a:solidFill>
                  <a:srgbClr val="374151"/>
                </a:solidFill>
                <a:effectLst/>
              </a:rPr>
              <a:t>An LFSR with n stages can count from 0 to 2^n-1 (in random order) and can be incremented by clocking the LFSR once. They are simple, efficient and widely used in digital systems.</a:t>
            </a:r>
            <a:endParaRPr lang="en-US" sz="2000" b="1" i="0" dirty="0">
              <a:solidFill>
                <a:srgbClr val="374151"/>
              </a:solidFill>
              <a:effectLst/>
            </a:endParaRPr>
          </a:p>
          <a:p>
            <a:pPr lvl="1">
              <a:buFont typeface="Arial" panose="020B0604020202020204" pitchFamily="34" charset="0"/>
              <a:buChar char="•"/>
            </a:pPr>
            <a:r>
              <a:rPr lang="en-US" b="1" i="0" dirty="0">
                <a:solidFill>
                  <a:srgbClr val="374151"/>
                </a:solidFill>
                <a:effectLst/>
              </a:rPr>
              <a:t>Compression</a:t>
            </a:r>
            <a:r>
              <a:rPr lang="en-US" b="0" i="0" dirty="0">
                <a:solidFill>
                  <a:srgbClr val="374151"/>
                </a:solidFill>
                <a:effectLst/>
              </a:rPr>
              <a:t>: </a:t>
            </a:r>
            <a:r>
              <a:rPr lang="en-US" sz="2000" b="0" i="0" dirty="0">
                <a:solidFill>
                  <a:srgbClr val="374151"/>
                </a:solidFill>
                <a:effectLst/>
              </a:rPr>
              <a:t>LFSRs can be used in data compression algorithms to reduce the size of data being transmitted or stored.</a:t>
            </a:r>
          </a:p>
          <a:p>
            <a:pPr lvl="1">
              <a:buFont typeface="Arial" panose="020B0604020202020204" pitchFamily="34" charset="0"/>
              <a:buChar char="•"/>
            </a:pPr>
            <a:r>
              <a:rPr lang="en-US" b="1" i="0" dirty="0">
                <a:solidFill>
                  <a:srgbClr val="374151"/>
                </a:solidFill>
                <a:effectLst/>
              </a:rPr>
              <a:t>Error detection and correction</a:t>
            </a:r>
            <a:r>
              <a:rPr lang="en-US" b="0" i="0" dirty="0">
                <a:solidFill>
                  <a:srgbClr val="374151"/>
                </a:solidFill>
                <a:effectLst/>
              </a:rPr>
              <a:t>: </a:t>
            </a:r>
            <a:r>
              <a:rPr lang="en-US" sz="2000" b="0" i="0" dirty="0">
                <a:solidFill>
                  <a:srgbClr val="374151"/>
                </a:solidFill>
                <a:effectLst/>
              </a:rPr>
              <a:t>LFSRs can be used in error detection and correction codes, where they are used to generate error-checking sequences that can be used to detect and correct errors in digital signals.</a:t>
            </a:r>
          </a:p>
          <a:p>
            <a:pPr lvl="1">
              <a:buFont typeface="Arial" panose="020B0604020202020204" pitchFamily="34" charset="0"/>
              <a:buChar char="•"/>
            </a:pPr>
            <a:r>
              <a:rPr lang="en-US" b="1" i="0" dirty="0">
                <a:solidFill>
                  <a:srgbClr val="374151"/>
                </a:solidFill>
                <a:effectLst/>
              </a:rPr>
              <a:t>Test pattern generation</a:t>
            </a:r>
            <a:r>
              <a:rPr lang="en-US" b="0" i="0" dirty="0">
                <a:solidFill>
                  <a:srgbClr val="374151"/>
                </a:solidFill>
                <a:effectLst/>
              </a:rPr>
              <a:t>: </a:t>
            </a:r>
            <a:r>
              <a:rPr lang="en-US" sz="2000" b="0" i="0" dirty="0">
                <a:solidFill>
                  <a:srgbClr val="374151"/>
                </a:solidFill>
                <a:effectLst/>
              </a:rPr>
              <a:t>LFSRs can be used in the testing and validation of digital systems, where they are used to generate test patterns that can be used to verify the functionality of digital circuits.</a:t>
            </a:r>
          </a:p>
        </p:txBody>
      </p:sp>
    </p:spTree>
    <p:extLst>
      <p:ext uri="{BB962C8B-B14F-4D97-AF65-F5344CB8AC3E}">
        <p14:creationId xmlns:p14="http://schemas.microsoft.com/office/powerpoint/2010/main" val="251079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D1C6-4CBE-B1E6-0F7D-AEAEF73742F9}"/>
              </a:ext>
            </a:extLst>
          </p:cNvPr>
          <p:cNvSpPr>
            <a:spLocks noGrp="1"/>
          </p:cNvSpPr>
          <p:nvPr>
            <p:ph type="title"/>
          </p:nvPr>
        </p:nvSpPr>
        <p:spPr>
          <a:xfrm>
            <a:off x="398418" y="148382"/>
            <a:ext cx="10154383" cy="1450757"/>
          </a:xfrm>
        </p:spPr>
        <p:txBody>
          <a:bodyPr>
            <a:normAutofit fontScale="90000"/>
          </a:bodyPr>
          <a:lstStyle/>
          <a:p>
            <a:r>
              <a:rPr lang="en-US" dirty="0"/>
              <a:t>Which flops to tap and pass to XOR gate? </a:t>
            </a:r>
          </a:p>
        </p:txBody>
      </p:sp>
      <p:sp>
        <p:nvSpPr>
          <p:cNvPr id="3" name="Content Placeholder 2">
            <a:extLst>
              <a:ext uri="{FF2B5EF4-FFF2-40B4-BE49-F238E27FC236}">
                <a16:creationId xmlns:a16="http://schemas.microsoft.com/office/drawing/2014/main" id="{8C44DC35-6E1D-4012-2288-001D17838942}"/>
              </a:ext>
            </a:extLst>
          </p:cNvPr>
          <p:cNvSpPr>
            <a:spLocks noGrp="1"/>
          </p:cNvSpPr>
          <p:nvPr>
            <p:ph idx="1"/>
          </p:nvPr>
        </p:nvSpPr>
        <p:spPr>
          <a:xfrm>
            <a:off x="5475608" y="1262009"/>
            <a:ext cx="6127111" cy="4117077"/>
          </a:xfrm>
        </p:spPr>
        <p:txBody>
          <a:bodyPr>
            <a:noAutofit/>
          </a:bodyPr>
          <a:lstStyle/>
          <a:p>
            <a:pPr marL="4572" lvl="1" indent="0">
              <a:buNone/>
            </a:pPr>
            <a:r>
              <a:rPr lang="en-US" kern="1200" spc="-120" baseline="0" dirty="0">
                <a:solidFill>
                  <a:srgbClr val="50B4C8"/>
                </a:solidFill>
                <a:effectLst/>
                <a:latin typeface="Calibri Light" panose="020F0302020204030204" pitchFamily="34" charset="0"/>
                <a:ea typeface="+mj-ea"/>
                <a:cs typeface="+mj-cs"/>
              </a:rPr>
              <a:t>Linear Feedback Polynomials</a:t>
            </a:r>
            <a:endParaRPr lang="en-US" dirty="0"/>
          </a:p>
          <a:p>
            <a:pPr lvl="1">
              <a:buFont typeface="Arial" panose="020B0604020202020204" pitchFamily="34" charset="0"/>
              <a:buChar char="•"/>
            </a:pPr>
            <a:r>
              <a:rPr lang="en-US" sz="1800" dirty="0"/>
              <a:t>The XOR logic is driven by a linear feedback polynomial equation. There are multiple feedback polynomials possible but only a few of them yield a maximal-length polynomial (when period length = 2</a:t>
            </a:r>
            <a:r>
              <a:rPr lang="en-US" sz="1800" baseline="30000" dirty="0"/>
              <a:t>N</a:t>
            </a:r>
            <a:r>
              <a:rPr lang="en-US" sz="1800" dirty="0"/>
              <a:t>-1)</a:t>
            </a:r>
          </a:p>
          <a:p>
            <a:pPr lvl="1">
              <a:buFont typeface="Arial" panose="020B0604020202020204" pitchFamily="34" charset="0"/>
              <a:buChar char="•"/>
            </a:pPr>
            <a:r>
              <a:rPr lang="en-US" sz="1800" b="1" dirty="0"/>
              <a:t>Maximal length polynomial is one that yields maximum number of states in one LFSR cycle</a:t>
            </a:r>
            <a:r>
              <a:rPr lang="en-US" sz="1800" dirty="0"/>
              <a:t/>
            </a:r>
            <a:br>
              <a:rPr lang="en-US" sz="1800" dirty="0"/>
            </a:br>
            <a:r>
              <a:rPr lang="en-US" sz="1800" dirty="0"/>
              <a:t>(Maximum number of states with N bits is 2</a:t>
            </a:r>
            <a:r>
              <a:rPr lang="en-US" sz="1800" baseline="30000" dirty="0"/>
              <a:t>N</a:t>
            </a:r>
            <a:r>
              <a:rPr lang="en-US" sz="1800" dirty="0"/>
              <a:t>-1). Think about how LFSR will work if all flops are loaded with value ‘0’.</a:t>
            </a:r>
            <a:endParaRPr lang="en-US" sz="1800" baseline="30000" dirty="0"/>
          </a:p>
          <a:p>
            <a:pPr lvl="1">
              <a:buFont typeface="Arial" panose="020B0604020202020204" pitchFamily="34" charset="0"/>
              <a:buChar char="•"/>
            </a:pPr>
            <a:r>
              <a:rPr lang="en-US" sz="1800" dirty="0"/>
              <a:t>Conditions necessary for maximal length (</a:t>
            </a:r>
            <a:r>
              <a:rPr lang="en-US" sz="1800" b="1" dirty="0"/>
              <a:t>but not sufficient</a:t>
            </a:r>
            <a:r>
              <a:rPr lang="en-US" sz="1800" dirty="0"/>
              <a:t>):</a:t>
            </a:r>
          </a:p>
          <a:p>
            <a:pPr marL="726948" lvl="2" indent="-342900">
              <a:buFont typeface="+mj-lt"/>
              <a:buAutoNum type="arabicPeriod"/>
            </a:pPr>
            <a:r>
              <a:rPr lang="en-US" sz="1800" dirty="0"/>
              <a:t>The number of taps is even</a:t>
            </a:r>
          </a:p>
          <a:p>
            <a:pPr marL="726948" lvl="2" indent="-342900">
              <a:buFont typeface="+mj-lt"/>
              <a:buAutoNum type="arabicPeriod"/>
            </a:pPr>
            <a:r>
              <a:rPr lang="en-US" sz="1800" dirty="0"/>
              <a:t>The set of taps is set wise co-prime. i.e., there must be no divisor other than 1 common to all taps</a:t>
            </a:r>
            <a:br>
              <a:rPr lang="en-US" sz="1800" dirty="0"/>
            </a:br>
            <a:endParaRPr lang="en-US" sz="1800" dirty="0"/>
          </a:p>
          <a:p>
            <a:pPr lvl="1">
              <a:buFont typeface="Arial" panose="020B0604020202020204" pitchFamily="34" charset="0"/>
              <a:buChar char="•"/>
            </a:pPr>
            <a:r>
              <a:rPr lang="en-US" sz="1800" dirty="0">
                <a:effectLst/>
                <a:ea typeface="Calibri" panose="020F0502020204030204" pitchFamily="34" charset="0"/>
                <a:cs typeface="Times New Roman" panose="02020603050405020304" pitchFamily="18" charset="0"/>
              </a:rPr>
              <a:t>Table of primitive polynomials from which maximum-length LFSRs can be constructed are given in the table on the slide and in the write-up</a:t>
            </a:r>
          </a:p>
          <a:p>
            <a:pPr lvl="1">
              <a:buFont typeface="Arial" panose="020B0604020202020204" pitchFamily="34" charset="0"/>
              <a:buChar char="•"/>
            </a:pPr>
            <a:r>
              <a:rPr lang="en-US" sz="1800" b="1" dirty="0">
                <a:cs typeface="Times New Roman" panose="02020603050405020304" pitchFamily="18" charset="0"/>
              </a:rPr>
              <a:t>Use these polynomial values given in table to develop the parameterized Verilog code</a:t>
            </a:r>
            <a:endParaRPr lang="en-US" sz="1400" b="1" dirty="0">
              <a:cs typeface="Times New Roman" panose="02020603050405020304" pitchFamily="18" charset="0"/>
            </a:endParaRPr>
          </a:p>
          <a:p>
            <a:pPr lvl="1">
              <a:buFont typeface="Arial" panose="020B0604020202020204" pitchFamily="34" charset="0"/>
              <a:buChar char="•"/>
            </a:pPr>
            <a:r>
              <a:rPr lang="en-US" sz="1800" dirty="0">
                <a:cs typeface="Times New Roman" panose="02020603050405020304" pitchFamily="18" charset="0"/>
              </a:rPr>
              <a:t>A single Verilog file should work for values of N from 2 to 8</a:t>
            </a:r>
          </a:p>
        </p:txBody>
      </p:sp>
      <p:pic>
        <p:nvPicPr>
          <p:cNvPr id="5" name="Picture 4">
            <a:extLst>
              <a:ext uri="{FF2B5EF4-FFF2-40B4-BE49-F238E27FC236}">
                <a16:creationId xmlns:a16="http://schemas.microsoft.com/office/drawing/2014/main" id="{F9A8B2C2-81F0-45A6-A959-47F13DBFE441}"/>
              </a:ext>
            </a:extLst>
          </p:cNvPr>
          <p:cNvPicPr>
            <a:picLocks noChangeAspect="1"/>
          </p:cNvPicPr>
          <p:nvPr/>
        </p:nvPicPr>
        <p:blipFill>
          <a:blip r:embed="rId2"/>
          <a:stretch>
            <a:fillRect/>
          </a:stretch>
        </p:blipFill>
        <p:spPr>
          <a:xfrm>
            <a:off x="147856" y="1370461"/>
            <a:ext cx="4970624" cy="3232128"/>
          </a:xfrm>
          <a:prstGeom prst="rect">
            <a:avLst/>
          </a:prstGeom>
        </p:spPr>
      </p:pic>
      <p:sp>
        <p:nvSpPr>
          <p:cNvPr id="6" name="TextBox 5">
            <a:extLst>
              <a:ext uri="{FF2B5EF4-FFF2-40B4-BE49-F238E27FC236}">
                <a16:creationId xmlns:a16="http://schemas.microsoft.com/office/drawing/2014/main" id="{F91BC8D2-293F-BE43-BF7B-61BFE68A223F}"/>
              </a:ext>
            </a:extLst>
          </p:cNvPr>
          <p:cNvSpPr txBox="1"/>
          <p:nvPr/>
        </p:nvSpPr>
        <p:spPr>
          <a:xfrm>
            <a:off x="133633" y="5976448"/>
            <a:ext cx="5341975" cy="923330"/>
          </a:xfrm>
          <a:prstGeom prst="rect">
            <a:avLst/>
          </a:prstGeom>
          <a:noFill/>
        </p:spPr>
        <p:txBody>
          <a:bodyPr wrap="none" rtlCol="0">
            <a:spAutoFit/>
          </a:bodyPr>
          <a:lstStyle/>
          <a:p>
            <a:r>
              <a:rPr lang="en-US" dirty="0"/>
              <a:t>The tap positions used for feedback are represented by </a:t>
            </a:r>
          </a:p>
          <a:p>
            <a:r>
              <a:rPr lang="en-US" dirty="0"/>
              <a:t>the exponents in the polynomial </a:t>
            </a:r>
          </a:p>
          <a:p>
            <a:endParaRPr lang="en-US" dirty="0"/>
          </a:p>
        </p:txBody>
      </p:sp>
      <p:pic>
        <p:nvPicPr>
          <p:cNvPr id="8" name="Picture 7">
            <a:extLst>
              <a:ext uri="{FF2B5EF4-FFF2-40B4-BE49-F238E27FC236}">
                <a16:creationId xmlns:a16="http://schemas.microsoft.com/office/drawing/2014/main" id="{B746E144-BEFD-C10F-9CA3-D9C47F19A776}"/>
              </a:ext>
            </a:extLst>
          </p:cNvPr>
          <p:cNvPicPr>
            <a:picLocks noChangeAspect="1"/>
          </p:cNvPicPr>
          <p:nvPr/>
        </p:nvPicPr>
        <p:blipFill>
          <a:blip r:embed="rId3"/>
          <a:stretch>
            <a:fillRect/>
          </a:stretch>
        </p:blipFill>
        <p:spPr>
          <a:xfrm>
            <a:off x="589281" y="4773934"/>
            <a:ext cx="2852079" cy="1192263"/>
          </a:xfrm>
          <a:prstGeom prst="rect">
            <a:avLst/>
          </a:prstGeom>
        </p:spPr>
      </p:pic>
      <p:sp>
        <p:nvSpPr>
          <p:cNvPr id="9" name="TextBox 8">
            <a:extLst>
              <a:ext uri="{FF2B5EF4-FFF2-40B4-BE49-F238E27FC236}">
                <a16:creationId xmlns:a16="http://schemas.microsoft.com/office/drawing/2014/main" id="{7BD81306-A92C-6C70-226D-7E4877E92D50}"/>
              </a:ext>
            </a:extLst>
          </p:cNvPr>
          <p:cNvSpPr txBox="1"/>
          <p:nvPr/>
        </p:nvSpPr>
        <p:spPr>
          <a:xfrm>
            <a:off x="-122912" y="4490642"/>
            <a:ext cx="5855064" cy="375552"/>
          </a:xfrm>
          <a:prstGeom prst="rect">
            <a:avLst/>
          </a:prstGeom>
          <a:noFill/>
        </p:spPr>
        <p:txBody>
          <a:bodyPr wrap="none" rtlCol="0">
            <a:spAutoFit/>
          </a:bodyPr>
          <a:lstStyle/>
          <a:p>
            <a:pPr marL="342900" marR="0" lvl="0" indent="-342900">
              <a:lnSpc>
                <a:spcPct val="107000"/>
              </a:lnSpc>
              <a:spcBef>
                <a:spcPts val="0"/>
              </a:spcBef>
              <a:spcAft>
                <a:spcPts val="800"/>
              </a:spcAft>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Table of maximal length polynomials to be used in Code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4FC764A3-35C8-B517-76F7-1D8CBECEAF24}"/>
              </a:ext>
            </a:extLst>
          </p:cNvPr>
          <p:cNvSpPr/>
          <p:nvPr/>
        </p:nvSpPr>
        <p:spPr>
          <a:xfrm>
            <a:off x="1640028" y="2376910"/>
            <a:ext cx="1036320" cy="27432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1CFD664E-B7B1-E563-3A5C-CC53AED4257A}"/>
              </a:ext>
            </a:extLst>
          </p:cNvPr>
          <p:cNvCxnSpPr>
            <a:cxnSpLocks/>
          </p:cNvCxnSpPr>
          <p:nvPr/>
        </p:nvCxnSpPr>
        <p:spPr>
          <a:xfrm rot="10800000" flipV="1">
            <a:off x="441236" y="2514070"/>
            <a:ext cx="1050747" cy="2855996"/>
          </a:xfrm>
          <a:prstGeom prst="bentConnector3">
            <a:avLst>
              <a:gd name="adj1" fmla="val 121756"/>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307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D3FC-BC19-6346-96A3-DE99C48F52E5}"/>
              </a:ext>
            </a:extLst>
          </p:cNvPr>
          <p:cNvSpPr>
            <a:spLocks noGrp="1"/>
          </p:cNvSpPr>
          <p:nvPr>
            <p:ph type="title"/>
          </p:nvPr>
        </p:nvSpPr>
        <p:spPr/>
        <p:txBody>
          <a:bodyPr>
            <a:normAutofit fontScale="90000"/>
          </a:bodyPr>
          <a:lstStyle/>
          <a:p>
            <a:r>
              <a:rPr lang="en-US" dirty="0"/>
              <a:t>How to translate polynomial to Hardware? </a:t>
            </a:r>
            <a:br>
              <a:rPr lang="en-US" dirty="0"/>
            </a:br>
            <a:endParaRPr lang="en-US" dirty="0"/>
          </a:p>
        </p:txBody>
      </p:sp>
      <p:sp>
        <p:nvSpPr>
          <p:cNvPr id="3" name="Content Placeholder 2">
            <a:extLst>
              <a:ext uri="{FF2B5EF4-FFF2-40B4-BE49-F238E27FC236}">
                <a16:creationId xmlns:a16="http://schemas.microsoft.com/office/drawing/2014/main" id="{39CE6110-9D5E-A3B8-1D30-88784A95DA8F}"/>
              </a:ext>
            </a:extLst>
          </p:cNvPr>
          <p:cNvSpPr>
            <a:spLocks noGrp="1"/>
          </p:cNvSpPr>
          <p:nvPr>
            <p:ph idx="1"/>
          </p:nvPr>
        </p:nvSpPr>
        <p:spPr>
          <a:xfrm>
            <a:off x="676656" y="2011680"/>
            <a:ext cx="10753725" cy="4216400"/>
          </a:xfrm>
        </p:spPr>
        <p:txBody>
          <a:bodyPr>
            <a:normAutofit/>
          </a:bodyPr>
          <a:lstStyle/>
          <a:p>
            <a:pPr lvl="1">
              <a:buFont typeface="Arial" panose="020B0604020202020204" pitchFamily="34" charset="0"/>
              <a:buChar char="•"/>
            </a:pPr>
            <a:r>
              <a:rPr lang="en-US" dirty="0"/>
              <a:t>Look at the exponents of the polynomials…they are the positions for the taps</a:t>
            </a:r>
          </a:p>
          <a:p>
            <a:pPr lvl="1">
              <a:buFont typeface="Arial" panose="020B0604020202020204" pitchFamily="34" charset="0"/>
              <a:buChar char="•"/>
            </a:pPr>
            <a:r>
              <a:rPr lang="en-US" dirty="0"/>
              <a:t>The flops corresponding to these taps will be used as input of XOR gate. </a:t>
            </a:r>
          </a:p>
          <a:p>
            <a:pPr lvl="1">
              <a:buFont typeface="Arial" panose="020B0604020202020204" pitchFamily="34" charset="0"/>
              <a:buChar char="•"/>
            </a:pPr>
            <a:r>
              <a:rPr lang="en-US" dirty="0"/>
              <a:t>In the feedback equation, the +1 at the end of the equation is representative of the input going into the D-port of the LSB flop (the feedback)</a:t>
            </a:r>
          </a:p>
          <a:p>
            <a:pPr lvl="1">
              <a:buFont typeface="Arial" panose="020B0604020202020204" pitchFamily="34" charset="0"/>
              <a:buChar char="•"/>
            </a:pPr>
            <a:r>
              <a:rPr lang="en-US" dirty="0"/>
              <a:t>For Hardware, the indices we use will be one less than the one provided in the exponent.</a:t>
            </a:r>
          </a:p>
          <a:p>
            <a:pPr lvl="1">
              <a:buFont typeface="Arial" panose="020B0604020202020204" pitchFamily="34" charset="0"/>
              <a:buChar char="•"/>
            </a:pPr>
            <a:endParaRPr lang="en-US" dirty="0"/>
          </a:p>
          <a:p>
            <a:pPr lvl="1">
              <a:buFont typeface="Arial" panose="020B0604020202020204" pitchFamily="34" charset="0"/>
              <a:buChar char="•"/>
            </a:pPr>
            <a:r>
              <a:rPr lang="en-US" dirty="0"/>
              <a:t>To illustrate this, we are providing the pseudocode for the XOR for N=4</a:t>
            </a:r>
          </a:p>
          <a:p>
            <a:pPr lvl="1">
              <a:buFont typeface="Arial" panose="020B0604020202020204" pitchFamily="34" charset="0"/>
              <a:buChar char="•"/>
            </a:pPr>
            <a:r>
              <a:rPr lang="en-US" dirty="0"/>
              <a:t>For N=4: polynomial is x</a:t>
            </a:r>
            <a:r>
              <a:rPr lang="en-US" baseline="30000" dirty="0"/>
              <a:t>4</a:t>
            </a:r>
            <a:r>
              <a:rPr lang="en-US" dirty="0"/>
              <a:t>+ x</a:t>
            </a:r>
            <a:r>
              <a:rPr lang="en-US" baseline="30000" dirty="0"/>
              <a:t>3</a:t>
            </a:r>
            <a:r>
              <a:rPr lang="en-US" dirty="0"/>
              <a:t> + 1</a:t>
            </a:r>
          </a:p>
          <a:p>
            <a:pPr lvl="1">
              <a:buFont typeface="Arial" panose="020B0604020202020204" pitchFamily="34" charset="0"/>
              <a:buChar char="•"/>
            </a:pPr>
            <a:r>
              <a:rPr lang="en-US" dirty="0"/>
              <a:t>Pseudo-code: </a:t>
            </a:r>
          </a:p>
          <a:p>
            <a:pPr lvl="3">
              <a:buFont typeface="Arial" panose="020B0604020202020204" pitchFamily="34" charset="0"/>
              <a:buChar char="•"/>
            </a:pPr>
            <a:r>
              <a:rPr lang="en-US" i="1" dirty="0" err="1"/>
              <a:t>xor_output</a:t>
            </a:r>
            <a:r>
              <a:rPr lang="en-US" i="1" dirty="0"/>
              <a:t> = </a:t>
            </a:r>
            <a:r>
              <a:rPr lang="en-US" i="1" dirty="0" err="1"/>
              <a:t>lfsr_data</a:t>
            </a:r>
            <a:r>
              <a:rPr lang="en-US" i="1" dirty="0"/>
              <a:t>[3] ^ </a:t>
            </a:r>
            <a:r>
              <a:rPr lang="en-US" i="1" dirty="0" err="1"/>
              <a:t>lfsr_data</a:t>
            </a:r>
            <a:r>
              <a:rPr lang="en-US" i="1" dirty="0"/>
              <a:t>[2]; </a:t>
            </a:r>
          </a:p>
        </p:txBody>
      </p:sp>
    </p:spTree>
    <p:extLst>
      <p:ext uri="{BB962C8B-B14F-4D97-AF65-F5344CB8AC3E}">
        <p14:creationId xmlns:p14="http://schemas.microsoft.com/office/powerpoint/2010/main" val="898736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642BD-235D-D621-A9C5-533954279551}"/>
              </a:ext>
            </a:extLst>
          </p:cNvPr>
          <p:cNvSpPr>
            <a:spLocks noGrp="1"/>
          </p:cNvSpPr>
          <p:nvPr>
            <p:ph type="title"/>
          </p:nvPr>
        </p:nvSpPr>
        <p:spPr>
          <a:xfrm>
            <a:off x="5786937" y="522706"/>
            <a:ext cx="6405063" cy="1450757"/>
          </a:xfrm>
        </p:spPr>
        <p:txBody>
          <a:bodyPr>
            <a:normAutofit fontScale="90000"/>
          </a:bodyPr>
          <a:lstStyle/>
          <a:p>
            <a:r>
              <a:rPr lang="en-US" dirty="0"/>
              <a:t>Example of 4-bit LFSR (revisited)</a:t>
            </a:r>
          </a:p>
        </p:txBody>
      </p:sp>
      <p:sp>
        <p:nvSpPr>
          <p:cNvPr id="3" name="Content Placeholder 2">
            <a:extLst>
              <a:ext uri="{FF2B5EF4-FFF2-40B4-BE49-F238E27FC236}">
                <a16:creationId xmlns:a16="http://schemas.microsoft.com/office/drawing/2014/main" id="{BA491DE0-A8D7-F936-98E0-BE182294F5E2}"/>
              </a:ext>
            </a:extLst>
          </p:cNvPr>
          <p:cNvSpPr>
            <a:spLocks noGrp="1"/>
          </p:cNvSpPr>
          <p:nvPr>
            <p:ph idx="1"/>
          </p:nvPr>
        </p:nvSpPr>
        <p:spPr>
          <a:xfrm>
            <a:off x="5907444" y="2386760"/>
            <a:ext cx="5786009" cy="3670180"/>
          </a:xfrm>
        </p:spPr>
        <p:txBody>
          <a:bodyPr>
            <a:normAutofit/>
          </a:bodyPr>
          <a:lstStyle/>
          <a:p>
            <a:pPr lvl="2">
              <a:buFont typeface="Arial" panose="020B0604020202020204" pitchFamily="34" charset="0"/>
              <a:buChar char="•"/>
            </a:pPr>
            <a:r>
              <a:rPr lang="en-US" dirty="0"/>
              <a:t>Circuit counts through (2</a:t>
            </a:r>
            <a:r>
              <a:rPr lang="en-US" baseline="30000" dirty="0"/>
              <a:t>4</a:t>
            </a:r>
            <a:r>
              <a:rPr lang="en-US" dirty="0"/>
              <a:t> -1)=15 different non-zero bit patterns</a:t>
            </a:r>
          </a:p>
          <a:p>
            <a:pPr lvl="2">
              <a:buFont typeface="Arial" panose="020B0604020202020204" pitchFamily="34" charset="0"/>
              <a:buChar char="•"/>
            </a:pPr>
            <a:r>
              <a:rPr lang="en-US" dirty="0"/>
              <a:t>Polynomial for maximum-length 4-bit LSFR is : x</a:t>
            </a:r>
            <a:r>
              <a:rPr lang="en-US" baseline="30000" dirty="0"/>
              <a:t>4</a:t>
            </a:r>
            <a:r>
              <a:rPr lang="en-US" dirty="0"/>
              <a:t> + x</a:t>
            </a:r>
            <a:r>
              <a:rPr lang="en-US" baseline="30000" dirty="0"/>
              <a:t>3</a:t>
            </a:r>
            <a:r>
              <a:rPr lang="en-US" dirty="0"/>
              <a:t> + 1</a:t>
            </a:r>
          </a:p>
        </p:txBody>
      </p:sp>
      <p:pic>
        <p:nvPicPr>
          <p:cNvPr id="7" name="Picture 6">
            <a:extLst>
              <a:ext uri="{FF2B5EF4-FFF2-40B4-BE49-F238E27FC236}">
                <a16:creationId xmlns:a16="http://schemas.microsoft.com/office/drawing/2014/main" id="{5CFCB207-CB80-4161-95FA-DA888D11A4A8}"/>
              </a:ext>
            </a:extLst>
          </p:cNvPr>
          <p:cNvPicPr>
            <a:picLocks noChangeAspect="1"/>
          </p:cNvPicPr>
          <p:nvPr/>
        </p:nvPicPr>
        <p:blipFill>
          <a:blip r:embed="rId2"/>
          <a:stretch>
            <a:fillRect/>
          </a:stretch>
        </p:blipFill>
        <p:spPr>
          <a:xfrm>
            <a:off x="205087" y="3462243"/>
            <a:ext cx="6038165" cy="3109653"/>
          </a:xfrm>
          <a:prstGeom prst="rect">
            <a:avLst/>
          </a:prstGeom>
        </p:spPr>
      </p:pic>
      <p:pic>
        <p:nvPicPr>
          <p:cNvPr id="5" name="Picture 4">
            <a:extLst>
              <a:ext uri="{FF2B5EF4-FFF2-40B4-BE49-F238E27FC236}">
                <a16:creationId xmlns:a16="http://schemas.microsoft.com/office/drawing/2014/main" id="{30FA1594-4F36-FDC8-BACA-3D11815486A9}"/>
              </a:ext>
            </a:extLst>
          </p:cNvPr>
          <p:cNvPicPr>
            <a:picLocks noChangeAspect="1"/>
          </p:cNvPicPr>
          <p:nvPr/>
        </p:nvPicPr>
        <p:blipFill rotWithShape="1">
          <a:blip r:embed="rId3"/>
          <a:srcRect t="4167" b="5562"/>
          <a:stretch/>
        </p:blipFill>
        <p:spPr>
          <a:xfrm>
            <a:off x="205087" y="158140"/>
            <a:ext cx="5497270" cy="3237618"/>
          </a:xfrm>
          <a:prstGeom prst="rect">
            <a:avLst/>
          </a:prstGeom>
        </p:spPr>
      </p:pic>
    </p:spTree>
    <p:extLst>
      <p:ext uri="{BB962C8B-B14F-4D97-AF65-F5344CB8AC3E}">
        <p14:creationId xmlns:p14="http://schemas.microsoft.com/office/powerpoint/2010/main" val="3420584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4EF3-36B5-F25F-3C20-99E4EAD99EEF}"/>
              </a:ext>
            </a:extLst>
          </p:cNvPr>
          <p:cNvSpPr>
            <a:spLocks noGrp="1"/>
          </p:cNvSpPr>
          <p:nvPr>
            <p:ph type="title"/>
          </p:nvPr>
        </p:nvSpPr>
        <p:spPr/>
        <p:txBody>
          <a:bodyPr/>
          <a:lstStyle/>
          <a:p>
            <a:r>
              <a:rPr lang="en-US" dirty="0"/>
              <a:t>How to parameterize the code? </a:t>
            </a:r>
          </a:p>
        </p:txBody>
      </p:sp>
      <p:sp>
        <p:nvSpPr>
          <p:cNvPr id="3" name="Content Placeholder 2">
            <a:extLst>
              <a:ext uri="{FF2B5EF4-FFF2-40B4-BE49-F238E27FC236}">
                <a16:creationId xmlns:a16="http://schemas.microsoft.com/office/drawing/2014/main" id="{65C610EF-75E6-521C-C156-475FBAA565E5}"/>
              </a:ext>
            </a:extLst>
          </p:cNvPr>
          <p:cNvSpPr>
            <a:spLocks noGrp="1"/>
          </p:cNvSpPr>
          <p:nvPr>
            <p:ph idx="1"/>
          </p:nvPr>
        </p:nvSpPr>
        <p:spPr/>
        <p:txBody>
          <a:bodyPr/>
          <a:lstStyle/>
          <a:p>
            <a:pPr lvl="1">
              <a:buFont typeface="Arial" panose="020B0604020202020204" pitchFamily="34" charset="0"/>
              <a:buChar char="•"/>
            </a:pPr>
            <a:r>
              <a:rPr lang="en-US" dirty="0"/>
              <a:t>A single Verilog file should support values of N from 2 to 8, both inclusive. </a:t>
            </a:r>
          </a:p>
          <a:p>
            <a:pPr lvl="1">
              <a:buFont typeface="Arial" panose="020B0604020202020204" pitchFamily="34" charset="0"/>
              <a:buChar char="•"/>
            </a:pPr>
            <a:r>
              <a:rPr lang="en-US" dirty="0"/>
              <a:t>Try to code such that the code of sequential logic remains the same across the different values of the parameters</a:t>
            </a:r>
          </a:p>
          <a:p>
            <a:pPr lvl="1">
              <a:buFont typeface="Arial" panose="020B0604020202020204" pitchFamily="34" charset="0"/>
              <a:buChar char="•"/>
            </a:pPr>
            <a:r>
              <a:rPr lang="en-US" dirty="0"/>
              <a:t>The combinational logic for XOR gate should be such that it should change with different values of N. Can you think of how to make this “case” work? </a:t>
            </a:r>
          </a:p>
        </p:txBody>
      </p:sp>
    </p:spTree>
    <p:extLst>
      <p:ext uri="{BB962C8B-B14F-4D97-AF65-F5344CB8AC3E}">
        <p14:creationId xmlns:p14="http://schemas.microsoft.com/office/powerpoint/2010/main" val="4114030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F7E98-DB8A-9195-64A0-5BBF6FBFFFC3}"/>
              </a:ext>
            </a:extLst>
          </p:cNvPr>
          <p:cNvSpPr>
            <a:spLocks noGrp="1"/>
          </p:cNvSpPr>
          <p:nvPr>
            <p:ph type="title"/>
          </p:nvPr>
        </p:nvSpPr>
        <p:spPr/>
        <p:txBody>
          <a:bodyPr/>
          <a:lstStyle/>
          <a:p>
            <a:r>
              <a:rPr lang="en-US" dirty="0"/>
              <a:t>Primary Ports of LFSR Design Module</a:t>
            </a:r>
          </a:p>
        </p:txBody>
      </p:sp>
      <p:sp>
        <p:nvSpPr>
          <p:cNvPr id="3" name="Content Placeholder 2">
            <a:extLst>
              <a:ext uri="{FF2B5EF4-FFF2-40B4-BE49-F238E27FC236}">
                <a16:creationId xmlns:a16="http://schemas.microsoft.com/office/drawing/2014/main" id="{F41156B6-A7DB-36EE-69F9-84C7B500C4F5}"/>
              </a:ext>
            </a:extLst>
          </p:cNvPr>
          <p:cNvSpPr>
            <a:spLocks noGrp="1"/>
          </p:cNvSpPr>
          <p:nvPr>
            <p:ph idx="1"/>
          </p:nvPr>
        </p:nvSpPr>
        <p:spPr>
          <a:xfrm>
            <a:off x="113337" y="1950720"/>
            <a:ext cx="8669415" cy="3975947"/>
          </a:xfrm>
        </p:spPr>
        <p:txBody>
          <a:bodyPr/>
          <a:lstStyle/>
          <a:p>
            <a:pPr lvl="1">
              <a:buFont typeface="Arial" panose="020B0604020202020204" pitchFamily="34" charset="0"/>
              <a:buChar char="•"/>
            </a:pPr>
            <a:r>
              <a:rPr lang="en-US" dirty="0"/>
              <a:t>Inputs</a:t>
            </a:r>
          </a:p>
          <a:p>
            <a:pPr marL="662940" lvl="2" indent="-457200">
              <a:buFont typeface="+mj-lt"/>
              <a:buAutoNum type="arabicPeriod"/>
            </a:pPr>
            <a:r>
              <a:rPr lang="en-US" sz="1800" dirty="0"/>
              <a:t>clock 	: clock driving the sequential logic</a:t>
            </a:r>
          </a:p>
          <a:p>
            <a:pPr marL="662940" lvl="2" indent="-457200">
              <a:buFont typeface="+mj-lt"/>
              <a:buAutoNum type="arabicPeriod"/>
            </a:pPr>
            <a:r>
              <a:rPr lang="en-US" sz="1800" dirty="0" err="1"/>
              <a:t>reset_n</a:t>
            </a:r>
            <a:r>
              <a:rPr lang="en-US" sz="1800" dirty="0"/>
              <a:t>	: asynchronous reset/ active low</a:t>
            </a:r>
          </a:p>
          <a:p>
            <a:pPr marL="662940" lvl="2" indent="-457200">
              <a:buFont typeface="+mj-lt"/>
              <a:buAutoNum type="arabicPeriod"/>
            </a:pPr>
            <a:r>
              <a:rPr lang="en-US" sz="1800" smtClean="0"/>
              <a:t>load</a:t>
            </a:r>
            <a:r>
              <a:rPr lang="en-US" sz="1800" dirty="0"/>
              <a:t>	: synchronous strobe to load ‘</a:t>
            </a:r>
            <a:r>
              <a:rPr lang="en-US" sz="1800" dirty="0" err="1"/>
              <a:t>seed_data</a:t>
            </a:r>
            <a:r>
              <a:rPr lang="en-US" sz="1800"/>
              <a:t>’ </a:t>
            </a:r>
            <a:r>
              <a:rPr lang="en-US" sz="1800" smtClean="0"/>
              <a:t>or feedback tap pattern</a:t>
            </a:r>
            <a:endParaRPr lang="en-US" sz="1800" dirty="0"/>
          </a:p>
          <a:p>
            <a:pPr marL="662940" lvl="2" indent="-457200">
              <a:buFont typeface="+mj-lt"/>
              <a:buAutoNum type="arabicPeriod"/>
            </a:pPr>
            <a:r>
              <a:rPr lang="en-US" sz="1800" smtClean="0"/>
              <a:t>seed_mask</a:t>
            </a:r>
            <a:r>
              <a:rPr lang="en-US" sz="1800" dirty="0"/>
              <a:t>	: N-bit wide; initial seed </a:t>
            </a:r>
            <a:r>
              <a:rPr lang="en-US" sz="1800"/>
              <a:t>data </a:t>
            </a:r>
            <a:r>
              <a:rPr lang="en-US" sz="1800" smtClean="0"/>
              <a:t>or tap pattern</a:t>
            </a:r>
          </a:p>
          <a:p>
            <a:pPr marL="662940" lvl="2" indent="-457200">
              <a:buFont typeface="+mj-lt"/>
              <a:buAutoNum type="arabicPeriod"/>
            </a:pPr>
            <a:endParaRPr lang="en-US" dirty="0"/>
          </a:p>
          <a:p>
            <a:pPr lvl="1">
              <a:buFont typeface="Arial" panose="020B0604020202020204" pitchFamily="34" charset="0"/>
              <a:buChar char="•"/>
            </a:pPr>
            <a:r>
              <a:rPr lang="en-US" dirty="0"/>
              <a:t>Outputs</a:t>
            </a:r>
          </a:p>
          <a:p>
            <a:pPr marL="662940" lvl="2" indent="-457200">
              <a:buFont typeface="+mj-lt"/>
              <a:buAutoNum type="arabicPeriod"/>
            </a:pPr>
            <a:r>
              <a:rPr lang="en-US" sz="1800" dirty="0" err="1"/>
              <a:t>lfsr_data</a:t>
            </a:r>
            <a:r>
              <a:rPr lang="en-US" sz="1800" dirty="0"/>
              <a:t>	: N-bit wide; Output of each flip-flop on shift-register</a:t>
            </a:r>
          </a:p>
          <a:p>
            <a:pPr marL="662940" lvl="2" indent="-457200">
              <a:buFont typeface="+mj-lt"/>
              <a:buAutoNum type="arabicPeriod"/>
            </a:pPr>
            <a:r>
              <a:rPr lang="en-US" sz="1800" dirty="0" err="1"/>
              <a:t>lfsr_done</a:t>
            </a:r>
            <a:r>
              <a:rPr lang="en-US" sz="1800" dirty="0"/>
              <a:t>	: once N-bit pattern generation is completed and cycle before repetition of pattern start, generate 1 cycle pulse for </a:t>
            </a:r>
            <a:r>
              <a:rPr lang="en-US" sz="1800" dirty="0" err="1"/>
              <a:t>lfsr_done</a:t>
            </a:r>
            <a:r>
              <a:rPr lang="en-US" sz="1800" dirty="0"/>
              <a:t>. In other words, </a:t>
            </a:r>
            <a:r>
              <a:rPr lang="en-US" sz="1800" dirty="0" err="1"/>
              <a:t>combinationally</a:t>
            </a:r>
            <a:r>
              <a:rPr lang="en-US" sz="1800" dirty="0"/>
              <a:t> check when </a:t>
            </a:r>
            <a:r>
              <a:rPr lang="en-US" sz="1800" dirty="0" err="1"/>
              <a:t>lfsr_data</a:t>
            </a:r>
            <a:r>
              <a:rPr lang="en-US" sz="1800" dirty="0"/>
              <a:t> matches </a:t>
            </a:r>
            <a:r>
              <a:rPr lang="en-US" sz="1800" dirty="0" err="1"/>
              <a:t>seed_data</a:t>
            </a:r>
            <a:endParaRPr lang="en-US" sz="1800" dirty="0"/>
          </a:p>
          <a:p>
            <a:pPr lvl="2">
              <a:buFont typeface="Arial" panose="020B0604020202020204" pitchFamily="34" charset="0"/>
              <a:buChar char="•"/>
            </a:pPr>
            <a:endParaRPr lang="en-US" dirty="0"/>
          </a:p>
          <a:p>
            <a:pPr lvl="2">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5873E547-CCE6-C5E7-6841-52D3B9C6B0A1}"/>
              </a:ext>
            </a:extLst>
          </p:cNvPr>
          <p:cNvPicPr>
            <a:picLocks noChangeAspect="1"/>
          </p:cNvPicPr>
          <p:nvPr/>
        </p:nvPicPr>
        <p:blipFill rotWithShape="1">
          <a:blip r:embed="rId2"/>
          <a:srcRect r="19592"/>
          <a:stretch/>
        </p:blipFill>
        <p:spPr>
          <a:xfrm>
            <a:off x="8663796" y="1825829"/>
            <a:ext cx="3390481" cy="2190863"/>
          </a:xfrm>
          <a:prstGeom prst="rect">
            <a:avLst/>
          </a:prstGeom>
        </p:spPr>
      </p:pic>
      <p:sp>
        <p:nvSpPr>
          <p:cNvPr id="4" name="TextBox 3"/>
          <p:cNvSpPr txBox="1"/>
          <p:nvPr/>
        </p:nvSpPr>
        <p:spPr>
          <a:xfrm>
            <a:off x="9471378" y="4560709"/>
            <a:ext cx="2133600" cy="1477328"/>
          </a:xfrm>
          <a:prstGeom prst="rect">
            <a:avLst/>
          </a:prstGeom>
          <a:noFill/>
        </p:spPr>
        <p:txBody>
          <a:bodyPr wrap="square" rtlCol="0">
            <a:spAutoFit/>
          </a:bodyPr>
          <a:lstStyle/>
          <a:p>
            <a:r>
              <a:rPr lang="en-US" b="1" i="1" smtClean="0">
                <a:solidFill>
                  <a:srgbClr val="FF0000"/>
                </a:solidFill>
              </a:rPr>
              <a:t>Revision for Spr 2025: load[1:0] allows programming of tap patterns, as well as starting seed</a:t>
            </a:r>
            <a:endParaRPr lang="en-US" b="1" i="1">
              <a:solidFill>
                <a:srgbClr val="FF0000"/>
              </a:solidFill>
            </a:endParaRPr>
          </a:p>
        </p:txBody>
      </p:sp>
    </p:spTree>
    <p:extLst>
      <p:ext uri="{BB962C8B-B14F-4D97-AF65-F5344CB8AC3E}">
        <p14:creationId xmlns:p14="http://schemas.microsoft.com/office/powerpoint/2010/main" val="1360061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5441-0777-EC87-7F95-27C6C5DA437D}"/>
              </a:ext>
            </a:extLst>
          </p:cNvPr>
          <p:cNvSpPr>
            <a:spLocks noGrp="1"/>
          </p:cNvSpPr>
          <p:nvPr>
            <p:ph type="title"/>
          </p:nvPr>
        </p:nvSpPr>
        <p:spPr/>
        <p:txBody>
          <a:bodyPr/>
          <a:lstStyle/>
          <a:p>
            <a:r>
              <a:rPr lang="en-US" dirty="0"/>
              <a:t>Submission requirements</a:t>
            </a:r>
          </a:p>
        </p:txBody>
      </p:sp>
      <p:sp>
        <p:nvSpPr>
          <p:cNvPr id="3" name="Content Placeholder 2">
            <a:extLst>
              <a:ext uri="{FF2B5EF4-FFF2-40B4-BE49-F238E27FC236}">
                <a16:creationId xmlns:a16="http://schemas.microsoft.com/office/drawing/2014/main" id="{044B9DCA-602B-1908-A706-9AB6A40C5CDC}"/>
              </a:ext>
            </a:extLst>
          </p:cNvPr>
          <p:cNvSpPr>
            <a:spLocks noGrp="1"/>
          </p:cNvSpPr>
          <p:nvPr>
            <p:ph idx="1"/>
          </p:nvPr>
        </p:nvSpPr>
        <p:spPr/>
        <p:txBody>
          <a:bodyPr>
            <a:normAutofit lnSpcReduction="10000"/>
          </a:bodyPr>
          <a:lstStyle/>
          <a:p>
            <a:pPr marL="457200" indent="-457200">
              <a:buFont typeface="+mj-lt"/>
              <a:buAutoNum type="arabicPeriod"/>
            </a:pPr>
            <a:r>
              <a:rPr lang="en-US" dirty="0"/>
              <a:t>System Verilog Design Code (no Testbench)</a:t>
            </a:r>
          </a:p>
          <a:p>
            <a:pPr marL="457200" indent="-457200">
              <a:buFont typeface="+mj-lt"/>
              <a:buAutoNum type="arabicPeriod"/>
            </a:pPr>
            <a:r>
              <a:rPr lang="en-US" dirty="0"/>
              <a:t>Resource usage and RTL Netlist Viewer (parameter N=4)</a:t>
            </a:r>
          </a:p>
          <a:p>
            <a:pPr marL="457200" indent="-457200">
              <a:buFont typeface="+mj-lt"/>
              <a:buAutoNum type="arabicPeriod"/>
            </a:pPr>
            <a:r>
              <a:rPr lang="en-US" dirty="0"/>
              <a:t>Simulations Snapshot (parameter N=4 only) and explain simulation result. </a:t>
            </a:r>
          </a:p>
          <a:p>
            <a:pPr marL="713232" lvl="1" indent="-457200">
              <a:buFont typeface="Arial" panose="020B0604020202020204" pitchFamily="34" charset="0"/>
              <a:buChar char="•"/>
            </a:pPr>
            <a:r>
              <a:rPr lang="en-US" dirty="0"/>
              <a:t>Make sure the data value of the signal is visible in your screenshots. You can use hexadecimal radix to make the data values more compact or zoom into region of interest</a:t>
            </a:r>
          </a:p>
          <a:p>
            <a:pPr marL="713232" lvl="1" indent="-457200">
              <a:buFont typeface="Arial" panose="020B0604020202020204" pitchFamily="34" charset="0"/>
              <a:buChar char="•"/>
            </a:pPr>
            <a:r>
              <a:rPr lang="en-US" dirty="0"/>
              <a:t>Optional : Transcript of simulation</a:t>
            </a:r>
          </a:p>
          <a:p>
            <a:pPr marL="457200" indent="-457200">
              <a:buFont typeface="+mj-lt"/>
              <a:buAutoNum type="arabicPeriod"/>
            </a:pPr>
            <a:r>
              <a:rPr lang="en-US" b="1" dirty="0"/>
              <a:t>No Screenshot for this</a:t>
            </a:r>
            <a:r>
              <a:rPr lang="en-US" dirty="0"/>
              <a:t>: Please also simulate other values of N by changing value in testbench before submission. This will ensure that the Verilog code you submit is tested and error-free. </a:t>
            </a:r>
          </a:p>
        </p:txBody>
      </p:sp>
    </p:spTree>
    <p:extLst>
      <p:ext uri="{BB962C8B-B14F-4D97-AF65-F5344CB8AC3E}">
        <p14:creationId xmlns:p14="http://schemas.microsoft.com/office/powerpoint/2010/main" val="421084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60C7-5F6D-600A-7113-9284C46A8356}"/>
              </a:ext>
            </a:extLst>
          </p:cNvPr>
          <p:cNvSpPr>
            <a:spLocks noGrp="1"/>
          </p:cNvSpPr>
          <p:nvPr>
            <p:ph type="title"/>
          </p:nvPr>
        </p:nvSpPr>
        <p:spPr/>
        <p:txBody>
          <a:bodyPr/>
          <a:lstStyle/>
          <a:p>
            <a:r>
              <a:rPr lang="en-US"/>
              <a:t>Sample Waveform</a:t>
            </a:r>
            <a:endParaRPr lang="en-US" dirty="0"/>
          </a:p>
        </p:txBody>
      </p:sp>
      <p:sp>
        <p:nvSpPr>
          <p:cNvPr id="3" name="Content Placeholder 2">
            <a:extLst>
              <a:ext uri="{FF2B5EF4-FFF2-40B4-BE49-F238E27FC236}">
                <a16:creationId xmlns:a16="http://schemas.microsoft.com/office/drawing/2014/main" id="{A80CB1A7-B6CB-22AC-9A36-B624B910E9ED}"/>
              </a:ext>
            </a:extLst>
          </p:cNvPr>
          <p:cNvSpPr>
            <a:spLocks noGrp="1"/>
          </p:cNvSpPr>
          <p:nvPr>
            <p:ph idx="1"/>
          </p:nvPr>
        </p:nvSpPr>
        <p:spPr/>
        <p:txBody>
          <a:bodyPr/>
          <a:lstStyle/>
          <a:p>
            <a:r>
              <a:rPr lang="en-US" dirty="0"/>
              <a:t>Sample screenshot for waveform that we expect </a:t>
            </a:r>
            <a:r>
              <a:rPr lang="en-US"/>
              <a:t>in submission </a:t>
            </a:r>
            <a:endParaRPr lang="en-US" dirty="0"/>
          </a:p>
          <a:p>
            <a:r>
              <a:rPr lang="en-US" dirty="0"/>
              <a:t>Note: </a:t>
            </a:r>
            <a:r>
              <a:rPr lang="en-US" dirty="0" err="1"/>
              <a:t>shift_val</a:t>
            </a:r>
            <a:r>
              <a:rPr lang="en-US" dirty="0"/>
              <a:t> is the name I gave to output of </a:t>
            </a:r>
            <a:r>
              <a:rPr lang="en-US" dirty="0" err="1"/>
              <a:t>xor</a:t>
            </a:r>
            <a:r>
              <a:rPr lang="en-US" dirty="0"/>
              <a:t> in this snippet. You could also name it </a:t>
            </a:r>
            <a:r>
              <a:rPr lang="en-US" dirty="0" err="1"/>
              <a:t>xor_output</a:t>
            </a:r>
            <a:r>
              <a:rPr lang="en-US" dirty="0"/>
              <a:t> or anything else that makes sense to you.  </a:t>
            </a:r>
          </a:p>
        </p:txBody>
      </p:sp>
      <p:pic>
        <p:nvPicPr>
          <p:cNvPr id="7" name="Picture 6">
            <a:extLst>
              <a:ext uri="{FF2B5EF4-FFF2-40B4-BE49-F238E27FC236}">
                <a16:creationId xmlns:a16="http://schemas.microsoft.com/office/drawing/2014/main" id="{B5B8094C-4176-03D6-17F3-FCBCE4B65C21}"/>
              </a:ext>
            </a:extLst>
          </p:cNvPr>
          <p:cNvPicPr>
            <a:picLocks noChangeAspect="1"/>
          </p:cNvPicPr>
          <p:nvPr/>
        </p:nvPicPr>
        <p:blipFill>
          <a:blip r:embed="rId2"/>
          <a:stretch>
            <a:fillRect/>
          </a:stretch>
        </p:blipFill>
        <p:spPr>
          <a:xfrm>
            <a:off x="1757146" y="3590228"/>
            <a:ext cx="8369730" cy="2400423"/>
          </a:xfrm>
          <a:prstGeom prst="rect">
            <a:avLst/>
          </a:prstGeom>
        </p:spPr>
      </p:pic>
    </p:spTree>
    <p:extLst>
      <p:ext uri="{BB962C8B-B14F-4D97-AF65-F5344CB8AC3E}">
        <p14:creationId xmlns:p14="http://schemas.microsoft.com/office/powerpoint/2010/main" val="1579992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6BE3-EC7D-4183-DCBE-CDDA8A0F24EE}"/>
              </a:ext>
            </a:extLst>
          </p:cNvPr>
          <p:cNvSpPr>
            <a:spLocks noGrp="1"/>
          </p:cNvSpPr>
          <p:nvPr>
            <p:ph type="title"/>
          </p:nvPr>
        </p:nvSpPr>
        <p:spPr>
          <a:xfrm>
            <a:off x="657224" y="499533"/>
            <a:ext cx="10772775" cy="984493"/>
          </a:xfrm>
        </p:spPr>
        <p:txBody>
          <a:bodyPr>
            <a:normAutofit/>
          </a:bodyPr>
          <a:lstStyle/>
          <a:p>
            <a:r>
              <a:rPr lang="en-US" smtClean="0"/>
              <a:t>Part 5.2: Additional tasks </a:t>
            </a:r>
            <a:endParaRPr lang="en-US" dirty="0"/>
          </a:p>
        </p:txBody>
      </p:sp>
      <p:sp>
        <p:nvSpPr>
          <p:cNvPr id="3" name="Content Placeholder 2">
            <a:extLst>
              <a:ext uri="{FF2B5EF4-FFF2-40B4-BE49-F238E27FC236}">
                <a16:creationId xmlns:a16="http://schemas.microsoft.com/office/drawing/2014/main" id="{98A21E14-72FC-D4CA-0144-75CA7E430F04}"/>
              </a:ext>
            </a:extLst>
          </p:cNvPr>
          <p:cNvSpPr>
            <a:spLocks noGrp="1"/>
          </p:cNvSpPr>
          <p:nvPr>
            <p:ph idx="1"/>
          </p:nvPr>
        </p:nvSpPr>
        <p:spPr/>
        <p:txBody>
          <a:bodyPr/>
          <a:lstStyle/>
          <a:p>
            <a:endParaRPr lang="en-US" dirty="0"/>
          </a:p>
          <a:p>
            <a:pPr lvl="1">
              <a:buFont typeface="Arial" panose="020B0604020202020204" pitchFamily="34" charset="0"/>
              <a:buChar char="•"/>
            </a:pPr>
            <a:r>
              <a:rPr lang="en-US" dirty="0"/>
              <a:t>Change value </a:t>
            </a:r>
            <a:r>
              <a:rPr lang="en-US"/>
              <a:t>of </a:t>
            </a:r>
            <a:r>
              <a:rPr lang="en-US" smtClean="0"/>
              <a:t>(starting) seed_data </a:t>
            </a:r>
            <a:r>
              <a:rPr lang="en-US" dirty="0"/>
              <a:t>to different values and simulate (change line 32 of testbench)</a:t>
            </a:r>
          </a:p>
          <a:p>
            <a:pPr lvl="1">
              <a:buFont typeface="Arial" panose="020B0604020202020204" pitchFamily="34" charset="0"/>
              <a:buChar char="•"/>
            </a:pPr>
            <a:r>
              <a:rPr lang="en-US" dirty="0"/>
              <a:t>Try </a:t>
            </a:r>
            <a:r>
              <a:rPr lang="en-US" dirty="0" err="1"/>
              <a:t>seed_data</a:t>
            </a:r>
            <a:r>
              <a:rPr lang="en-US" dirty="0"/>
              <a:t> of all zeros and observe the results</a:t>
            </a:r>
          </a:p>
          <a:p>
            <a:pPr lvl="1">
              <a:buFont typeface="Arial" panose="020B0604020202020204" pitchFamily="34" charset="0"/>
              <a:buChar char="•"/>
            </a:pPr>
            <a:r>
              <a:rPr lang="en-US" dirty="0"/>
              <a:t>Compare Quartus resource usage results for any additional value of N (let’s say N=8). Will need to change the value of N in lfsr.sv for Quartus</a:t>
            </a:r>
          </a:p>
          <a:p>
            <a:pPr lvl="1">
              <a:buFont typeface="Arial" panose="020B0604020202020204" pitchFamily="34" charset="0"/>
              <a:buChar char="•"/>
            </a:pPr>
            <a:r>
              <a:rPr lang="en-US" smtClean="0"/>
              <a:t>For LFSR6, try the 6 different feedback tap (mask) patterns that generate maximal length sequences. Report results for starting value = </a:t>
            </a:r>
            <a:r>
              <a:rPr lang="en-US" smtClean="0"/>
              <a:t>0x2A</a:t>
            </a:r>
          </a:p>
          <a:p>
            <a:pPr lvl="1">
              <a:buFont typeface="Arial" panose="020B0604020202020204" pitchFamily="34" charset="0"/>
              <a:buChar char="•"/>
            </a:pPr>
            <a:r>
              <a:rPr lang="en-US" smtClean="0"/>
              <a:t>Repeat for indicated number of feedback patterns for other lengths 2 - 8.</a:t>
            </a:r>
            <a:endParaRPr lang="en-US" dirty="0"/>
          </a:p>
          <a:p>
            <a:pPr lvl="1">
              <a:buFont typeface="Arial" panose="020B0604020202020204" pitchFamily="34" charset="0"/>
              <a:buChar char="•"/>
            </a:pPr>
            <a:endParaRPr lang="en-US" dirty="0"/>
          </a:p>
          <a:p>
            <a:pPr lvl="1">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2222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AD49-E6C6-EA93-CA94-27AB001EBB3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41272628-FD7E-2ED0-F27F-6298E793D326}"/>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4142703222"/>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1580</TotalTime>
  <Words>1275</Words>
  <Application>Microsoft Office PowerPoint</Application>
  <PresentationFormat>Widescreen</PresentationFormat>
  <Paragraphs>118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Courier New</vt:lpstr>
      <vt:lpstr>Söhne</vt:lpstr>
      <vt:lpstr>Times New Roman</vt:lpstr>
      <vt:lpstr>Wingdings</vt:lpstr>
      <vt:lpstr>Metropolitan</vt:lpstr>
      <vt:lpstr>ECE 111 Discussion HW 5 (LFSR)</vt:lpstr>
      <vt:lpstr>What is LFSR? </vt:lpstr>
      <vt:lpstr>Convention of MSB and LSB (Quick detour)</vt:lpstr>
      <vt:lpstr>What is LFSR? (contd)</vt:lpstr>
      <vt:lpstr>Example of 4-bit LFSR</vt:lpstr>
      <vt:lpstr>Features of LFSR</vt:lpstr>
      <vt:lpstr>Some applications of LFSR (Optional)</vt:lpstr>
      <vt:lpstr>Which flops to tap and pass to XOR gate? </vt:lpstr>
      <vt:lpstr>How to translate polynomial to Hardware?  </vt:lpstr>
      <vt:lpstr>Example of 4-bit LFSR (revisited)</vt:lpstr>
      <vt:lpstr>How to parameterize the code? </vt:lpstr>
      <vt:lpstr>Primary Ports of LFSR Design Module</vt:lpstr>
      <vt:lpstr>Submission requirements</vt:lpstr>
      <vt:lpstr>Sample Waveform</vt:lpstr>
      <vt:lpstr>Part 5.2: Additional tasks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111 Discussion HW 5 (LFSR)</dc:title>
  <dc:creator>Naman Sehgal</dc:creator>
  <cp:lastModifiedBy>John Eldon</cp:lastModifiedBy>
  <cp:revision>12</cp:revision>
  <dcterms:created xsi:type="dcterms:W3CDTF">2023-02-06T04:19:49Z</dcterms:created>
  <dcterms:modified xsi:type="dcterms:W3CDTF">2026-02-09T01:53:21Z</dcterms:modified>
</cp:coreProperties>
</file>